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7"/>
  </p:sldMasterIdLst>
  <p:notesMasterIdLst>
    <p:notesMasterId r:id="rId42"/>
  </p:notesMasterIdLst>
  <p:sldIdLst>
    <p:sldId id="3276" r:id="rId8"/>
    <p:sldId id="3286" r:id="rId9"/>
    <p:sldId id="3281" r:id="rId10"/>
    <p:sldId id="3287" r:id="rId11"/>
    <p:sldId id="3288" r:id="rId12"/>
    <p:sldId id="3289" r:id="rId13"/>
    <p:sldId id="3291" r:id="rId14"/>
    <p:sldId id="3304" r:id="rId15"/>
    <p:sldId id="3297" r:id="rId16"/>
    <p:sldId id="3298" r:id="rId17"/>
    <p:sldId id="3302" r:id="rId18"/>
    <p:sldId id="3292" r:id="rId19"/>
    <p:sldId id="3303" r:id="rId20"/>
    <p:sldId id="3299" r:id="rId21"/>
    <p:sldId id="3310" r:id="rId22"/>
    <p:sldId id="3306" r:id="rId23"/>
    <p:sldId id="3307" r:id="rId24"/>
    <p:sldId id="3293" r:id="rId25"/>
    <p:sldId id="3300" r:id="rId26"/>
    <p:sldId id="3294" r:id="rId27"/>
    <p:sldId id="3305" r:id="rId28"/>
    <p:sldId id="3242" r:id="rId29"/>
    <p:sldId id="3296" r:id="rId30"/>
    <p:sldId id="3290" r:id="rId31"/>
    <p:sldId id="3301" r:id="rId32"/>
    <p:sldId id="3295" r:id="rId33"/>
    <p:sldId id="3308" r:id="rId34"/>
    <p:sldId id="3311" r:id="rId35"/>
    <p:sldId id="3316" r:id="rId36"/>
    <p:sldId id="3317" r:id="rId37"/>
    <p:sldId id="3312" r:id="rId38"/>
    <p:sldId id="3313" r:id="rId39"/>
    <p:sldId id="3315" r:id="rId40"/>
    <p:sldId id="3314" r:id="rId41"/>
  </p:sldIdLst>
  <p:sldSz cx="12192000" cy="6858000"/>
  <p:notesSz cx="6858000" cy="9144000"/>
  <p:custDataLst>
    <p:tags r:id="rId4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C3E1"/>
    <a:srgbClr val="8F9F33"/>
    <a:srgbClr val="F2CB50"/>
    <a:srgbClr val="FCF901"/>
    <a:srgbClr val="065296"/>
    <a:srgbClr val="2481A6"/>
    <a:srgbClr val="990000"/>
    <a:srgbClr val="011E5B"/>
    <a:srgbClr val="1F538F"/>
    <a:srgbClr val="1815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 showGuides="1">
      <p:cViewPr varScale="1">
        <p:scale>
          <a:sx n="150" d="100"/>
          <a:sy n="150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Master" Target="slideMasters/slide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tags" Target="tags/tag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theme" Target="theme/theme1.xml"/><Relationship Id="rId20" Type="http://schemas.openxmlformats.org/officeDocument/2006/relationships/slide" Target="slides/slide13.xml"/><Relationship Id="rId41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A840C6-1F39-43ED-B27B-1FEC6C3829D7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21C0D-9E07-4C74-9A59-193F61F628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859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8470CD4-B29B-1847-9ED9-8C0CAA5D477B}" type="datetime1">
              <a:rPr lang="en-US" smtClean="0"/>
              <a:t>11/24/25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1592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4" Type="http://schemas.openxmlformats.org/officeDocument/2006/relationships/image" Target="../media/image8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7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8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9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A with Shi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1B16BA09-5E0E-9342-7B5F-208FB49230F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5504" y="719138"/>
            <a:ext cx="4885771" cy="5605380"/>
          </a:xfrm>
          <a:prstGeom prst="rect">
            <a:avLst/>
          </a:prstGeom>
        </p:spPr>
      </p:pic>
      <p:sp>
        <p:nvSpPr>
          <p:cNvPr id="14" name="Background">
            <a:extLst>
              <a:ext uri="{FF2B5EF4-FFF2-40B4-BE49-F238E27FC236}">
                <a16:creationId xmlns:a16="http://schemas.microsoft.com/office/drawing/2014/main" id="{839A0678-D339-25B7-6999-A7B668AB1E90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11000">
                <a:schemeClr val="bg1">
                  <a:alpha val="0"/>
                </a:schemeClr>
              </a:gs>
              <a:gs pos="51000">
                <a:schemeClr val="bg1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E79776-6271-610E-408A-1979D992DF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7769" y="3160800"/>
            <a:ext cx="10733505" cy="1782000"/>
          </a:xfrm>
        </p:spPr>
        <p:txBody>
          <a:bodyPr anchor="t" anchorCtr="0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CFD3E-F412-8675-6657-903BBC4AEE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2703600"/>
            <a:ext cx="10733504" cy="3060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subtitle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7BC2F6-5F98-FD07-6484-736D32FD3C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000" y="6008400"/>
            <a:ext cx="5195025" cy="180000"/>
          </a:xfrm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fld id="{2555C37E-A1C6-4459-9E67-8F853AD043DA}" type="datetime4">
              <a:rPr lang="en-US" smtClean="0"/>
              <a:pPr/>
              <a:t>November 24, 2025</a:t>
            </a:fld>
            <a:endParaRPr lang="en-US" dirty="0"/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0C60A4DE-3004-2078-21A1-A22A8232DCD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0" name="Line top Placeholder 20">
            <a:extLst>
              <a:ext uri="{FF2B5EF4-FFF2-40B4-BE49-F238E27FC236}">
                <a16:creationId xmlns:a16="http://schemas.microsoft.com/office/drawing/2014/main" id="{429036CE-F069-70FC-AB80-D514C7A6E51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4F62758-C109-9421-029F-4D65AB2D2D6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0725" y="5568027"/>
            <a:ext cx="5194300" cy="1800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1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name</a:t>
            </a:r>
            <a:endParaRPr lang="en-GB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4E07CEB-1ACA-B0DC-CACD-3717AF286F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000" y="5785044"/>
            <a:ext cx="5194300" cy="1800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0">
                <a:solidFill>
                  <a:schemeClr val="tx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title</a:t>
            </a:r>
            <a:endParaRPr lang="en-GB" dirty="0"/>
          </a:p>
        </p:txBody>
      </p:sp>
      <p:pic>
        <p:nvPicPr>
          <p:cNvPr id="1075133346" name="Picture 7" descr="{&quot;templafy&quot;:{&quot;id&quot;:&quot;30901234-f399-4a94-9bd1-5eabdf747fc7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99" y="699175"/>
            <a:ext cx="4322438" cy="72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38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3906" userDrawn="1">
          <p15:clr>
            <a:srgbClr val="8F8F8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 with Shield">
    <p:bg>
      <p:bgPr>
        <a:gradFill>
          <a:gsLst>
            <a:gs pos="86000">
              <a:srgbClr val="1F538F"/>
            </a:gs>
            <a:gs pos="60000">
              <a:schemeClr val="accent1"/>
            </a:gs>
            <a:gs pos="100000">
              <a:schemeClr val="accent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44CDB109-2703-E004-DAD3-0A9F90171F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5504" y="719138"/>
            <a:ext cx="4885771" cy="56053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EC7E38D-B81D-FC40-15B1-DC990195C275}"/>
              </a:ext>
            </a:extLst>
          </p:cNvPr>
          <p:cNvSpPr/>
          <p:nvPr userDrawn="1"/>
        </p:nvSpPr>
        <p:spPr>
          <a:xfrm rot="10800000">
            <a:off x="-1" y="-1"/>
            <a:ext cx="12178055" cy="6857999"/>
          </a:xfrm>
          <a:prstGeom prst="rect">
            <a:avLst/>
          </a:prstGeom>
          <a:gradFill flip="none" rotWithShape="1">
            <a:gsLst>
              <a:gs pos="94000">
                <a:schemeClr val="accent3"/>
              </a:gs>
              <a:gs pos="0">
                <a:schemeClr val="accent1">
                  <a:alpha val="0"/>
                </a:schemeClr>
              </a:gs>
              <a:gs pos="71000">
                <a:srgbClr val="15417F"/>
              </a:gs>
              <a:gs pos="43000">
                <a:schemeClr val="accent1">
                  <a:alpha val="96549"/>
                </a:schemeClr>
              </a:gs>
              <a:gs pos="16000">
                <a:schemeClr val="accent1">
                  <a:alpha val="5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E79776-6271-610E-408A-1979D992DF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3160800"/>
            <a:ext cx="10733505" cy="1782000"/>
          </a:xfrm>
        </p:spPr>
        <p:txBody>
          <a:bodyPr anchor="t" anchorCtr="0">
            <a:no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CFD3E-F412-8675-6657-903BBC4AEE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2703600"/>
            <a:ext cx="10733504" cy="3060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subtitle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7BC2F6-5F98-FD07-6484-736D32FD3C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000" y="6008400"/>
            <a:ext cx="5195025" cy="1800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2555C37E-A1C6-4459-9E67-8F853AD043DA}" type="datetime4">
              <a:rPr lang="en-US" smtClean="0"/>
              <a:pPr/>
              <a:t>November 24, 2025</a:t>
            </a:fld>
            <a:endParaRPr lang="en-US" dirty="0"/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0C60A4DE-3004-2078-21A1-A22A8232DCD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pic>
        <p:nvPicPr>
          <p:cNvPr id="1714908128" name="Picture 5" descr="{&quot;templafy&quot;:{&quot;id&quot;:&quot;727798fb-93ec-4ae5-a5bd-5308d7c40665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770" y="702906"/>
            <a:ext cx="4322438" cy="725487"/>
          </a:xfrm>
          <a:prstGeom prst="rect">
            <a:avLst/>
          </a:prstGeom>
        </p:spPr>
      </p:pic>
      <p:sp>
        <p:nvSpPr>
          <p:cNvPr id="10" name="Line top Placeholder 20">
            <a:extLst>
              <a:ext uri="{FF2B5EF4-FFF2-40B4-BE49-F238E27FC236}">
                <a16:creationId xmlns:a16="http://schemas.microsoft.com/office/drawing/2014/main" id="{429036CE-F069-70FC-AB80-D514C7A6E51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4F62758-C109-9421-029F-4D65AB2D2D6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0000" y="5548700"/>
            <a:ext cx="5194300" cy="1800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name</a:t>
            </a:r>
            <a:endParaRPr lang="en-GB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4E07CEB-1ACA-B0DC-CACD-3717AF286F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000" y="5774000"/>
            <a:ext cx="5194300" cy="1800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3567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 userDrawn="1">
          <p15:clr>
            <a:srgbClr val="8F8F8F"/>
          </p15:clr>
        </p15:guide>
        <p15:guide id="2" orient="horz" pos="3906" userDrawn="1">
          <p15:clr>
            <a:srgbClr val="8F8F8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 with Confidential Statement">
    <p:bg>
      <p:bgPr>
        <a:gradFill>
          <a:gsLst>
            <a:gs pos="86000">
              <a:srgbClr val="1F538F"/>
            </a:gs>
            <a:gs pos="60000">
              <a:schemeClr val="accent1"/>
            </a:gs>
            <a:gs pos="100000">
              <a:schemeClr val="accent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C753663D-E098-B93B-3E15-3DB8D2D8F8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5504" y="719138"/>
            <a:ext cx="4885771" cy="56053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D5AB2CE-B33D-1B37-2E06-5DF32D905889}"/>
              </a:ext>
            </a:extLst>
          </p:cNvPr>
          <p:cNvSpPr/>
          <p:nvPr userDrawn="1"/>
        </p:nvSpPr>
        <p:spPr>
          <a:xfrm rot="10800000">
            <a:off x="0" y="1"/>
            <a:ext cx="12178055" cy="5557138"/>
          </a:xfrm>
          <a:prstGeom prst="rect">
            <a:avLst/>
          </a:prstGeom>
          <a:gradFill flip="none" rotWithShape="1">
            <a:gsLst>
              <a:gs pos="100000">
                <a:schemeClr val="accent3"/>
              </a:gs>
              <a:gs pos="0">
                <a:schemeClr val="accent1">
                  <a:alpha val="0"/>
                </a:schemeClr>
              </a:gs>
              <a:gs pos="71000">
                <a:srgbClr val="15417F"/>
              </a:gs>
              <a:gs pos="51000">
                <a:schemeClr val="accent1">
                  <a:alpha val="90000"/>
                </a:schemeClr>
              </a:gs>
              <a:gs pos="16000">
                <a:schemeClr val="accent1">
                  <a:alpha val="5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E79776-6271-610E-408A-1979D992DF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3015152"/>
            <a:ext cx="10733505" cy="1296000"/>
          </a:xfrm>
        </p:spPr>
        <p:txBody>
          <a:bodyPr anchor="t" anchorCtr="0">
            <a:no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CFD3E-F412-8675-6657-903BBC4AEE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2600550"/>
            <a:ext cx="10733504" cy="3060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subtitle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7BC2F6-5F98-FD07-6484-736D32FD3C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000" y="4941020"/>
            <a:ext cx="5195025" cy="1800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2555C37E-A1C6-4459-9E67-8F853AD043DA}" type="datetime4">
              <a:rPr lang="en-US" smtClean="0"/>
              <a:pPr/>
              <a:t>November 24, 2025</a:t>
            </a:fld>
            <a:endParaRPr lang="en-US" dirty="0"/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0C60A4DE-3004-2078-21A1-A22A8232DCD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pic>
        <p:nvPicPr>
          <p:cNvPr id="1737974633" name="Picture 5" descr="{&quot;templafy&quot;:{&quot;id&quot;:&quot;539ce546-0ecd-4010-9fa9-987f56adaa25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770" y="702906"/>
            <a:ext cx="4322438" cy="725487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4F62758-C109-9421-029F-4D65AB2D2D6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0000" y="4481920"/>
            <a:ext cx="5194300" cy="1800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name</a:t>
            </a:r>
            <a:endParaRPr lang="en-GB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4E07CEB-1ACA-B0DC-CACD-3717AF286F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000" y="4706499"/>
            <a:ext cx="5194300" cy="1800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300" b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None/>
              <a:defRPr sz="1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25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1A22EB-BD03-D54C-510B-9450ECC7F9DD}"/>
              </a:ext>
            </a:extLst>
          </p:cNvPr>
          <p:cNvSpPr/>
          <p:nvPr userDrawn="1"/>
        </p:nvSpPr>
        <p:spPr bwMode="auto">
          <a:xfrm>
            <a:off x="0" y="5566321"/>
            <a:ext cx="12192000" cy="1295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/>
          </a:p>
        </p:txBody>
      </p:sp>
      <p:sp>
        <p:nvSpPr>
          <p:cNvPr id="11" name="Line top Placeholder 20">
            <a:extLst>
              <a:ext uri="{FF2B5EF4-FFF2-40B4-BE49-F238E27FC236}">
                <a16:creationId xmlns:a16="http://schemas.microsoft.com/office/drawing/2014/main" id="{BDD14DD9-CE12-CB1D-F34C-E1CF891B53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0" y="5530321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11FCB7A-8CF2-FF56-27FD-1990B8CFF15A}"/>
              </a:ext>
            </a:extLst>
          </p:cNvPr>
          <p:cNvSpPr txBox="1">
            <a:spLocks/>
          </p:cNvSpPr>
          <p:nvPr userDrawn="1"/>
        </p:nvSpPr>
        <p:spPr>
          <a:xfrm>
            <a:off x="635001" y="6139752"/>
            <a:ext cx="10827546" cy="271145"/>
          </a:xfrm>
          <a:prstGeom prst="rect">
            <a:avLst/>
          </a:prstGeom>
        </p:spPr>
        <p:txBody>
          <a:bodyPr/>
          <a:lstStyle>
            <a:lvl1pPr marL="136800" indent="-136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Font typeface="Calibri Light" panose="020F0302020204030204" pitchFamily="34" charset="0"/>
              <a:buChar char="•"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273600" indent="-1368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  <a:buClr>
                <a:srgbClr val="9EC3E1"/>
              </a:buClr>
              <a:buFont typeface="Calibri Light" panose="020F0302020204030204" pitchFamily="34" charset="0"/>
              <a:buChar char="•"/>
              <a:defRPr sz="16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410400" indent="-1368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Font typeface="Calibri Light" panose="020F0302020204030204" pitchFamily="34" charset="0"/>
              <a:buChar char="•"/>
              <a:defRPr sz="16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Calibri Light" panose="020F0302020204030204" pitchFamily="34" charset="0"/>
              <a:buChar char="​"/>
              <a:defRPr sz="2800" b="1" kern="1200" cap="all" spc="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Calibri Light" panose="020F0302020204030204" pitchFamily="34" charset="0"/>
              <a:buChar char="​"/>
              <a:tabLst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Berlingske Serif Text Office"/>
              <a:buNone/>
              <a:defRPr sz="1600" b="1" kern="1200" cap="all" spc="18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marR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Calibri Light" panose="020F0302020204030204" pitchFamily="34" charset="0"/>
              <a:buChar char="​"/>
              <a:tabLst/>
              <a:defRPr sz="1200" b="0" kern="1200" cap="none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36800" marR="0" indent="-1368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74000"/>
              </a:lnSpc>
              <a:spcBef>
                <a:spcPts val="1200"/>
              </a:spcBef>
              <a:spcAft>
                <a:spcPts val="1200"/>
              </a:spcAft>
              <a:buFont typeface="Calibri Light" panose="020F0302020204030204" pitchFamily="34" charset="0"/>
              <a:buChar char="​"/>
              <a:defRPr sz="7500" kern="1200" cap="all" baseline="0">
                <a:solidFill>
                  <a:srgbClr val="D8E7F3"/>
                </a:solidFill>
                <a:latin typeface="+mj-lt"/>
                <a:ea typeface="+mn-ea"/>
                <a:cs typeface="+mn-cs"/>
              </a:defRPr>
            </a:lvl9pPr>
          </a:lstStyle>
          <a:p>
            <a:pPr lvl="6"/>
            <a:r>
              <a:rPr lang="en-GB" sz="1000" b="1" dirty="0"/>
              <a:t>CONFIDENTIAL – DO NOT DISTRIBUTE: </a:t>
            </a:r>
            <a:r>
              <a:rPr lang="en-GB" sz="1000" dirty="0"/>
              <a:t>This presentation contains confidential information and is presented only with the understanding that it’s contents and ideas with not be shared with external groups.</a:t>
            </a:r>
          </a:p>
        </p:txBody>
      </p:sp>
    </p:spTree>
    <p:extLst>
      <p:ext uri="{BB962C8B-B14F-4D97-AF65-F5344CB8AC3E}">
        <p14:creationId xmlns:p14="http://schemas.microsoft.com/office/powerpoint/2010/main" val="1582876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 userDrawn="1">
          <p15:clr>
            <a:srgbClr val="8F8F8F"/>
          </p15:clr>
        </p15:guide>
        <p15:guide id="2" orient="horz" pos="3974" userDrawn="1">
          <p15:clr>
            <a:srgbClr val="8F8F8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1D420-908F-5B61-4A62-D08775D7B2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8" y="720000"/>
            <a:ext cx="3344400" cy="5414400"/>
          </a:xfrm>
        </p:spPr>
        <p:txBody>
          <a:bodyPr anchor="ctr" anchorCtr="0">
            <a:noAutofit/>
          </a:bodyPr>
          <a:lstStyle>
            <a:lvl1pPr>
              <a:lnSpc>
                <a:spcPct val="80000"/>
              </a:lnSpc>
              <a:defRPr sz="6000"/>
            </a:lvl1pPr>
          </a:lstStyle>
          <a:p>
            <a:r>
              <a:rPr lang="en-US" dirty="0"/>
              <a:t>Click to add Agenda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273473-00D3-EA4E-9912-9AFB4C8BE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DF7FC-2311-4E03-AAFE-2DADE0839E10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A4E47-E74D-FD10-F0BD-556D34D4EA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0091B6-D998-5867-4730-E29A7BBC327C}"/>
              </a:ext>
            </a:extLst>
          </p:cNvPr>
          <p:cNvCxnSpPr>
            <a:cxnSpLocks/>
          </p:cNvCxnSpPr>
          <p:nvPr userDrawn="1"/>
        </p:nvCxnSpPr>
        <p:spPr>
          <a:xfrm>
            <a:off x="4254919" y="719138"/>
            <a:ext cx="0" cy="5418137"/>
          </a:xfrm>
          <a:prstGeom prst="line">
            <a:avLst/>
          </a:prstGeom>
          <a:ln w="2540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3FDBB6-507E-07B9-8F7A-2FF96DCC72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93200" y="720000"/>
            <a:ext cx="504000" cy="5414400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1pPr>
            <a:lvl2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1" cap="none">
                <a:solidFill>
                  <a:schemeClr val="accent3"/>
                </a:solidFill>
                <a:latin typeface="+mj-lt"/>
              </a:defRPr>
            </a:lvl2pPr>
            <a:lvl3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1" cap="none">
                <a:solidFill>
                  <a:schemeClr val="accent3"/>
                </a:solidFill>
                <a:latin typeface="+mj-lt"/>
              </a:defRPr>
            </a:lvl3pPr>
            <a:lvl4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1" cap="none">
                <a:solidFill>
                  <a:schemeClr val="accent3"/>
                </a:solidFill>
                <a:latin typeface="+mj-lt"/>
              </a:defRPr>
            </a:lvl4pPr>
            <a:lvl5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5pPr>
            <a:lvl6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6pPr>
            <a:lvl7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7pPr>
            <a:lvl8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8pPr>
            <a:lvl9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0BD2689-42EB-47E4-CA47-227CF851A5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0800" y="720000"/>
            <a:ext cx="5968800" cy="5414400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0" cap="all">
                <a:solidFill>
                  <a:schemeClr val="accent1"/>
                </a:solidFill>
                <a:latin typeface="+mj-lt"/>
              </a:defRPr>
            </a:lvl2pPr>
            <a:lvl3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0" cap="all">
                <a:solidFill>
                  <a:schemeClr val="accent1"/>
                </a:solidFill>
                <a:latin typeface="+mj-lt"/>
              </a:defRPr>
            </a:lvl3pPr>
            <a:lvl4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0" cap="all">
                <a:solidFill>
                  <a:schemeClr val="accent1"/>
                </a:solidFill>
                <a:latin typeface="+mj-lt"/>
              </a:defRPr>
            </a:lvl4pPr>
            <a:lvl5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accent1"/>
                </a:solidFill>
                <a:latin typeface="+mj-lt"/>
              </a:defRPr>
            </a:lvl5pPr>
            <a:lvl6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accent1"/>
                </a:solidFill>
                <a:latin typeface="+mj-lt"/>
              </a:defRPr>
            </a:lvl6pPr>
            <a:lvl7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accent1"/>
                </a:solidFill>
                <a:latin typeface="+mj-lt"/>
              </a:defRPr>
            </a:lvl7pPr>
            <a:lvl8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GB" dirty="0"/>
              <a:t>Click to add agenda point, one line</a:t>
            </a:r>
          </a:p>
        </p:txBody>
      </p:sp>
      <p:sp>
        <p:nvSpPr>
          <p:cNvPr id="6" name="Guides" hidden="1">
            <a:extLst>
              <a:ext uri="{FF2B5EF4-FFF2-40B4-BE49-F238E27FC236}">
                <a16:creationId xmlns:a16="http://schemas.microsoft.com/office/drawing/2014/main" id="{3638FD4C-1242-FA12-1AE1-9624BF414B2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152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45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C">
    <p:bg>
      <p:bgPr>
        <a:gradFill>
          <a:gsLst>
            <a:gs pos="86000">
              <a:srgbClr val="1F538F"/>
            </a:gs>
            <a:gs pos="60000">
              <a:schemeClr val="accent1"/>
            </a:gs>
            <a:gs pos="100000">
              <a:schemeClr val="accent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1D420-908F-5B61-4A62-D08775D7B2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8" y="720000"/>
            <a:ext cx="3344400" cy="5414400"/>
          </a:xfrm>
        </p:spPr>
        <p:txBody>
          <a:bodyPr anchor="ctr" anchorCtr="0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add Agenda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273473-00D3-EA4E-9912-9AFB4C8BE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7DF7FC-2311-4E03-AAFE-2DADE0839E10}" type="datetime4">
              <a:rPr lang="en-US" smtClean="0"/>
              <a:pPr/>
              <a:t>November 24,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A4E47-E74D-FD10-F0BD-556D34D4EA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0091B6-D998-5867-4730-E29A7BBC327C}"/>
              </a:ext>
            </a:extLst>
          </p:cNvPr>
          <p:cNvCxnSpPr>
            <a:cxnSpLocks/>
          </p:cNvCxnSpPr>
          <p:nvPr userDrawn="1"/>
        </p:nvCxnSpPr>
        <p:spPr>
          <a:xfrm>
            <a:off x="4254919" y="719138"/>
            <a:ext cx="0" cy="5418137"/>
          </a:xfrm>
          <a:prstGeom prst="line">
            <a:avLst/>
          </a:prstGeom>
          <a:ln w="2540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3FDBB6-507E-07B9-8F7A-2FF96DCC72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93200" y="720000"/>
            <a:ext cx="504000" cy="5414400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rgbClr val="9EC3E1"/>
                </a:solidFill>
                <a:latin typeface="+mj-lt"/>
              </a:defRPr>
            </a:lvl1pPr>
            <a:lvl2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1" cap="none">
                <a:solidFill>
                  <a:srgbClr val="9EC3E1"/>
                </a:solidFill>
                <a:latin typeface="+mj-lt"/>
              </a:defRPr>
            </a:lvl2pPr>
            <a:lvl3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1" cap="none">
                <a:solidFill>
                  <a:srgbClr val="9EC3E1"/>
                </a:solidFill>
                <a:latin typeface="+mj-lt"/>
              </a:defRPr>
            </a:lvl3pPr>
            <a:lvl4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1" cap="none">
                <a:solidFill>
                  <a:schemeClr val="accent3"/>
                </a:solidFill>
                <a:latin typeface="+mj-lt"/>
              </a:defRPr>
            </a:lvl4pPr>
            <a:lvl5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rgbClr val="9EC3E1"/>
                </a:solidFill>
                <a:latin typeface="+mj-lt"/>
              </a:defRPr>
            </a:lvl5pPr>
            <a:lvl6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rgbClr val="9EC3E1"/>
                </a:solidFill>
                <a:latin typeface="+mj-lt"/>
              </a:defRPr>
            </a:lvl6pPr>
            <a:lvl7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rgbClr val="9EC3E1"/>
                </a:solidFill>
                <a:latin typeface="+mj-lt"/>
              </a:defRPr>
            </a:lvl7pPr>
            <a:lvl8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chemeClr val="accent3"/>
                </a:solidFill>
                <a:latin typeface="+mj-lt"/>
              </a:defRPr>
            </a:lvl8pPr>
            <a:lvl9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cap="none">
                <a:solidFill>
                  <a:srgbClr val="9EC3E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0BD2689-42EB-47E4-CA47-227CF851A5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0800" y="720000"/>
            <a:ext cx="5968800" cy="5414400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0" cap="all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0" cap="all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None/>
              <a:defRPr sz="1800" b="0" cap="all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8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cap="all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dirty="0"/>
              <a:t>Click to add agenda point, one line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F71C5786-03E4-BADA-2C63-BC735E4C49C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0" name="Footers" descr="{&quot;templafy&quot;:{&quot;id&quot;:&quot;b629212b-aba2-422f-a8af-fd93b3a4d254&quot;}}">
            <a:extLst>
              <a:ext uri="{FF2B5EF4-FFF2-40B4-BE49-F238E27FC236}">
                <a16:creationId xmlns:a16="http://schemas.microsoft.com/office/drawing/2014/main" id="{7F5AAA95-4262-DACC-6539-F83764B3EBBF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456125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45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2070000"/>
            <a:ext cx="7408800" cy="4068000"/>
          </a:xfrm>
        </p:spPr>
        <p:txBody>
          <a:bodyPr anchor="t" anchorCtr="0">
            <a:noAutofit/>
          </a:bodyPr>
          <a:lstStyle>
            <a:lvl1pPr algn="l">
              <a:lnSpc>
                <a:spcPct val="70000"/>
              </a:lnSpc>
              <a:defRPr sz="8800" spc="2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720000"/>
            <a:ext cx="7408800" cy="990000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8800" b="1" cap="none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Line top Placeholder 20">
            <a:extLst>
              <a:ext uri="{FF2B5EF4-FFF2-40B4-BE49-F238E27FC236}">
                <a16:creationId xmlns:a16="http://schemas.microsoft.com/office/drawing/2014/main" id="{A191D59F-2E4F-9DFD-FEAC-7FF6480D86B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626988C-588C-2C8A-2DC0-5D2C99DF44F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197DF7FC-2311-4E03-AAFE-2DADE0839E10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3F47F8-2FA5-B3C4-62D6-146B019264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Guides" hidden="1">
            <a:extLst>
              <a:ext uri="{FF2B5EF4-FFF2-40B4-BE49-F238E27FC236}">
                <a16:creationId xmlns:a16="http://schemas.microsoft.com/office/drawing/2014/main" id="{7C09ABE0-4AC7-DE98-E246-798BA091147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7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436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reaker C">
    <p:bg>
      <p:bgPr>
        <a:gradFill>
          <a:gsLst>
            <a:gs pos="86000">
              <a:srgbClr val="1F538F"/>
            </a:gs>
            <a:gs pos="60000">
              <a:schemeClr val="accent1"/>
            </a:gs>
            <a:gs pos="100000">
              <a:schemeClr val="accent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2070000"/>
            <a:ext cx="7408800" cy="4068000"/>
          </a:xfrm>
        </p:spPr>
        <p:txBody>
          <a:bodyPr anchor="t" anchorCtr="0">
            <a:noAutofit/>
          </a:bodyPr>
          <a:lstStyle>
            <a:lvl1pPr algn="l">
              <a:lnSpc>
                <a:spcPct val="70000"/>
              </a:lnSpc>
              <a:defRPr sz="8800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720000"/>
            <a:ext cx="7408800" cy="990000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8800" b="1" cap="none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7BCF-4AAC-B46A-F7F9-430053F8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314EBF-5BDF-4CA4-90C8-3F84A21DF94B}" type="datetimeFigureOut">
              <a:rPr lang="en-GB" smtClean="0"/>
              <a:pPr/>
              <a:t>24/11/2025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925D9-28BB-62F0-6672-3F2C0458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048EB2-ABBB-452B-B43B-31E8A7DFB90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7AE78B8-0EB3-C024-37F4-F509882235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0" name="Footers" descr="{&quot;templafy&quot;:{&quot;id&quot;:&quot;5e7a4020-5197-42b5-a0a1-76d93439fe1b&quot;}}">
            <a:extLst>
              <a:ext uri="{FF2B5EF4-FFF2-40B4-BE49-F238E27FC236}">
                <a16:creationId xmlns:a16="http://schemas.microsoft.com/office/drawing/2014/main" id="{5AE369FE-ED76-6EEE-3247-2A919AD7045B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402448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436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reaker 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2854800"/>
            <a:ext cx="10749600" cy="1108800"/>
          </a:xfrm>
        </p:spPr>
        <p:txBody>
          <a:bodyPr anchor="b">
            <a:noAutofit/>
          </a:bodyPr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Divider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3960000"/>
            <a:ext cx="10749600" cy="295200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7BCF-4AAC-B46A-F7F9-430053F8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314EBF-5BDF-4CA4-90C8-3F84A21DF94B}" type="datetimeFigureOut">
              <a:rPr lang="en-GB" smtClean="0"/>
              <a:pPr/>
              <a:t>24/11/2025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925D9-28BB-62F0-6672-3F2C0458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048EB2-ABBB-452B-B43B-31E8A7DFB90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18E4D93D-2A45-24EA-FE18-43B286D00ED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Footers" descr="{&quot;templafy&quot;:{&quot;id&quot;:&quot;39b31465-7178-466a-8f42-3e4972402eff&quot;}}">
            <a:extLst>
              <a:ext uri="{FF2B5EF4-FFF2-40B4-BE49-F238E27FC236}">
                <a16:creationId xmlns:a16="http://schemas.microsoft.com/office/drawing/2014/main" id="{A24A8258-9B07-0170-490D-F13D7253F271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1702440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reaker 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2854800"/>
            <a:ext cx="10749600" cy="1108800"/>
          </a:xfrm>
        </p:spPr>
        <p:txBody>
          <a:bodyPr anchor="b">
            <a:noAutofit/>
          </a:bodyPr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Divider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3960000"/>
            <a:ext cx="10749600" cy="295200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7BCF-4AAC-B46A-F7F9-430053F8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314EBF-5BDF-4CA4-90C8-3F84A21DF94B}" type="datetimeFigureOut">
              <a:rPr lang="en-GB" smtClean="0"/>
              <a:pPr/>
              <a:t>24/11/2025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925D9-28BB-62F0-6672-3F2C0458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048EB2-ABBB-452B-B43B-31E8A7DFB90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EEFCB10F-81AA-2405-D116-45EC5887718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Footers" descr="{&quot;templafy&quot;:{&quot;id&quot;:&quot;62dd52fa-754b-4464-afdb-3af5137dce98&quot;}}">
            <a:extLst>
              <a:ext uri="{FF2B5EF4-FFF2-40B4-BE49-F238E27FC236}">
                <a16:creationId xmlns:a16="http://schemas.microsoft.com/office/drawing/2014/main" id="{A5498BB6-9C05-CEB9-2389-021308A18C51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309394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reaker F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2854800"/>
            <a:ext cx="10749600" cy="1108800"/>
          </a:xfrm>
        </p:spPr>
        <p:txBody>
          <a:bodyPr anchor="b">
            <a:noAutofit/>
          </a:bodyPr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Divider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3960000"/>
            <a:ext cx="10749600" cy="295200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7BCF-4AAC-B46A-F7F9-430053F8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314EBF-5BDF-4CA4-90C8-3F84A21DF94B}" type="datetimeFigureOut">
              <a:rPr lang="en-GB" smtClean="0"/>
              <a:pPr/>
              <a:t>24/11/2025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925D9-28BB-62F0-6672-3F2C0458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048EB2-ABBB-452B-B43B-31E8A7DFB90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5CB14299-9B5F-BF3A-D63A-A282BCE062E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Footers" descr="{&quot;templafy&quot;:{&quot;id&quot;:&quot;5b4eea74-9d13-4e44-9b2c-0f08819b6c97&quot;}}">
            <a:extLst>
              <a:ext uri="{FF2B5EF4-FFF2-40B4-BE49-F238E27FC236}">
                <a16:creationId xmlns:a16="http://schemas.microsoft.com/office/drawing/2014/main" id="{F9DD6C23-C8F9-1547-9614-BEBD6DAFD0D9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419005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reaker G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2854800"/>
            <a:ext cx="10749600" cy="1108800"/>
          </a:xfrm>
        </p:spPr>
        <p:txBody>
          <a:bodyPr anchor="b">
            <a:noAutofit/>
          </a:bodyPr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Divider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3960000"/>
            <a:ext cx="10749600" cy="295200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7BCF-4AAC-B46A-F7F9-430053F8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314EBF-5BDF-4CA4-90C8-3F84A21DF94B}" type="datetimeFigureOut">
              <a:rPr lang="en-GB" smtClean="0"/>
              <a:pPr/>
              <a:t>24/11/2025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925D9-28BB-62F0-6672-3F2C0458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048EB2-ABBB-452B-B43B-31E8A7DFB90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82F1C1D4-A570-C8D4-71E4-37223819B6F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Footers" descr="{&quot;templafy&quot;:{&quot;id&quot;:&quot;32a703fa-8259-4557-962d-ab582f2249cc&quot;}}">
            <a:extLst>
              <a:ext uri="{FF2B5EF4-FFF2-40B4-BE49-F238E27FC236}">
                <a16:creationId xmlns:a16="http://schemas.microsoft.com/office/drawing/2014/main" id="{EBCD5668-E220-BAC0-653D-1464F2010891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560272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reaker H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54E8-F7AC-6010-B143-0AF26AA62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2854800"/>
            <a:ext cx="10749600" cy="1108800"/>
          </a:xfrm>
        </p:spPr>
        <p:txBody>
          <a:bodyPr anchor="b">
            <a:noAutofit/>
          </a:bodyPr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Divider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866B-9EF4-2877-CDF5-309DBB741F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3960000"/>
            <a:ext cx="10749600" cy="295200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 cap="all" spc="200" baseline="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D7BCF-4AAC-B46A-F7F9-430053F8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314EBF-5BDF-4CA4-90C8-3F84A21DF94B}" type="datetimeFigureOut">
              <a:rPr lang="en-GB" smtClean="0"/>
              <a:pPr/>
              <a:t>24/11/2025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925D9-28BB-62F0-6672-3F2C0458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048EB2-ABBB-452B-B43B-31E8A7DFB90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7CD447B1-6CDF-7A26-7C65-539832BE142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0" name="Footers" descr="{&quot;templafy&quot;:{&quot;id&quot;:&quot;78e4b136-0ecb-418f-b7bb-760dc4515bda&quot;}}">
            <a:extLst>
              <a:ext uri="{FF2B5EF4-FFF2-40B4-BE49-F238E27FC236}">
                <a16:creationId xmlns:a16="http://schemas.microsoft.com/office/drawing/2014/main" id="{91EF78B0-9F03-F314-B042-2A9C780D80D5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1388349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01A3-9575-864C-1751-0D6214ACB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1CD4D-601B-F33C-64C0-24F7E54A84C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713598"/>
            <a:ext cx="10752000" cy="4424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0299-CA6B-4E8C-BCCE-DD62263A5EED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101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07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58B4-61FE-4B6E-9387-39B058629E66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4A814F-0C98-DB9E-FF43-763E7CC581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000" y="1279218"/>
            <a:ext cx="1075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4FA1D6-7ADD-AD22-37E9-D78AE1E297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20000" y="1839600"/>
            <a:ext cx="10752000" cy="4298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43E914-DF48-3630-DBA8-2075914F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10753724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300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162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771BA-DEC6-F3CD-0966-439080AF1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10753724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54B0AC-EFAA-1FCE-1F40-2E60B6B67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DF7FC-2311-4E03-AAFE-2DADE0839E10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6BC50-3655-09A2-54D0-991FCCB4D1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8E7446D-1AC7-A43F-ADC3-99ABFBDE93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1279218"/>
            <a:ext cx="1075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Guides" hidden="1">
            <a:extLst>
              <a:ext uri="{FF2B5EF4-FFF2-40B4-BE49-F238E27FC236}">
                <a16:creationId xmlns:a16="http://schemas.microsoft.com/office/drawing/2014/main" id="{C47EC7B5-5579-B015-84D6-CEA96A4D5E9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974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162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6CF56-797D-76D1-938F-9E4AB58EB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6DD9D7-320B-688A-C7E1-3A0DA3246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DF7FC-2311-4E03-AAFE-2DADE0839E10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08826-EFB1-9253-4DD9-529D28A14B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65832291-D52E-BC28-A4EE-FF28DF7F69C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193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3" orient="horz" pos="107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01A3-9575-864C-1751-0D6214ACB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1CD4D-601B-F33C-64C0-24F7E54A84C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713598"/>
            <a:ext cx="5196000" cy="4424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A5DFB-6244-4115-A7AB-7C97339F6AD2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29DAC8-8D82-A64D-864B-A5A72A8A096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75999" y="1713599"/>
            <a:ext cx="5196000" cy="4424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8937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07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01A3-9575-864C-1751-0D6214ACB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10753724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1CD4D-601B-F33C-64C0-24F7E54A84C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839600"/>
            <a:ext cx="5196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29DAC8-8D82-A64D-864B-A5A72A8A096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75999" y="1839600"/>
            <a:ext cx="5196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A3CAC84-4261-E4FA-B805-4CB5CA0FAF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1279218"/>
            <a:ext cx="1075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1297066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162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01A3-9575-864C-1751-0D6214ACB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10753724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1CD4D-601B-F33C-64C0-24F7E54A84C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839600"/>
            <a:ext cx="3344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29DAC8-8D82-A64D-864B-A5A72A8A096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75" y="1839600"/>
            <a:ext cx="3344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A3CAC84-4261-E4FA-B805-4CB5CA0FAF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1279218"/>
            <a:ext cx="1075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7F96C7-6BF0-A4AA-E8A9-B7E0D8B90D3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128000" y="1839600"/>
            <a:ext cx="3344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0705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162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01A3-9575-864C-1751-0D6214ACB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10753724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1CD4D-601B-F33C-64C0-24F7E54A84C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839600"/>
            <a:ext cx="2418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29DAC8-8D82-A64D-864B-A5A72A8A096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498000" y="1839600"/>
            <a:ext cx="2418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A3CAC84-4261-E4FA-B805-4CB5CA0FAF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1279218"/>
            <a:ext cx="1075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7F96C7-6BF0-A4AA-E8A9-B7E0D8B90D3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275999" y="1839600"/>
            <a:ext cx="2418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5911BE-8839-F336-D549-40F51B1053D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053275" y="1839600"/>
            <a:ext cx="2418000" cy="4297675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3306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162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58B4-61FE-4B6E-9387-39B058629E66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4FA1D6-7ADD-AD22-37E9-D78AE1E297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02800" y="720000"/>
            <a:ext cx="7970400" cy="54180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43E914-DF48-3630-DBA8-2075914F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2415600" cy="25308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FEC81-69D3-F091-6AAB-584372D2CDC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19138" y="3556000"/>
            <a:ext cx="2416175" cy="2581275"/>
          </a:xfrm>
        </p:spPr>
        <p:txBody>
          <a:bodyPr/>
          <a:lstStyle>
            <a:lvl1pPr>
              <a:defRPr sz="4000" cap="all" baseline="0">
                <a:solidFill>
                  <a:srgbClr val="9EC3E1"/>
                </a:solidFill>
              </a:defRPr>
            </a:lvl1pPr>
          </a:lstStyle>
          <a:p>
            <a:pPr lvl="0"/>
            <a:r>
              <a:rPr lang="en-US" dirty="0"/>
              <a:t>Callout or stat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6113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3" orient="horz" pos="2251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  <p15:guide id="29" orient="horz" pos="2047" userDrawn="1">
          <p15:clr>
            <a:srgbClr val="FF96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debar,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BFE9E1-1C16-564A-C1BC-E967D9D8E31E}"/>
              </a:ext>
            </a:extLst>
          </p:cNvPr>
          <p:cNvSpPr/>
          <p:nvPr userDrawn="1"/>
        </p:nvSpPr>
        <p:spPr>
          <a:xfrm>
            <a:off x="8401200" y="0"/>
            <a:ext cx="3790800" cy="6858000"/>
          </a:xfrm>
          <a:prstGeom prst="rect">
            <a:avLst/>
          </a:prstGeom>
          <a:solidFill>
            <a:srgbClr val="EAEAEA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58B4-61FE-4B6E-9387-39B058629E66}" type="datetime4">
              <a:rPr lang="en-US" noProof="0" smtClean="0"/>
              <a:t>November 24, 2025</a:t>
            </a:fld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4A814F-0C98-DB9E-FF43-763E7CC581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000" y="1279218"/>
            <a:ext cx="70488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4FA1D6-7ADD-AD22-37E9-D78AE1E297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20000" y="1839600"/>
            <a:ext cx="7048800" cy="4298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43E914-DF48-3630-DBA8-2075914F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7048800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D4EAAFD-8308-55F9-E30C-5C801082C1B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787261" y="720000"/>
            <a:ext cx="2680837" cy="54180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s" descr="{&quot;templafy&quot;:{&quot;id&quot;:&quot;f6daa306-ad96-40f4-82cd-fef5cf89adf4&quot;}}">
            <a:extLst>
              <a:ext uri="{FF2B5EF4-FFF2-40B4-BE49-F238E27FC236}">
                <a16:creationId xmlns:a16="http://schemas.microsoft.com/office/drawing/2014/main" id="{1730DDFB-184E-CE5B-13B1-2A6F3A06ACE8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1564629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>
          <p15:clr>
            <a:srgbClr val="8F8F8F"/>
          </p15:clr>
        </p15:guide>
        <p15:guide id="4" orient="horz" pos="3866">
          <p15:clr>
            <a:srgbClr val="FF96FF"/>
          </p15:clr>
        </p15:guide>
        <p15:guide id="5" pos="453">
          <p15:clr>
            <a:srgbClr val="FF96FF"/>
          </p15:clr>
        </p15:guide>
        <p15:guide id="6" pos="810">
          <p15:clr>
            <a:srgbClr val="FF96FF"/>
          </p15:clr>
        </p15:guide>
        <p15:guide id="7" pos="1036">
          <p15:clr>
            <a:srgbClr val="FF96FF"/>
          </p15:clr>
        </p15:guide>
        <p15:guide id="8" pos="1393">
          <p15:clr>
            <a:srgbClr val="FF96FF"/>
          </p15:clr>
        </p15:guide>
        <p15:guide id="9" pos="1620">
          <p15:clr>
            <a:srgbClr val="FF96FF"/>
          </p15:clr>
        </p15:guide>
        <p15:guide id="10" pos="1976">
          <p15:clr>
            <a:srgbClr val="FF96FF"/>
          </p15:clr>
        </p15:guide>
        <p15:guide id="11" pos="2203">
          <p15:clr>
            <a:srgbClr val="FF96FF"/>
          </p15:clr>
        </p15:guide>
        <p15:guide id="12" pos="2560">
          <p15:clr>
            <a:srgbClr val="FF96FF"/>
          </p15:clr>
        </p15:guide>
        <p15:guide id="13" pos="2786">
          <p15:clr>
            <a:srgbClr val="FF96FF"/>
          </p15:clr>
        </p15:guide>
        <p15:guide id="14" pos="3143">
          <p15:clr>
            <a:srgbClr val="FF96FF"/>
          </p15:clr>
        </p15:guide>
        <p15:guide id="15" pos="3370">
          <p15:clr>
            <a:srgbClr val="FF96FF"/>
          </p15:clr>
        </p15:guide>
        <p15:guide id="16" pos="3726">
          <p15:clr>
            <a:srgbClr val="FF96FF"/>
          </p15:clr>
        </p15:guide>
        <p15:guide id="17" pos="3953">
          <p15:clr>
            <a:srgbClr val="FF96FF"/>
          </p15:clr>
        </p15:guide>
        <p15:guide id="18" pos="4309">
          <p15:clr>
            <a:srgbClr val="FF96FF"/>
          </p15:clr>
        </p15:guide>
        <p15:guide id="19" pos="4536">
          <p15:clr>
            <a:srgbClr val="FF96FF"/>
          </p15:clr>
        </p15:guide>
        <p15:guide id="20" pos="4893">
          <p15:clr>
            <a:srgbClr val="FF96FF"/>
          </p15:clr>
        </p15:guide>
        <p15:guide id="21" pos="5120">
          <p15:clr>
            <a:srgbClr val="FF96FF"/>
          </p15:clr>
        </p15:guide>
        <p15:guide id="22" pos="5476">
          <p15:clr>
            <a:srgbClr val="FF96FF"/>
          </p15:clr>
        </p15:guide>
        <p15:guide id="23" pos="5703">
          <p15:clr>
            <a:srgbClr val="FF96FF"/>
          </p15:clr>
        </p15:guide>
        <p15:guide id="24" pos="6059">
          <p15:clr>
            <a:srgbClr val="FF96FF"/>
          </p15:clr>
        </p15:guide>
        <p15:guide id="25" pos="6286">
          <p15:clr>
            <a:srgbClr val="FF96FF"/>
          </p15:clr>
        </p15:guide>
        <p15:guide id="26" pos="6643">
          <p15:clr>
            <a:srgbClr val="FF96FF"/>
          </p15:clr>
        </p15:guide>
        <p15:guide id="27" pos="6869">
          <p15:clr>
            <a:srgbClr val="FF96FF"/>
          </p15:clr>
        </p15:guide>
        <p15:guide id="28" pos="7226">
          <p15:clr>
            <a:srgbClr val="FF96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,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BFE9E1-1C16-564A-C1BC-E967D9D8E31E}"/>
              </a:ext>
            </a:extLst>
          </p:cNvPr>
          <p:cNvSpPr/>
          <p:nvPr userDrawn="1"/>
        </p:nvSpPr>
        <p:spPr>
          <a:xfrm>
            <a:off x="0" y="0"/>
            <a:ext cx="3790800" cy="6858000"/>
          </a:xfrm>
          <a:prstGeom prst="rect">
            <a:avLst/>
          </a:prstGeom>
          <a:solidFill>
            <a:srgbClr val="EAEAEA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138" y="6439469"/>
            <a:ext cx="2024062" cy="180000"/>
          </a:xfrm>
        </p:spPr>
        <p:txBody>
          <a:bodyPr/>
          <a:lstStyle/>
          <a:p>
            <a:fld id="{AEBF58B4-61FE-4B6E-9387-39B058629E66}" type="datetime4">
              <a:rPr lang="en-US" noProof="0" smtClean="0"/>
              <a:t>November 24, 2025</a:t>
            </a:fld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4A814F-0C98-DB9E-FF43-763E7CC581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4400" y="1279218"/>
            <a:ext cx="70488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4FA1D6-7ADD-AD22-37E9-D78AE1E297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24400" y="1839600"/>
            <a:ext cx="7048800" cy="4298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43E914-DF48-3630-DBA8-2075914F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400" y="720000"/>
            <a:ext cx="7048800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D4EAAFD-8308-55F9-E30C-5C801082C1B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0000" y="720000"/>
            <a:ext cx="2419200" cy="54180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5106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>
          <p15:clr>
            <a:srgbClr val="8F8F8F"/>
          </p15:clr>
        </p15:guide>
        <p15:guide id="4" orient="horz" pos="3866">
          <p15:clr>
            <a:srgbClr val="FF96FF"/>
          </p15:clr>
        </p15:guide>
        <p15:guide id="5" pos="453">
          <p15:clr>
            <a:srgbClr val="FF96FF"/>
          </p15:clr>
        </p15:guide>
        <p15:guide id="6" pos="810">
          <p15:clr>
            <a:srgbClr val="FF96FF"/>
          </p15:clr>
        </p15:guide>
        <p15:guide id="7" pos="1036">
          <p15:clr>
            <a:srgbClr val="FF96FF"/>
          </p15:clr>
        </p15:guide>
        <p15:guide id="8" pos="1393">
          <p15:clr>
            <a:srgbClr val="FF96FF"/>
          </p15:clr>
        </p15:guide>
        <p15:guide id="9" pos="1620">
          <p15:clr>
            <a:srgbClr val="FF96FF"/>
          </p15:clr>
        </p15:guide>
        <p15:guide id="10" pos="1976">
          <p15:clr>
            <a:srgbClr val="FF96FF"/>
          </p15:clr>
        </p15:guide>
        <p15:guide id="11" pos="2203">
          <p15:clr>
            <a:srgbClr val="FF96FF"/>
          </p15:clr>
        </p15:guide>
        <p15:guide id="12" pos="2560">
          <p15:clr>
            <a:srgbClr val="FF96FF"/>
          </p15:clr>
        </p15:guide>
        <p15:guide id="13" pos="2786">
          <p15:clr>
            <a:srgbClr val="FF96FF"/>
          </p15:clr>
        </p15:guide>
        <p15:guide id="14" pos="3143">
          <p15:clr>
            <a:srgbClr val="FF96FF"/>
          </p15:clr>
        </p15:guide>
        <p15:guide id="15" pos="3370">
          <p15:clr>
            <a:srgbClr val="FF96FF"/>
          </p15:clr>
        </p15:guide>
        <p15:guide id="16" pos="3726">
          <p15:clr>
            <a:srgbClr val="FF96FF"/>
          </p15:clr>
        </p15:guide>
        <p15:guide id="17" pos="3953">
          <p15:clr>
            <a:srgbClr val="FF96FF"/>
          </p15:clr>
        </p15:guide>
        <p15:guide id="18" pos="4309">
          <p15:clr>
            <a:srgbClr val="FF96FF"/>
          </p15:clr>
        </p15:guide>
        <p15:guide id="19" pos="4536">
          <p15:clr>
            <a:srgbClr val="FF96FF"/>
          </p15:clr>
        </p15:guide>
        <p15:guide id="20" pos="4893">
          <p15:clr>
            <a:srgbClr val="FF96FF"/>
          </p15:clr>
        </p15:guide>
        <p15:guide id="21" pos="5120">
          <p15:clr>
            <a:srgbClr val="FF96FF"/>
          </p15:clr>
        </p15:guide>
        <p15:guide id="22" pos="5476">
          <p15:clr>
            <a:srgbClr val="FF96FF"/>
          </p15:clr>
        </p15:guide>
        <p15:guide id="23" pos="5703">
          <p15:clr>
            <a:srgbClr val="FF96FF"/>
          </p15:clr>
        </p15:guide>
        <p15:guide id="24" pos="6059">
          <p15:clr>
            <a:srgbClr val="FF96FF"/>
          </p15:clr>
        </p15:guide>
        <p15:guide id="25" pos="6286">
          <p15:clr>
            <a:srgbClr val="FF96FF"/>
          </p15:clr>
        </p15:guide>
        <p15:guide id="26" pos="6643">
          <p15:clr>
            <a:srgbClr val="FF96FF"/>
          </p15:clr>
        </p15:guide>
        <p15:guide id="27" pos="6869">
          <p15:clr>
            <a:srgbClr val="FF96FF"/>
          </p15:clr>
        </p15:guide>
        <p15:guide id="28" pos="7226">
          <p15:clr>
            <a:srgbClr val="FF96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Left -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614FC3F-8ED6-0751-6C51-3B2BEC1277D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00900" y="0"/>
            <a:ext cx="4991100" cy="68580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58B4-61FE-4B6E-9387-39B058629E66}" type="datetime4">
              <a:rPr lang="en-US" noProof="0" smtClean="0"/>
              <a:t>November 24, 2025</a:t>
            </a:fld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4A814F-0C98-DB9E-FF43-763E7CC581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000" y="1279218"/>
            <a:ext cx="612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4FA1D6-7ADD-AD22-37E9-D78AE1E297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20000" y="1839600"/>
            <a:ext cx="6122000" cy="4298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43E914-DF48-3630-DBA8-2075914F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6122000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Footers" descr="{&quot;templafy&quot;:{&quot;id&quot;:&quot;fe8e1a07-4725-46e9-b27d-111515b6a4b0&quot;}}">
            <a:extLst>
              <a:ext uri="{FF2B5EF4-FFF2-40B4-BE49-F238E27FC236}">
                <a16:creationId xmlns:a16="http://schemas.microsoft.com/office/drawing/2014/main" id="{F9EC4DD8-B03D-E94C-E682-0A9B26DCBF89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4092619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 -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0E66B85-A497-806D-1EDC-07151561F0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991100" cy="68580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06397E-9D3D-F1AD-D58D-4D4D7BE0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138" y="6439469"/>
            <a:ext cx="2024062" cy="180000"/>
          </a:xfrm>
        </p:spPr>
        <p:txBody>
          <a:bodyPr/>
          <a:lstStyle/>
          <a:p>
            <a:fld id="{AEBF58B4-61FE-4B6E-9387-39B058629E66}" type="datetime4">
              <a:rPr lang="en-US" noProof="0" smtClean="0"/>
              <a:t>November 24, 2025</a:t>
            </a:fld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0F1D91-C162-A65B-51B6-A5487F853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4A814F-0C98-DB9E-FF43-763E7CC581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275" y="1279218"/>
            <a:ext cx="6122000" cy="3470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 spc="200" baseline="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800" b="1" cap="all">
                <a:solidFill>
                  <a:schemeClr val="accent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1" cap="all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4FA1D6-7ADD-AD22-37E9-D78AE1E297D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49275" y="1839600"/>
            <a:ext cx="6122000" cy="42984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43E914-DF48-3630-DBA8-2075914F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275" y="720000"/>
            <a:ext cx="6122000" cy="561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461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>
          <p15:clr>
            <a:srgbClr val="8F8F8F"/>
          </p15:clr>
        </p15:guide>
        <p15:guide id="4" orient="horz" pos="3866">
          <p15:clr>
            <a:srgbClr val="FF96FF"/>
          </p15:clr>
        </p15:guide>
        <p15:guide id="5" pos="453">
          <p15:clr>
            <a:srgbClr val="FF96FF"/>
          </p15:clr>
        </p15:guide>
        <p15:guide id="6" pos="810">
          <p15:clr>
            <a:srgbClr val="FF96FF"/>
          </p15:clr>
        </p15:guide>
        <p15:guide id="7" pos="1036">
          <p15:clr>
            <a:srgbClr val="FF96FF"/>
          </p15:clr>
        </p15:guide>
        <p15:guide id="8" pos="1393">
          <p15:clr>
            <a:srgbClr val="FF96FF"/>
          </p15:clr>
        </p15:guide>
        <p15:guide id="9" pos="1620">
          <p15:clr>
            <a:srgbClr val="FF96FF"/>
          </p15:clr>
        </p15:guide>
        <p15:guide id="10" pos="1976">
          <p15:clr>
            <a:srgbClr val="FF96FF"/>
          </p15:clr>
        </p15:guide>
        <p15:guide id="11" pos="2203">
          <p15:clr>
            <a:srgbClr val="FF96FF"/>
          </p15:clr>
        </p15:guide>
        <p15:guide id="12" pos="2560">
          <p15:clr>
            <a:srgbClr val="FF96FF"/>
          </p15:clr>
        </p15:guide>
        <p15:guide id="13" pos="2786">
          <p15:clr>
            <a:srgbClr val="FF96FF"/>
          </p15:clr>
        </p15:guide>
        <p15:guide id="14" pos="3143">
          <p15:clr>
            <a:srgbClr val="FF96FF"/>
          </p15:clr>
        </p15:guide>
        <p15:guide id="15" pos="3370">
          <p15:clr>
            <a:srgbClr val="FF96FF"/>
          </p15:clr>
        </p15:guide>
        <p15:guide id="16" pos="3726">
          <p15:clr>
            <a:srgbClr val="FF96FF"/>
          </p15:clr>
        </p15:guide>
        <p15:guide id="17" pos="3953">
          <p15:clr>
            <a:srgbClr val="FF96FF"/>
          </p15:clr>
        </p15:guide>
        <p15:guide id="18" pos="4309">
          <p15:clr>
            <a:srgbClr val="FF96FF"/>
          </p15:clr>
        </p15:guide>
        <p15:guide id="19" pos="4536">
          <p15:clr>
            <a:srgbClr val="FF96FF"/>
          </p15:clr>
        </p15:guide>
        <p15:guide id="20" pos="4893">
          <p15:clr>
            <a:srgbClr val="FF96FF"/>
          </p15:clr>
        </p15:guide>
        <p15:guide id="21" pos="5120">
          <p15:clr>
            <a:srgbClr val="FF96FF"/>
          </p15:clr>
        </p15:guide>
        <p15:guide id="22" pos="5476">
          <p15:clr>
            <a:srgbClr val="FF96FF"/>
          </p15:clr>
        </p15:guide>
        <p15:guide id="23" pos="5703">
          <p15:clr>
            <a:srgbClr val="FF96FF"/>
          </p15:clr>
        </p15:guide>
        <p15:guide id="24" pos="6059">
          <p15:clr>
            <a:srgbClr val="FF96FF"/>
          </p15:clr>
        </p15:guide>
        <p15:guide id="25" pos="6286">
          <p15:clr>
            <a:srgbClr val="FF96FF"/>
          </p15:clr>
        </p15:guide>
        <p15:guide id="26" pos="6643">
          <p15:clr>
            <a:srgbClr val="FF96FF"/>
          </p15:clr>
        </p15:guide>
        <p15:guide id="27" pos="6869">
          <p15:clr>
            <a:srgbClr val="FF96FF"/>
          </p15:clr>
        </p15:guide>
        <p15:guide id="28" pos="7226">
          <p15:clr>
            <a:srgbClr val="FF96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57D76C0-5C22-E359-CE79-F004D2181106}"/>
              </a:ext>
            </a:extLst>
          </p:cNvPr>
          <p:cNvSpPr/>
          <p:nvPr userDrawn="1"/>
        </p:nvSpPr>
        <p:spPr>
          <a:xfrm>
            <a:off x="0" y="0"/>
            <a:ext cx="5911200" cy="6858000"/>
          </a:xfrm>
          <a:prstGeom prst="rect">
            <a:avLst/>
          </a:prstGeom>
          <a:gradFill>
            <a:gsLst>
              <a:gs pos="60000">
                <a:schemeClr val="accent1"/>
              </a:gs>
              <a:gs pos="86000">
                <a:srgbClr val="1F538F"/>
              </a:gs>
              <a:gs pos="100000">
                <a:schemeClr val="accent3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7DF7FC-2311-4E03-AAFE-2DADE0839E10}" type="datetime4">
              <a:rPr lang="en-US" smtClean="0"/>
              <a:pPr/>
              <a:t>November 24,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EF4BC-6E95-E773-0639-620E420E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4629600" cy="2530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ADAE3EDE-9CDD-1054-DBC1-D9F83A0100D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80802" y="720000"/>
            <a:ext cx="2412348" cy="25308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8629CEFB-CC46-A8B8-01A0-9FC67CBA2F4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62752" y="720000"/>
            <a:ext cx="2412348" cy="25308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3">
            <a:extLst>
              <a:ext uri="{FF2B5EF4-FFF2-40B4-BE49-F238E27FC236}">
                <a16:creationId xmlns:a16="http://schemas.microsoft.com/office/drawing/2014/main" id="{277AD4A9-73AA-FC1E-DFE4-E50DD96AC8A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280802" y="3607201"/>
            <a:ext cx="2412348" cy="25308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50F43CDD-BB71-2518-2700-3FC4FD0DB8F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9062752" y="3607201"/>
            <a:ext cx="2412348" cy="25308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D123BC9-B849-5E02-3DDF-B103F55291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9138" y="3610800"/>
            <a:ext cx="4629600" cy="2530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9728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3" orient="horz" pos="2047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  <p15:guide id="29" orient="horz" pos="2273" userDrawn="1">
          <p15:clr>
            <a:srgbClr val="FF96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97DF7FC-2311-4E03-AAFE-2DADE0839E10}" type="datetime4">
              <a:rPr lang="en-US" smtClean="0"/>
              <a:pPr/>
              <a:t>November 24,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B9116D4-9E24-FD39-596E-CABCC8754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2417762" cy="25308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AC1FBFE-B73D-7F3E-861B-16D1159B45C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0000" y="3607199"/>
            <a:ext cx="5195025" cy="2530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1355AA-2A1E-CBAB-020F-D1DB8E94225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98000" y="7200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C93BC420-F68F-9B1C-F5A8-F0BAD3B826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75387" y="7200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Content Placeholder 17">
            <a:extLst>
              <a:ext uri="{FF2B5EF4-FFF2-40B4-BE49-F238E27FC236}">
                <a16:creationId xmlns:a16="http://schemas.microsoft.com/office/drawing/2014/main" id="{A5B5E373-4E3B-480D-73B7-5EE07093D49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55099" y="7200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Content Placeholder 17">
            <a:extLst>
              <a:ext uri="{FF2B5EF4-FFF2-40B4-BE49-F238E27FC236}">
                <a16:creationId xmlns:a16="http://schemas.microsoft.com/office/drawing/2014/main" id="{057CD0C9-80B1-7549-1BFB-01E5CBEA35B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5387" y="36068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Content Placeholder 17">
            <a:extLst>
              <a:ext uri="{FF2B5EF4-FFF2-40B4-BE49-F238E27FC236}">
                <a16:creationId xmlns:a16="http://schemas.microsoft.com/office/drawing/2014/main" id="{B322A81B-E399-B159-6C94-498E77BEEE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55099" y="36068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084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2047" userDrawn="1">
          <p15:clr>
            <a:srgbClr val="FF96FF"/>
          </p15:clr>
        </p15:guide>
        <p15:guide id="5" orient="horz" pos="2273" userDrawn="1">
          <p15:clr>
            <a:srgbClr val="FF96FF"/>
          </p15:clr>
        </p15:guide>
        <p15:guide id="6" orient="horz" pos="3866" userDrawn="1">
          <p15:clr>
            <a:srgbClr val="FF96FF"/>
          </p15:clr>
        </p15:guide>
        <p15:guide id="7" pos="453" userDrawn="1">
          <p15:clr>
            <a:srgbClr val="FF96FF"/>
          </p15:clr>
        </p15:guide>
        <p15:guide id="8" pos="810" userDrawn="1">
          <p15:clr>
            <a:srgbClr val="FF96FF"/>
          </p15:clr>
        </p15:guide>
        <p15:guide id="9" pos="1036" userDrawn="1">
          <p15:clr>
            <a:srgbClr val="FF96FF"/>
          </p15:clr>
        </p15:guide>
        <p15:guide id="10" pos="1393" userDrawn="1">
          <p15:clr>
            <a:srgbClr val="FF96FF"/>
          </p15:clr>
        </p15:guide>
        <p15:guide id="11" pos="1620" userDrawn="1">
          <p15:clr>
            <a:srgbClr val="FF96FF"/>
          </p15:clr>
        </p15:guide>
        <p15:guide id="12" pos="1976" userDrawn="1">
          <p15:clr>
            <a:srgbClr val="FF96FF"/>
          </p15:clr>
        </p15:guide>
        <p15:guide id="13" pos="2203" userDrawn="1">
          <p15:clr>
            <a:srgbClr val="FF96FF"/>
          </p15:clr>
        </p15:guide>
        <p15:guide id="14" pos="2560" userDrawn="1">
          <p15:clr>
            <a:srgbClr val="FF96FF"/>
          </p15:clr>
        </p15:guide>
        <p15:guide id="15" pos="2786" userDrawn="1">
          <p15:clr>
            <a:srgbClr val="FF96FF"/>
          </p15:clr>
        </p15:guide>
        <p15:guide id="16" pos="3143" userDrawn="1">
          <p15:clr>
            <a:srgbClr val="FF96FF"/>
          </p15:clr>
        </p15:guide>
        <p15:guide id="17" pos="3370" userDrawn="1">
          <p15:clr>
            <a:srgbClr val="FF96FF"/>
          </p15:clr>
        </p15:guide>
        <p15:guide id="18" pos="3726" userDrawn="1">
          <p15:clr>
            <a:srgbClr val="FF96FF"/>
          </p15:clr>
        </p15:guide>
        <p15:guide id="19" pos="3953" userDrawn="1">
          <p15:clr>
            <a:srgbClr val="FF96FF"/>
          </p15:clr>
        </p15:guide>
        <p15:guide id="20" pos="4309" userDrawn="1">
          <p15:clr>
            <a:srgbClr val="FF96FF"/>
          </p15:clr>
        </p15:guide>
        <p15:guide id="21" pos="4536" userDrawn="1">
          <p15:clr>
            <a:srgbClr val="FF96FF"/>
          </p15:clr>
        </p15:guide>
        <p15:guide id="22" pos="4893" userDrawn="1">
          <p15:clr>
            <a:srgbClr val="FF96FF"/>
          </p15:clr>
        </p15:guide>
        <p15:guide id="23" pos="5120" userDrawn="1">
          <p15:clr>
            <a:srgbClr val="FF96FF"/>
          </p15:clr>
        </p15:guide>
        <p15:guide id="24" pos="5476" userDrawn="1">
          <p15:clr>
            <a:srgbClr val="FF96FF"/>
          </p15:clr>
        </p15:guide>
        <p15:guide id="25" pos="5703" userDrawn="1">
          <p15:clr>
            <a:srgbClr val="FF96FF"/>
          </p15:clr>
        </p15:guide>
        <p15:guide id="26" pos="6059" userDrawn="1">
          <p15:clr>
            <a:srgbClr val="FF96FF"/>
          </p15:clr>
        </p15:guide>
        <p15:guide id="27" pos="6286" userDrawn="1">
          <p15:clr>
            <a:srgbClr val="FF96FF"/>
          </p15:clr>
        </p15:guide>
        <p15:guide id="28" pos="6643" userDrawn="1">
          <p15:clr>
            <a:srgbClr val="FF96FF"/>
          </p15:clr>
        </p15:guide>
        <p15:guide id="29" pos="6869" userDrawn="1">
          <p15:clr>
            <a:srgbClr val="FF96FF"/>
          </p15:clr>
        </p15:guide>
        <p15:guide id="30" pos="7226" userDrawn="1">
          <p15:clr>
            <a:srgbClr val="FF96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5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C26CBF-9D3D-15DE-A3B6-1F8AC80A3E0C}"/>
              </a:ext>
            </a:extLst>
          </p:cNvPr>
          <p:cNvSpPr/>
          <p:nvPr userDrawn="1"/>
        </p:nvSpPr>
        <p:spPr>
          <a:xfrm>
            <a:off x="0" y="0"/>
            <a:ext cx="3135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138" y="6439469"/>
            <a:ext cx="18288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7DF7FC-2311-4E03-AAFE-2DADE0839E10}" type="datetime4">
              <a:rPr lang="en-US" smtClean="0"/>
              <a:pPr/>
              <a:t>November 24, 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B9116D4-9E24-FD39-596E-CABCC8754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2224800" cy="2530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1355AA-2A1E-CBAB-020F-D1DB8E94225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98000" y="720000"/>
            <a:ext cx="5195150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Content Placeholder 17">
            <a:extLst>
              <a:ext uri="{FF2B5EF4-FFF2-40B4-BE49-F238E27FC236}">
                <a16:creationId xmlns:a16="http://schemas.microsoft.com/office/drawing/2014/main" id="{A5B5E373-4E3B-480D-73B7-5EE07093D49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55099" y="7200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Content Placeholder 17">
            <a:extLst>
              <a:ext uri="{FF2B5EF4-FFF2-40B4-BE49-F238E27FC236}">
                <a16:creationId xmlns:a16="http://schemas.microsoft.com/office/drawing/2014/main" id="{057CD0C9-80B1-7549-1BFB-01E5CBEA35B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98000" y="3606800"/>
            <a:ext cx="5195150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Content Placeholder 17">
            <a:extLst>
              <a:ext uri="{FF2B5EF4-FFF2-40B4-BE49-F238E27FC236}">
                <a16:creationId xmlns:a16="http://schemas.microsoft.com/office/drawing/2014/main" id="{B322A81B-E399-B159-6C94-498E77BEEE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55099" y="3606800"/>
            <a:ext cx="2417763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C86090-9697-9AEF-C893-5B4EBE1CA3B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9138" y="3610800"/>
            <a:ext cx="2224800" cy="2530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286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2047" userDrawn="1">
          <p15:clr>
            <a:srgbClr val="FF96FF"/>
          </p15:clr>
        </p15:guide>
        <p15:guide id="5" orient="horz" pos="2273" userDrawn="1">
          <p15:clr>
            <a:srgbClr val="FF96FF"/>
          </p15:clr>
        </p15:guide>
        <p15:guide id="6" orient="horz" pos="3866" userDrawn="1">
          <p15:clr>
            <a:srgbClr val="FF96FF"/>
          </p15:clr>
        </p15:guide>
        <p15:guide id="7" pos="453" userDrawn="1">
          <p15:clr>
            <a:srgbClr val="FF96FF"/>
          </p15:clr>
        </p15:guide>
        <p15:guide id="8" pos="810" userDrawn="1">
          <p15:clr>
            <a:srgbClr val="FF96FF"/>
          </p15:clr>
        </p15:guide>
        <p15:guide id="9" pos="1036" userDrawn="1">
          <p15:clr>
            <a:srgbClr val="FF96FF"/>
          </p15:clr>
        </p15:guide>
        <p15:guide id="10" pos="1393" userDrawn="1">
          <p15:clr>
            <a:srgbClr val="FF96FF"/>
          </p15:clr>
        </p15:guide>
        <p15:guide id="11" pos="1620" userDrawn="1">
          <p15:clr>
            <a:srgbClr val="FF96FF"/>
          </p15:clr>
        </p15:guide>
        <p15:guide id="12" pos="1976" userDrawn="1">
          <p15:clr>
            <a:srgbClr val="FF96FF"/>
          </p15:clr>
        </p15:guide>
        <p15:guide id="13" pos="2203" userDrawn="1">
          <p15:clr>
            <a:srgbClr val="FF96FF"/>
          </p15:clr>
        </p15:guide>
        <p15:guide id="14" pos="2560" userDrawn="1">
          <p15:clr>
            <a:srgbClr val="FF96FF"/>
          </p15:clr>
        </p15:guide>
        <p15:guide id="15" pos="2786" userDrawn="1">
          <p15:clr>
            <a:srgbClr val="FF96FF"/>
          </p15:clr>
        </p15:guide>
        <p15:guide id="16" pos="3143" userDrawn="1">
          <p15:clr>
            <a:srgbClr val="FF96FF"/>
          </p15:clr>
        </p15:guide>
        <p15:guide id="17" pos="3370" userDrawn="1">
          <p15:clr>
            <a:srgbClr val="FF96FF"/>
          </p15:clr>
        </p15:guide>
        <p15:guide id="18" pos="3726" userDrawn="1">
          <p15:clr>
            <a:srgbClr val="FF96FF"/>
          </p15:clr>
        </p15:guide>
        <p15:guide id="19" pos="3953" userDrawn="1">
          <p15:clr>
            <a:srgbClr val="FF96FF"/>
          </p15:clr>
        </p15:guide>
        <p15:guide id="20" pos="4309" userDrawn="1">
          <p15:clr>
            <a:srgbClr val="FF96FF"/>
          </p15:clr>
        </p15:guide>
        <p15:guide id="21" pos="4536" userDrawn="1">
          <p15:clr>
            <a:srgbClr val="FF96FF"/>
          </p15:clr>
        </p15:guide>
        <p15:guide id="22" pos="4893" userDrawn="1">
          <p15:clr>
            <a:srgbClr val="FF96FF"/>
          </p15:clr>
        </p15:guide>
        <p15:guide id="23" pos="5120" userDrawn="1">
          <p15:clr>
            <a:srgbClr val="FF96FF"/>
          </p15:clr>
        </p15:guide>
        <p15:guide id="24" pos="5476" userDrawn="1">
          <p15:clr>
            <a:srgbClr val="FF96FF"/>
          </p15:clr>
        </p15:guide>
        <p15:guide id="25" pos="5703" userDrawn="1">
          <p15:clr>
            <a:srgbClr val="FF96FF"/>
          </p15:clr>
        </p15:guide>
        <p15:guide id="26" pos="6059" userDrawn="1">
          <p15:clr>
            <a:srgbClr val="FF96FF"/>
          </p15:clr>
        </p15:guide>
        <p15:guide id="27" pos="6286" userDrawn="1">
          <p15:clr>
            <a:srgbClr val="FF96FF"/>
          </p15:clr>
        </p15:guide>
        <p15:guide id="28" pos="6643" userDrawn="1">
          <p15:clr>
            <a:srgbClr val="FF96FF"/>
          </p15:clr>
        </p15:guide>
        <p15:guide id="29" pos="6869" userDrawn="1">
          <p15:clr>
            <a:srgbClr val="FF96FF"/>
          </p15:clr>
        </p15:guide>
        <p15:guide id="30" pos="7226" userDrawn="1">
          <p15:clr>
            <a:srgbClr val="FF96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5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B292795-53E5-D4AE-7881-39C23A693A20}"/>
              </a:ext>
            </a:extLst>
          </p:cNvPr>
          <p:cNvSpPr/>
          <p:nvPr userDrawn="1"/>
        </p:nvSpPr>
        <p:spPr>
          <a:xfrm>
            <a:off x="9053512" y="0"/>
            <a:ext cx="3138487" cy="6858000"/>
          </a:xfrm>
          <a:prstGeom prst="rect">
            <a:avLst/>
          </a:prstGeom>
          <a:solidFill>
            <a:srgbClr val="EAEAEA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97DF7FC-2311-4E03-AAFE-2DADE0839E10}" type="datetime4">
              <a:rPr lang="en-US" smtClean="0"/>
              <a:pPr/>
              <a:t>November 24,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1355AA-2A1E-CBAB-020F-D1DB8E94225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98000" y="720000"/>
            <a:ext cx="5195150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Content Placeholder 17">
            <a:extLst>
              <a:ext uri="{FF2B5EF4-FFF2-40B4-BE49-F238E27FC236}">
                <a16:creationId xmlns:a16="http://schemas.microsoft.com/office/drawing/2014/main" id="{A5B5E373-4E3B-480D-73B7-5EE07093D49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212062" y="720000"/>
            <a:ext cx="2260800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Content Placeholder 17">
            <a:extLst>
              <a:ext uri="{FF2B5EF4-FFF2-40B4-BE49-F238E27FC236}">
                <a16:creationId xmlns:a16="http://schemas.microsoft.com/office/drawing/2014/main" id="{057CD0C9-80B1-7549-1BFB-01E5CBEA35B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98000" y="3606800"/>
            <a:ext cx="5195150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Content Placeholder 17">
            <a:extLst>
              <a:ext uri="{FF2B5EF4-FFF2-40B4-BE49-F238E27FC236}">
                <a16:creationId xmlns:a16="http://schemas.microsoft.com/office/drawing/2014/main" id="{B322A81B-E399-B159-6C94-498E77BEEE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212062" y="3606800"/>
            <a:ext cx="2260800" cy="2530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7D0E8A7-F71B-DA02-9636-65342A59D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19999"/>
            <a:ext cx="2416913" cy="252961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439221F-1453-B601-B3A1-2760F20CC76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19138" y="3606800"/>
            <a:ext cx="2416175" cy="2530475"/>
          </a:xfrm>
        </p:spPr>
        <p:txBody>
          <a:bodyPr/>
          <a:lstStyle>
            <a:lvl1pPr>
              <a:defRPr sz="4000" cap="all" baseline="0">
                <a:solidFill>
                  <a:srgbClr val="9EC3E1"/>
                </a:solidFill>
              </a:defRPr>
            </a:lvl1pPr>
          </a:lstStyle>
          <a:p>
            <a:pPr lvl="0"/>
            <a:r>
              <a:rPr lang="en-US" dirty="0"/>
              <a:t>Callout or stat</a:t>
            </a:r>
            <a:endParaRPr lang="en-GB" dirty="0"/>
          </a:p>
        </p:txBody>
      </p:sp>
      <p:sp>
        <p:nvSpPr>
          <p:cNvPr id="5" name="Footers" descr="{&quot;templafy&quot;:{&quot;id&quot;:&quot;802c32aa-2e79-485b-8fd7-9e826bb7a9c4&quot;}}">
            <a:extLst>
              <a:ext uri="{FF2B5EF4-FFF2-40B4-BE49-F238E27FC236}">
                <a16:creationId xmlns:a16="http://schemas.microsoft.com/office/drawing/2014/main" id="{EDC4708C-CD54-B7F2-D805-7C44F6F2B07D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979422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2047" userDrawn="1">
          <p15:clr>
            <a:srgbClr val="FF96FF"/>
          </p15:clr>
        </p15:guide>
        <p15:guide id="5" orient="horz" pos="2273" userDrawn="1">
          <p15:clr>
            <a:srgbClr val="FF96FF"/>
          </p15:clr>
        </p15:guide>
        <p15:guide id="6" orient="horz" pos="3866" userDrawn="1">
          <p15:clr>
            <a:srgbClr val="FF96FF"/>
          </p15:clr>
        </p15:guide>
        <p15:guide id="7" pos="453" userDrawn="1">
          <p15:clr>
            <a:srgbClr val="FF96FF"/>
          </p15:clr>
        </p15:guide>
        <p15:guide id="8" pos="810" userDrawn="1">
          <p15:clr>
            <a:srgbClr val="FF96FF"/>
          </p15:clr>
        </p15:guide>
        <p15:guide id="9" pos="1036" userDrawn="1">
          <p15:clr>
            <a:srgbClr val="FF96FF"/>
          </p15:clr>
        </p15:guide>
        <p15:guide id="10" pos="1393" userDrawn="1">
          <p15:clr>
            <a:srgbClr val="FF96FF"/>
          </p15:clr>
        </p15:guide>
        <p15:guide id="11" pos="1620" userDrawn="1">
          <p15:clr>
            <a:srgbClr val="FF96FF"/>
          </p15:clr>
        </p15:guide>
        <p15:guide id="12" pos="1976" userDrawn="1">
          <p15:clr>
            <a:srgbClr val="FF96FF"/>
          </p15:clr>
        </p15:guide>
        <p15:guide id="13" pos="2203" userDrawn="1">
          <p15:clr>
            <a:srgbClr val="FF96FF"/>
          </p15:clr>
        </p15:guide>
        <p15:guide id="14" pos="2560" userDrawn="1">
          <p15:clr>
            <a:srgbClr val="FF96FF"/>
          </p15:clr>
        </p15:guide>
        <p15:guide id="15" pos="2786" userDrawn="1">
          <p15:clr>
            <a:srgbClr val="FF96FF"/>
          </p15:clr>
        </p15:guide>
        <p15:guide id="16" pos="3143" userDrawn="1">
          <p15:clr>
            <a:srgbClr val="FF96FF"/>
          </p15:clr>
        </p15:guide>
        <p15:guide id="17" pos="3370" userDrawn="1">
          <p15:clr>
            <a:srgbClr val="FF96FF"/>
          </p15:clr>
        </p15:guide>
        <p15:guide id="18" pos="3726" userDrawn="1">
          <p15:clr>
            <a:srgbClr val="FF96FF"/>
          </p15:clr>
        </p15:guide>
        <p15:guide id="19" pos="3953" userDrawn="1">
          <p15:clr>
            <a:srgbClr val="FF96FF"/>
          </p15:clr>
        </p15:guide>
        <p15:guide id="20" pos="4309" userDrawn="1">
          <p15:clr>
            <a:srgbClr val="FF96FF"/>
          </p15:clr>
        </p15:guide>
        <p15:guide id="21" pos="4536" userDrawn="1">
          <p15:clr>
            <a:srgbClr val="FF96FF"/>
          </p15:clr>
        </p15:guide>
        <p15:guide id="22" pos="4893" userDrawn="1">
          <p15:clr>
            <a:srgbClr val="FF96FF"/>
          </p15:clr>
        </p15:guide>
        <p15:guide id="23" pos="5120" userDrawn="1">
          <p15:clr>
            <a:srgbClr val="FF96FF"/>
          </p15:clr>
        </p15:guide>
        <p15:guide id="24" pos="5476" userDrawn="1">
          <p15:clr>
            <a:srgbClr val="FF96FF"/>
          </p15:clr>
        </p15:guide>
        <p15:guide id="25" pos="5703" userDrawn="1">
          <p15:clr>
            <a:srgbClr val="FF96FF"/>
          </p15:clr>
        </p15:guide>
        <p15:guide id="26" pos="6059" userDrawn="1">
          <p15:clr>
            <a:srgbClr val="FF96FF"/>
          </p15:clr>
        </p15:guide>
        <p15:guide id="27" pos="6286" userDrawn="1">
          <p15:clr>
            <a:srgbClr val="FF96FF"/>
          </p15:clr>
        </p15:guide>
        <p15:guide id="28" pos="6643" userDrawn="1">
          <p15:clr>
            <a:srgbClr val="FF96FF"/>
          </p15:clr>
        </p15:guide>
        <p15:guide id="29" pos="6869" userDrawn="1">
          <p15:clr>
            <a:srgbClr val="FF96FF"/>
          </p15:clr>
        </p15:guide>
        <p15:guide id="30" pos="7226" userDrawn="1">
          <p15:clr>
            <a:srgbClr val="FF96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HETORICAL Two text">
    <p:bg>
      <p:bgPr>
        <a:gradFill>
          <a:gsLst>
            <a:gs pos="60000">
              <a:schemeClr val="accent1"/>
            </a:gs>
            <a:gs pos="86000">
              <a:srgbClr val="1F538F"/>
            </a:gs>
            <a:gs pos="100000">
              <a:schemeClr val="accent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A4BFA0-E5C7-13E3-03EC-DC785E3CB148}"/>
              </a:ext>
            </a:extLst>
          </p:cNvPr>
          <p:cNvSpPr/>
          <p:nvPr userDrawn="1"/>
        </p:nvSpPr>
        <p:spPr>
          <a:xfrm>
            <a:off x="6097200" y="0"/>
            <a:ext cx="6094800" cy="6872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7DF7FC-2311-4E03-AAFE-2DADE0839E10}" type="datetime4">
              <a:rPr lang="en-US" smtClean="0"/>
              <a:pPr/>
              <a:t>November 24,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EF4BC-6E95-E773-0639-620E420E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5018400" cy="17748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ADAE3EDE-9CDD-1054-DBC1-D9F83A0100D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80801" y="2854075"/>
            <a:ext cx="5195885" cy="3283200"/>
          </a:xfrm>
        </p:spPr>
        <p:txBody>
          <a:bodyPr/>
          <a:lstStyle/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D123BC9-B849-5E02-3DDF-B103F55291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5313" y="2854075"/>
            <a:ext cx="5195887" cy="328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DF49F1D1-5694-C367-AC0A-3B106690283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80801" y="719138"/>
            <a:ext cx="5195885" cy="1775662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4000" b="1" cap="none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  <a:defRPr sz="4000" b="0" cap="none">
                <a:solidFill>
                  <a:schemeClr val="accent2"/>
                </a:solidFill>
                <a:latin typeface="+mn-lt"/>
              </a:defRPr>
            </a:lvl2pPr>
            <a:lvl3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  <a:defRPr sz="4000" b="0" cap="none">
                <a:solidFill>
                  <a:schemeClr val="accent2"/>
                </a:solidFill>
                <a:latin typeface="+mn-lt"/>
              </a:defRPr>
            </a:lvl3pPr>
            <a:lvl4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  <a:defRPr sz="4000" b="0" cap="none">
                <a:solidFill>
                  <a:schemeClr val="accent2"/>
                </a:solidFill>
                <a:latin typeface="+mn-lt"/>
              </a:defRPr>
            </a:lvl4pPr>
            <a:lvl5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4000" b="0" cap="none">
                <a:solidFill>
                  <a:schemeClr val="accent2"/>
                </a:solidFill>
                <a:latin typeface="+mn-lt"/>
              </a:defRPr>
            </a:lvl5pPr>
            <a:lvl6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4000" b="0" cap="none">
                <a:solidFill>
                  <a:schemeClr val="accent2"/>
                </a:solidFill>
                <a:latin typeface="+mn-lt"/>
              </a:defRPr>
            </a:lvl6pPr>
            <a:lvl7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4000" b="0" cap="none">
                <a:solidFill>
                  <a:schemeClr val="accent2"/>
                </a:solidFill>
                <a:latin typeface="+mn-lt"/>
              </a:defRPr>
            </a:lvl7pPr>
            <a:lvl8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4000" b="0" cap="none">
                <a:solidFill>
                  <a:schemeClr val="accent2"/>
                </a:solidFill>
                <a:latin typeface="+mn-lt"/>
              </a:defRPr>
            </a:lvl8pPr>
            <a:lvl9pPr marL="0" inden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4000" b="0" cap="none">
                <a:solidFill>
                  <a:schemeClr val="accent2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1" name="Footers" descr="{&quot;templafy&quot;:{&quot;id&quot;:&quot;13974de5-8cef-4d59-abfb-72071ca5e6dc&quot;}}">
            <a:extLst>
              <a:ext uri="{FF2B5EF4-FFF2-40B4-BE49-F238E27FC236}">
                <a16:creationId xmlns:a16="http://schemas.microsoft.com/office/drawing/2014/main" id="{82A8297C-CDDC-2966-C397-33725EE8D105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3890766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3" orient="horz" pos="1570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7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  <p15:guide id="29" orient="horz" pos="1797" userDrawn="1">
          <p15:clr>
            <a:srgbClr val="FF96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3C7688E-2109-B3A6-BB30-ED06B927D9A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094801" y="0"/>
            <a:ext cx="6097200" cy="68580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A4BFA0-E5C7-13E3-03EC-DC785E3CB148}"/>
              </a:ext>
            </a:extLst>
          </p:cNvPr>
          <p:cNvSpPr/>
          <p:nvPr userDrawn="1"/>
        </p:nvSpPr>
        <p:spPr>
          <a:xfrm>
            <a:off x="0" y="0"/>
            <a:ext cx="6094800" cy="6858000"/>
          </a:xfrm>
          <a:prstGeom prst="rect">
            <a:avLst/>
          </a:prstGeom>
          <a:gradFill>
            <a:gsLst>
              <a:gs pos="38000">
                <a:srgbClr val="D8E7F3"/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97DF7FC-2311-4E03-AAFE-2DADE0839E10}" type="datetime4">
              <a:rPr lang="en-US" smtClean="0"/>
              <a:pPr/>
              <a:t>November 24,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64E4448-A264-7659-B7F9-D4E3F0409CEF}"/>
              </a:ext>
            </a:extLst>
          </p:cNvPr>
          <p:cNvSpPr/>
          <p:nvPr userDrawn="1"/>
        </p:nvSpPr>
        <p:spPr>
          <a:xfrm>
            <a:off x="719138" y="1150830"/>
            <a:ext cx="698644" cy="535303"/>
          </a:xfrm>
          <a:custGeom>
            <a:avLst/>
            <a:gdLst>
              <a:gd name="connsiteX0" fmla="*/ 772947 w 828408"/>
              <a:gd name="connsiteY0" fmla="*/ 0 h 634729"/>
              <a:gd name="connsiteX1" fmla="*/ 772947 w 828408"/>
              <a:gd name="connsiteY1" fmla="*/ 50532 h 634729"/>
              <a:gd name="connsiteX2" fmla="*/ 617654 w 828408"/>
              <a:gd name="connsiteY2" fmla="*/ 168850 h 634729"/>
              <a:gd name="connsiteX3" fmla="*/ 570819 w 828408"/>
              <a:gd name="connsiteY3" fmla="*/ 303191 h 634729"/>
              <a:gd name="connsiteX4" fmla="*/ 583144 w 828408"/>
              <a:gd name="connsiteY4" fmla="*/ 362350 h 634729"/>
              <a:gd name="connsiteX5" fmla="*/ 610259 w 828408"/>
              <a:gd name="connsiteY5" fmla="*/ 379605 h 634729"/>
              <a:gd name="connsiteX6" fmla="*/ 653396 w 828408"/>
              <a:gd name="connsiteY6" fmla="*/ 370361 h 634729"/>
              <a:gd name="connsiteX7" fmla="*/ 702695 w 828408"/>
              <a:gd name="connsiteY7" fmla="*/ 361118 h 634729"/>
              <a:gd name="connsiteX8" fmla="*/ 790818 w 828408"/>
              <a:gd name="connsiteY8" fmla="*/ 398709 h 634729"/>
              <a:gd name="connsiteX9" fmla="*/ 828408 w 828408"/>
              <a:gd name="connsiteY9" fmla="*/ 490529 h 634729"/>
              <a:gd name="connsiteX10" fmla="*/ 782806 w 828408"/>
              <a:gd name="connsiteY10" fmla="*/ 592208 h 634729"/>
              <a:gd name="connsiteX11" fmla="*/ 669418 w 828408"/>
              <a:gd name="connsiteY11" fmla="*/ 634729 h 634729"/>
              <a:gd name="connsiteX12" fmla="*/ 520288 w 828408"/>
              <a:gd name="connsiteY12" fmla="*/ 563245 h 634729"/>
              <a:gd name="connsiteX13" fmla="*/ 453733 w 828408"/>
              <a:gd name="connsiteY13" fmla="*/ 387000 h 634729"/>
              <a:gd name="connsiteX14" fmla="*/ 535694 w 828408"/>
              <a:gd name="connsiteY14" fmla="*/ 157142 h 634729"/>
              <a:gd name="connsiteX15" fmla="*/ 772947 w 828408"/>
              <a:gd name="connsiteY15" fmla="*/ 0 h 634729"/>
              <a:gd name="connsiteX16" fmla="*/ 319214 w 828408"/>
              <a:gd name="connsiteY16" fmla="*/ 0 h 634729"/>
              <a:gd name="connsiteX17" fmla="*/ 319214 w 828408"/>
              <a:gd name="connsiteY17" fmla="*/ 50532 h 634729"/>
              <a:gd name="connsiteX18" fmla="*/ 163921 w 828408"/>
              <a:gd name="connsiteY18" fmla="*/ 168850 h 634729"/>
              <a:gd name="connsiteX19" fmla="*/ 117086 w 828408"/>
              <a:gd name="connsiteY19" fmla="*/ 303191 h 634729"/>
              <a:gd name="connsiteX20" fmla="*/ 129411 w 828408"/>
              <a:gd name="connsiteY20" fmla="*/ 362350 h 634729"/>
              <a:gd name="connsiteX21" fmla="*/ 156526 w 828408"/>
              <a:gd name="connsiteY21" fmla="*/ 379605 h 634729"/>
              <a:gd name="connsiteX22" fmla="*/ 199663 w 828408"/>
              <a:gd name="connsiteY22" fmla="*/ 370361 h 634729"/>
              <a:gd name="connsiteX23" fmla="*/ 248962 w 828408"/>
              <a:gd name="connsiteY23" fmla="*/ 361118 h 634729"/>
              <a:gd name="connsiteX24" fmla="*/ 337085 w 828408"/>
              <a:gd name="connsiteY24" fmla="*/ 398709 h 634729"/>
              <a:gd name="connsiteX25" fmla="*/ 374675 w 828408"/>
              <a:gd name="connsiteY25" fmla="*/ 490529 h 634729"/>
              <a:gd name="connsiteX26" fmla="*/ 329073 w 828408"/>
              <a:gd name="connsiteY26" fmla="*/ 592208 h 634729"/>
              <a:gd name="connsiteX27" fmla="*/ 215685 w 828408"/>
              <a:gd name="connsiteY27" fmla="*/ 634729 h 634729"/>
              <a:gd name="connsiteX28" fmla="*/ 66555 w 828408"/>
              <a:gd name="connsiteY28" fmla="*/ 563245 h 634729"/>
              <a:gd name="connsiteX29" fmla="*/ 0 w 828408"/>
              <a:gd name="connsiteY29" fmla="*/ 387000 h 634729"/>
              <a:gd name="connsiteX30" fmla="*/ 81961 w 828408"/>
              <a:gd name="connsiteY30" fmla="*/ 157142 h 634729"/>
              <a:gd name="connsiteX31" fmla="*/ 319214 w 828408"/>
              <a:gd name="connsiteY31" fmla="*/ 0 h 63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828408" h="634729">
                <a:moveTo>
                  <a:pt x="772947" y="0"/>
                </a:moveTo>
                <a:lnTo>
                  <a:pt x="772947" y="50532"/>
                </a:lnTo>
                <a:cubicBezTo>
                  <a:pt x="700641" y="88328"/>
                  <a:pt x="648877" y="127768"/>
                  <a:pt x="617654" y="168850"/>
                </a:cubicBezTo>
                <a:cubicBezTo>
                  <a:pt x="586431" y="209933"/>
                  <a:pt x="570819" y="254713"/>
                  <a:pt x="570819" y="303191"/>
                </a:cubicBezTo>
                <a:cubicBezTo>
                  <a:pt x="570819" y="331949"/>
                  <a:pt x="574928" y="351669"/>
                  <a:pt x="583144" y="362350"/>
                </a:cubicBezTo>
                <a:cubicBezTo>
                  <a:pt x="590539" y="373854"/>
                  <a:pt x="599577" y="379605"/>
                  <a:pt x="610259" y="379605"/>
                </a:cubicBezTo>
                <a:cubicBezTo>
                  <a:pt x="620940" y="379605"/>
                  <a:pt x="635319" y="376524"/>
                  <a:pt x="653396" y="370361"/>
                </a:cubicBezTo>
                <a:cubicBezTo>
                  <a:pt x="671472" y="364199"/>
                  <a:pt x="687905" y="361118"/>
                  <a:pt x="702695" y="361118"/>
                </a:cubicBezTo>
                <a:cubicBezTo>
                  <a:pt x="736383" y="361118"/>
                  <a:pt x="765757" y="373648"/>
                  <a:pt x="790818" y="398709"/>
                </a:cubicBezTo>
                <a:cubicBezTo>
                  <a:pt x="815878" y="423769"/>
                  <a:pt x="828408" y="454376"/>
                  <a:pt x="828408" y="490529"/>
                </a:cubicBezTo>
                <a:cubicBezTo>
                  <a:pt x="828408" y="529968"/>
                  <a:pt x="813208" y="563861"/>
                  <a:pt x="782806" y="592208"/>
                </a:cubicBezTo>
                <a:cubicBezTo>
                  <a:pt x="752405" y="620555"/>
                  <a:pt x="714609" y="634729"/>
                  <a:pt x="669418" y="634729"/>
                </a:cubicBezTo>
                <a:cubicBezTo>
                  <a:pt x="614367" y="634729"/>
                  <a:pt x="564657" y="610901"/>
                  <a:pt x="520288" y="563245"/>
                </a:cubicBezTo>
                <a:cubicBezTo>
                  <a:pt x="475918" y="515589"/>
                  <a:pt x="453733" y="456841"/>
                  <a:pt x="453733" y="387000"/>
                </a:cubicBezTo>
                <a:cubicBezTo>
                  <a:pt x="453733" y="304834"/>
                  <a:pt x="481053" y="228215"/>
                  <a:pt x="535694" y="157142"/>
                </a:cubicBezTo>
                <a:cubicBezTo>
                  <a:pt x="590334" y="86069"/>
                  <a:pt x="669418" y="33688"/>
                  <a:pt x="772947" y="0"/>
                </a:cubicBezTo>
                <a:close/>
                <a:moveTo>
                  <a:pt x="319214" y="0"/>
                </a:moveTo>
                <a:lnTo>
                  <a:pt x="319214" y="50532"/>
                </a:lnTo>
                <a:cubicBezTo>
                  <a:pt x="246908" y="88328"/>
                  <a:pt x="195144" y="127768"/>
                  <a:pt x="163921" y="168850"/>
                </a:cubicBezTo>
                <a:cubicBezTo>
                  <a:pt x="132698" y="209933"/>
                  <a:pt x="117086" y="254713"/>
                  <a:pt x="117086" y="303191"/>
                </a:cubicBezTo>
                <a:cubicBezTo>
                  <a:pt x="117086" y="331949"/>
                  <a:pt x="121195" y="351669"/>
                  <a:pt x="129411" y="362350"/>
                </a:cubicBezTo>
                <a:cubicBezTo>
                  <a:pt x="136806" y="373854"/>
                  <a:pt x="145844" y="379605"/>
                  <a:pt x="156526" y="379605"/>
                </a:cubicBezTo>
                <a:cubicBezTo>
                  <a:pt x="167207" y="379605"/>
                  <a:pt x="181586" y="376524"/>
                  <a:pt x="199663" y="370361"/>
                </a:cubicBezTo>
                <a:cubicBezTo>
                  <a:pt x="217739" y="364199"/>
                  <a:pt x="234172" y="361118"/>
                  <a:pt x="248962" y="361118"/>
                </a:cubicBezTo>
                <a:cubicBezTo>
                  <a:pt x="282650" y="361118"/>
                  <a:pt x="312024" y="373648"/>
                  <a:pt x="337085" y="398709"/>
                </a:cubicBezTo>
                <a:cubicBezTo>
                  <a:pt x="362145" y="423769"/>
                  <a:pt x="374675" y="454376"/>
                  <a:pt x="374675" y="490529"/>
                </a:cubicBezTo>
                <a:cubicBezTo>
                  <a:pt x="374675" y="529968"/>
                  <a:pt x="359475" y="563861"/>
                  <a:pt x="329073" y="592208"/>
                </a:cubicBezTo>
                <a:cubicBezTo>
                  <a:pt x="298672" y="620555"/>
                  <a:pt x="260876" y="634729"/>
                  <a:pt x="215685" y="634729"/>
                </a:cubicBezTo>
                <a:cubicBezTo>
                  <a:pt x="160634" y="634729"/>
                  <a:pt x="110924" y="610901"/>
                  <a:pt x="66555" y="563245"/>
                </a:cubicBezTo>
                <a:cubicBezTo>
                  <a:pt x="22185" y="515589"/>
                  <a:pt x="0" y="456841"/>
                  <a:pt x="0" y="387000"/>
                </a:cubicBezTo>
                <a:cubicBezTo>
                  <a:pt x="0" y="304834"/>
                  <a:pt x="27320" y="228215"/>
                  <a:pt x="81961" y="157142"/>
                </a:cubicBezTo>
                <a:cubicBezTo>
                  <a:pt x="136601" y="86069"/>
                  <a:pt x="215685" y="33688"/>
                  <a:pt x="319214" y="0"/>
                </a:cubicBezTo>
                <a:close/>
              </a:path>
            </a:pathLst>
          </a:custGeom>
          <a:solidFill>
            <a:schemeClr val="bg1">
              <a:alpha val="92631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70000"/>
              </a:lnSpc>
              <a:spcBef>
                <a:spcPct val="0"/>
              </a:spcBef>
            </a:pPr>
            <a:endParaRPr lang="en-US" sz="19900" cap="all" spc="200">
              <a:solidFill>
                <a:schemeClr val="accent3">
                  <a:lumMod val="60000"/>
                  <a:lumOff val="40000"/>
                  <a:alpha val="51000"/>
                </a:schemeClr>
              </a:solidFill>
              <a:latin typeface="Calibri Light" panose="020F0302020204030204" pitchFamily="34" charset="0"/>
              <a:ea typeface="+mj-ea"/>
              <a:cs typeface="Calibri Light" panose="020F030202020403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C43D0F9-D9A7-1DFC-34B6-C81535D1FE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000" y="1713599"/>
            <a:ext cx="5018400" cy="4424399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cap="all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None/>
              <a:defRPr sz="2000" b="0" cap="all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None/>
              <a:defRPr sz="2000" b="0" cap="all">
                <a:solidFill>
                  <a:schemeClr val="accent1"/>
                </a:solidFill>
                <a:latin typeface="+mn-lt"/>
              </a:defRPr>
            </a:lvl3pPr>
            <a:lvl4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None/>
              <a:defRPr sz="2000" b="0" cap="all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cap="all">
                <a:solidFill>
                  <a:schemeClr val="accent1"/>
                </a:solidFill>
                <a:latin typeface="+mn-lt"/>
              </a:defRPr>
            </a:lvl5pPr>
            <a:lvl6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cap="all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cap="all">
                <a:solidFill>
                  <a:schemeClr val="accent1"/>
                </a:solidFill>
                <a:latin typeface="+mn-lt"/>
              </a:defRPr>
            </a:lvl7pPr>
            <a:lvl8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cap="all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cap="all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Quote</a:t>
            </a:r>
            <a:endParaRPr lang="en-GB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1E71275-5CC0-6348-59EF-6E51946B9E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4800" y="4618075"/>
            <a:ext cx="6097199" cy="1519200"/>
          </a:xfrm>
          <a:solidFill>
            <a:schemeClr val="bg1"/>
          </a:solidFill>
        </p:spPr>
        <p:txBody>
          <a:bodyPr lIns="360000" tIns="180000" rIns="360000" bIns="180000"/>
          <a:lstStyle>
            <a:lvl5pPr>
              <a:defRPr/>
            </a:lvl5pPr>
          </a:lstStyle>
          <a:p>
            <a:pPr lvl="0"/>
            <a:r>
              <a:rPr lang="en-GB" dirty="0"/>
              <a:t>Click to add text. ENTER &amp; TAB or USE INDENT TOOL to change styles.</a:t>
            </a:r>
            <a:br>
              <a:rPr lang="en-GB" dirty="0"/>
            </a:br>
            <a:r>
              <a:rPr lang="en-GB" dirty="0"/>
              <a:t>SHIFT+TAB or USE INDENT TOOL to go back in levels.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  <a:endParaRPr lang="en-GB" dirty="0"/>
          </a:p>
        </p:txBody>
      </p:sp>
      <p:sp>
        <p:nvSpPr>
          <p:cNvPr id="6" name="Footers" descr="{&quot;templafy&quot;:{&quot;id&quot;:&quot;4708fec4-619c-41a6-a13a-61ee0ada3da4&quot;}}">
            <a:extLst>
              <a:ext uri="{FF2B5EF4-FFF2-40B4-BE49-F238E27FC236}">
                <a16:creationId xmlns:a16="http://schemas.microsoft.com/office/drawing/2014/main" id="{D09B7859-4BFA-0D77-C7FF-EF07F0410453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646066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3" orient="horz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9D521-54AE-CE7E-18FE-2D6C7C07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14DB1-C60C-D330-1D59-18C0D254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DF7FC-2311-4E03-AAFE-2DADE0839E10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73881-E9DC-02D7-5B94-370C418630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5AE1F39-3E8B-13F8-1D88-1282DD9F418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E9A944-309A-4232-553F-22C9A93B0B4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0000" y="1713599"/>
            <a:ext cx="4270000" cy="4424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76F6AE-16AC-0583-7B95-974948C87A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770"/>
          <a:stretch/>
        </p:blipFill>
        <p:spPr>
          <a:xfrm>
            <a:off x="5219862" y="1519416"/>
            <a:ext cx="2534277" cy="4913784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39BC6B9-FA66-9AE8-AABC-E48AC43520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6800" y="2898000"/>
            <a:ext cx="1900800" cy="190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70E6DDC2-540A-5800-73D7-E95E8BC5AAB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10400" y="2898000"/>
            <a:ext cx="1900800" cy="190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9AD0377-EEF4-2BE2-7A2F-129C1089A4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70475" y="2898000"/>
            <a:ext cx="1900800" cy="190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3967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07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gradFill>
          <a:gsLst>
            <a:gs pos="60000">
              <a:schemeClr val="accent1"/>
            </a:gs>
            <a:gs pos="86000">
              <a:srgbClr val="1F538F"/>
            </a:gs>
            <a:gs pos="100000">
              <a:schemeClr val="accent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A4BFA0-E5C7-13E3-03EC-DC785E3CB1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7200" y="16200"/>
            <a:ext cx="6094800" cy="6872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7DF7FC-2311-4E03-AAFE-2DADE0839E10}" type="datetime4">
              <a:rPr lang="en-US" smtClean="0"/>
              <a:pPr/>
              <a:t>November 24,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EF4BC-6E95-E773-0639-620E420E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4270375" cy="90718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D123BC9-B849-5E02-3DDF-B103F55291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5314" y="2034000"/>
            <a:ext cx="4274200" cy="41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4DDE5B-1F2D-F372-3892-57D934C69F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770"/>
          <a:stretch/>
        </p:blipFill>
        <p:spPr>
          <a:xfrm>
            <a:off x="5219862" y="1101138"/>
            <a:ext cx="2534277" cy="4913784"/>
          </a:xfrm>
          <a:prstGeom prst="rect">
            <a:avLst/>
          </a:prstGeom>
        </p:spPr>
      </p:pic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CEB65B4F-7599-74DF-EBA5-202E26CEB3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6800" y="2478600"/>
            <a:ext cx="1900800" cy="190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65ECB4D-3B90-B975-5CC9-1D11DD4EF3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10400" y="2478600"/>
            <a:ext cx="1900800" cy="190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C74AAC9F-FD31-5ADB-B824-244A1923756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70475" y="2478600"/>
            <a:ext cx="1900800" cy="190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5" name="Footers" descr="{&quot;templafy&quot;:{&quot;id&quot;:&quot;9f113c1b-1e68-4d5d-9404-b1c9682e1dc7&quot;}}">
            <a:extLst>
              <a:ext uri="{FF2B5EF4-FFF2-40B4-BE49-F238E27FC236}">
                <a16:creationId xmlns:a16="http://schemas.microsoft.com/office/drawing/2014/main" id="{E089BA30-0544-BB92-B27F-1E09FDA031B1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169617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9D521-54AE-CE7E-18FE-2D6C7C07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14DB1-C60C-D330-1D59-18C0D254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DF7FC-2311-4E03-AAFE-2DADE0839E10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73881-E9DC-02D7-5B94-370C418630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5AE1F39-3E8B-13F8-1D88-1282DD9F418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85D50D-0CD8-D2EA-90C7-9BFF908C9B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770" b="24590"/>
          <a:stretch/>
        </p:blipFill>
        <p:spPr>
          <a:xfrm>
            <a:off x="339903" y="1412777"/>
            <a:ext cx="3724097" cy="5445224"/>
          </a:xfrm>
          <a:prstGeom prst="rect">
            <a:avLst/>
          </a:prstGeom>
        </p:spPr>
      </p:pic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9AD0377-EEF4-2BE2-7A2F-129C1089A4BB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868151" y="3463200"/>
            <a:ext cx="2667600" cy="26676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F15F2C-F25B-7919-7155-CF3E6B955963}"/>
              </a:ext>
            </a:extLst>
          </p:cNvPr>
          <p:cNvSpPr/>
          <p:nvPr userDrawn="1"/>
        </p:nvSpPr>
        <p:spPr>
          <a:xfrm>
            <a:off x="3875404" y="2742753"/>
            <a:ext cx="2412998" cy="72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lnSpc>
                <a:spcPct val="90000"/>
              </a:lnSpc>
            </a:pPr>
            <a:endParaRPr lang="en-US" sz="1600" noProof="0" dirty="0" err="1"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9462A8-BA13-5816-CC98-AE8BB418785C}"/>
              </a:ext>
            </a:extLst>
          </p:cNvPr>
          <p:cNvSpPr/>
          <p:nvPr userDrawn="1"/>
        </p:nvSpPr>
        <p:spPr>
          <a:xfrm>
            <a:off x="6455926" y="2742753"/>
            <a:ext cx="2412998" cy="72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lnSpc>
                <a:spcPct val="90000"/>
              </a:lnSpc>
            </a:pPr>
            <a:endParaRPr lang="en-US" sz="1600" noProof="0" dirty="0" err="1"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21D1A5-EF12-E62C-AC4E-BE6CA3AB39B5}"/>
              </a:ext>
            </a:extLst>
          </p:cNvPr>
          <p:cNvSpPr/>
          <p:nvPr userDrawn="1"/>
        </p:nvSpPr>
        <p:spPr>
          <a:xfrm>
            <a:off x="9053513" y="2742753"/>
            <a:ext cx="2437413" cy="7200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lnSpc>
                <a:spcPct val="90000"/>
              </a:lnSpc>
            </a:pPr>
            <a:endParaRPr lang="en-US" sz="1600" noProof="0" dirty="0" err="1">
              <a:latin typeface="+mj-lt"/>
            </a:endParaRP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309FF903-CC38-4C37-5750-8228E5B698D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875903" y="3589200"/>
            <a:ext cx="2412000" cy="24120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5AFC5333-4349-556A-AA4C-8264633D8826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456425" y="3589200"/>
            <a:ext cx="2412000" cy="24120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6FE539F-EA02-11A6-24A3-64094D6D449E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9066219" y="3589200"/>
            <a:ext cx="2412000" cy="24120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812D6A1-9301-DA4C-0FE8-A2FA9AC562D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875903" y="1710000"/>
            <a:ext cx="2412000" cy="903600"/>
          </a:xfrm>
        </p:spPr>
        <p:txBody>
          <a:bodyPr>
            <a:noAutofit/>
          </a:bodyPr>
          <a:lstStyle>
            <a:lvl1pPr algn="ctr">
              <a:defRPr sz="6000" cap="none" baseline="0">
                <a:solidFill>
                  <a:srgbClr val="9EC3E1"/>
                </a:solidFill>
              </a:defRPr>
            </a:lvl1pPr>
          </a:lstStyle>
          <a:p>
            <a:pPr lvl="0"/>
            <a:r>
              <a:rPr lang="en-US" dirty="0"/>
              <a:t>10%</a:t>
            </a:r>
            <a:endParaRPr lang="en-GB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A5EDA48-C466-DD48-83BE-B58C6F8C2FE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456425" y="1710000"/>
            <a:ext cx="2412000" cy="903600"/>
          </a:xfrm>
        </p:spPr>
        <p:txBody>
          <a:bodyPr>
            <a:noAutofit/>
          </a:bodyPr>
          <a:lstStyle>
            <a:lvl1pPr algn="ctr">
              <a:defRPr sz="6000" cap="none" baseline="0">
                <a:solidFill>
                  <a:srgbClr val="9EC3E1"/>
                </a:solidFill>
              </a:defRPr>
            </a:lvl1pPr>
          </a:lstStyle>
          <a:p>
            <a:pPr lvl="0"/>
            <a:r>
              <a:rPr lang="en-US" dirty="0"/>
              <a:t>10%</a:t>
            </a:r>
            <a:endParaRPr lang="en-GB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7BD399E-3BDD-357D-3173-CEF24905CB9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66219" y="1710000"/>
            <a:ext cx="2412000" cy="903600"/>
          </a:xfrm>
        </p:spPr>
        <p:txBody>
          <a:bodyPr>
            <a:noAutofit/>
          </a:bodyPr>
          <a:lstStyle>
            <a:lvl1pPr algn="ctr">
              <a:defRPr sz="6000" cap="none" baseline="0">
                <a:solidFill>
                  <a:srgbClr val="9EC3E1"/>
                </a:solidFill>
              </a:defRPr>
            </a:lvl1pPr>
          </a:lstStyle>
          <a:p>
            <a:pPr lvl="0"/>
            <a:r>
              <a:rPr lang="en-US" dirty="0"/>
              <a:t>10%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63E4F2-A49E-1CAC-AD88-6A5278BE8C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64000" y="2908393"/>
            <a:ext cx="2030400" cy="388800"/>
          </a:xfr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2pPr>
            <a:lvl3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3pPr>
            <a:lvl4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4pPr>
            <a:lvl5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5pPr>
            <a:lvl6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6pPr>
            <a:lvl7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7pPr>
            <a:lvl8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8pPr>
            <a:lvl9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Title Here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15F6F11-90AC-E501-9C5A-58F94185AE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47225" y="2908393"/>
            <a:ext cx="2030400" cy="388800"/>
          </a:xfr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2pPr>
            <a:lvl3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3pPr>
            <a:lvl4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4pPr>
            <a:lvl5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5pPr>
            <a:lvl6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6pPr>
            <a:lvl7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7pPr>
            <a:lvl8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8pPr>
            <a:lvl9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Title Here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1049E31-3DE3-F475-AAC8-ED15887EDCC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57019" y="2908393"/>
            <a:ext cx="2030400" cy="388800"/>
          </a:xfr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2pPr>
            <a:lvl3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3pPr>
            <a:lvl4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4pPr>
            <a:lvl5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5pPr>
            <a:lvl6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6pPr>
            <a:lvl7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7pPr>
            <a:lvl8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8pPr>
            <a:lvl9pPr marL="0" indent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 cap="all" spc="18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Title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2306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>
          <p15:clr>
            <a:srgbClr val="8F8F8F"/>
          </p15:clr>
        </p15:guide>
        <p15:guide id="3" orient="horz" pos="1071" userDrawn="1">
          <p15:clr>
            <a:srgbClr val="FF96FF"/>
          </p15:clr>
        </p15:guide>
        <p15:guide id="4" orient="horz" pos="3866">
          <p15:clr>
            <a:srgbClr val="FF96FF"/>
          </p15:clr>
        </p15:guide>
        <p15:guide id="5" pos="453">
          <p15:clr>
            <a:srgbClr val="FF96FF"/>
          </p15:clr>
        </p15:guide>
        <p15:guide id="6" pos="810">
          <p15:clr>
            <a:srgbClr val="FF96FF"/>
          </p15:clr>
        </p15:guide>
        <p15:guide id="7" pos="1036">
          <p15:clr>
            <a:srgbClr val="FF96FF"/>
          </p15:clr>
        </p15:guide>
        <p15:guide id="8" pos="1393">
          <p15:clr>
            <a:srgbClr val="FF96FF"/>
          </p15:clr>
        </p15:guide>
        <p15:guide id="9" pos="1620">
          <p15:clr>
            <a:srgbClr val="FF96FF"/>
          </p15:clr>
        </p15:guide>
        <p15:guide id="10" pos="1976">
          <p15:clr>
            <a:srgbClr val="FF96FF"/>
          </p15:clr>
        </p15:guide>
        <p15:guide id="11" pos="2203">
          <p15:clr>
            <a:srgbClr val="FF96FF"/>
          </p15:clr>
        </p15:guide>
        <p15:guide id="12" pos="2560">
          <p15:clr>
            <a:srgbClr val="FF96FF"/>
          </p15:clr>
        </p15:guide>
        <p15:guide id="13" pos="2786">
          <p15:clr>
            <a:srgbClr val="FF96FF"/>
          </p15:clr>
        </p15:guide>
        <p15:guide id="14" pos="3143">
          <p15:clr>
            <a:srgbClr val="FF96FF"/>
          </p15:clr>
        </p15:guide>
        <p15:guide id="15" pos="3370">
          <p15:clr>
            <a:srgbClr val="FF96FF"/>
          </p15:clr>
        </p15:guide>
        <p15:guide id="16" pos="3726">
          <p15:clr>
            <a:srgbClr val="FF96FF"/>
          </p15:clr>
        </p15:guide>
        <p15:guide id="17" pos="3953">
          <p15:clr>
            <a:srgbClr val="FF96FF"/>
          </p15:clr>
        </p15:guide>
        <p15:guide id="18" pos="4309">
          <p15:clr>
            <a:srgbClr val="FF96FF"/>
          </p15:clr>
        </p15:guide>
        <p15:guide id="19" pos="4536">
          <p15:clr>
            <a:srgbClr val="FF96FF"/>
          </p15:clr>
        </p15:guide>
        <p15:guide id="20" pos="4893">
          <p15:clr>
            <a:srgbClr val="FF96FF"/>
          </p15:clr>
        </p15:guide>
        <p15:guide id="21" pos="5120">
          <p15:clr>
            <a:srgbClr val="FF96FF"/>
          </p15:clr>
        </p15:guide>
        <p15:guide id="22" pos="5476">
          <p15:clr>
            <a:srgbClr val="FF96FF"/>
          </p15:clr>
        </p15:guide>
        <p15:guide id="23" pos="5703">
          <p15:clr>
            <a:srgbClr val="FF96FF"/>
          </p15:clr>
        </p15:guide>
        <p15:guide id="24" pos="6059">
          <p15:clr>
            <a:srgbClr val="FF96FF"/>
          </p15:clr>
        </p15:guide>
        <p15:guide id="25" pos="6286">
          <p15:clr>
            <a:srgbClr val="FF96FF"/>
          </p15:clr>
        </p15:guide>
        <p15:guide id="26" pos="6643">
          <p15:clr>
            <a:srgbClr val="FF96FF"/>
          </p15:clr>
        </p15:guide>
        <p15:guide id="27" pos="6869">
          <p15:clr>
            <a:srgbClr val="FF96FF"/>
          </p15:clr>
        </p15:guide>
        <p15:guide id="28" pos="7226">
          <p15:clr>
            <a:srgbClr val="FF96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39BC6B9-FA66-9AE8-AABC-E48AC43520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45805" y="1854992"/>
            <a:ext cx="1879200" cy="406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11D87860-7BDA-6ACF-8AD2-853F44125D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453733" y="1854992"/>
            <a:ext cx="1879200" cy="406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BB32CB-B29F-4116-9105-192016E060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316" r="-5903" b="1316"/>
          <a:stretch/>
        </p:blipFill>
        <p:spPr>
          <a:xfrm>
            <a:off x="4218695" y="1484783"/>
            <a:ext cx="2591760" cy="4652492"/>
          </a:xfrm>
          <a:prstGeom prst="rect">
            <a:avLst/>
          </a:prstGeom>
          <a:effectLst>
            <a:reflection blurRad="39573" stA="28000" endPos="4000" dist="508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49D521-54AE-CE7E-18FE-2D6C7C07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14DB1-C60C-D330-1D59-18C0D254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DF7FC-2311-4E03-AAFE-2DADE0839E10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73881-E9DC-02D7-5B94-370C418630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5AE1F39-3E8B-13F8-1D88-1282DD9F418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E9A944-309A-4232-553F-22C9A93B0B4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0000" y="1713599"/>
            <a:ext cx="4270000" cy="4424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E0956-AB5F-AC03-EAB3-36441D8851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316" r="-5903" b="1316"/>
          <a:stretch/>
        </p:blipFill>
        <p:spPr>
          <a:xfrm>
            <a:off x="9125433" y="1492098"/>
            <a:ext cx="2591760" cy="4652492"/>
          </a:xfrm>
          <a:prstGeom prst="rect">
            <a:avLst/>
          </a:prstGeom>
          <a:effectLst>
            <a:reflection blurRad="39573" stA="28000" endPos="4000" dist="50800" dir="5400000" sy="-100000" algn="bl" rotWithShape="0"/>
          </a:effectLst>
        </p:spPr>
      </p:pic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17DACB36-D4E1-F498-4226-F130DA4F5BC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00364" y="1854992"/>
            <a:ext cx="1879200" cy="4060800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605CA00-36D2-E3AA-8BE8-1E472C3C45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316" r="-5903" b="1316"/>
          <a:stretch/>
        </p:blipFill>
        <p:spPr>
          <a:xfrm>
            <a:off x="6672064" y="1484783"/>
            <a:ext cx="2591760" cy="4652492"/>
          </a:xfrm>
          <a:prstGeom prst="rect">
            <a:avLst/>
          </a:prstGeom>
          <a:effectLst>
            <a:reflection blurRad="39573" stA="28000" endPos="40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56131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gradFill>
          <a:gsLst>
            <a:gs pos="60000">
              <a:schemeClr val="accent1"/>
            </a:gs>
            <a:gs pos="86000">
              <a:srgbClr val="1F538F"/>
            </a:gs>
            <a:gs pos="100000">
              <a:schemeClr val="accent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A4BFA0-E5C7-13E3-03EC-DC785E3CB1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7200" y="16200"/>
            <a:ext cx="6094800" cy="6872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147874-D641-36E1-03C9-5414641E94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6" b="2096"/>
          <a:stretch/>
        </p:blipFill>
        <p:spPr>
          <a:xfrm>
            <a:off x="4351531" y="1764050"/>
            <a:ext cx="7251700" cy="4077222"/>
          </a:xfrm>
          <a:prstGeom prst="rect">
            <a:avLst/>
          </a:prstGeom>
          <a:effectLst>
            <a:reflection blurRad="6350" stA="50000" endA="300" endPos="7000" dir="5400000" sy="-100000" algn="bl" rotWithShape="0"/>
          </a:effectLst>
        </p:spPr>
      </p:pic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CEB65B4F-7599-74DF-EBA5-202E26CEB3A0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5210176" y="2034000"/>
            <a:ext cx="5608678" cy="3341275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7DF7FC-2311-4E03-AAFE-2DADE0839E10}" type="datetime4">
              <a:rPr lang="en-US" smtClean="0"/>
              <a:pPr/>
              <a:t>November 24,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EF4BC-6E95-E773-0639-620E420E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4270375" cy="90718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D123BC9-B849-5E02-3DDF-B103F55291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5314" y="2034000"/>
            <a:ext cx="4274200" cy="41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D1D222DE-C8E6-D25C-E6F2-0624A2B9EC69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10220325" y="3143249"/>
            <a:ext cx="1355726" cy="2936875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B84BED-AAA1-1FE1-26B0-C3711E7D65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316" r="-5903" b="1316"/>
          <a:stretch/>
        </p:blipFill>
        <p:spPr>
          <a:xfrm>
            <a:off x="9980535" y="2869499"/>
            <a:ext cx="1876105" cy="3367813"/>
          </a:xfrm>
          <a:prstGeom prst="rect">
            <a:avLst/>
          </a:prstGeom>
          <a:effectLst>
            <a:reflection blurRad="39573" stA="28000" endPos="4000" dist="50800" dir="5400000" sy="-100000" algn="bl" rotWithShape="0"/>
          </a:effectLst>
        </p:spPr>
      </p:pic>
      <p:sp>
        <p:nvSpPr>
          <p:cNvPr id="13" name="Footers" descr="{&quot;templafy&quot;:{&quot;id&quot;:&quot;4aaff1e3-4aeb-4ab6-970c-e6644a7151c2&quot;}}">
            <a:extLst>
              <a:ext uri="{FF2B5EF4-FFF2-40B4-BE49-F238E27FC236}">
                <a16:creationId xmlns:a16="http://schemas.microsoft.com/office/drawing/2014/main" id="{2AA3E128-5B68-28FB-4891-492AE777546C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928761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39BC6B9-FA66-9AE8-AABC-E48AC43520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0650" y="2041524"/>
            <a:ext cx="5591175" cy="3343275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49D521-54AE-CE7E-18FE-2D6C7C07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14DB1-C60C-D330-1D59-18C0D254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DF7FC-2311-4E03-AAFE-2DADE0839E10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73881-E9DC-02D7-5B94-370C418630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5AE1F39-3E8B-13F8-1D88-1282DD9F418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E9A944-309A-4232-553F-22C9A93B0B4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0000" y="1713599"/>
            <a:ext cx="3344000" cy="4424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5D7C6D-AFB7-4703-6ED0-E0A861DE56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6" b="2096"/>
          <a:stretch/>
        </p:blipFill>
        <p:spPr>
          <a:xfrm>
            <a:off x="4351531" y="1764050"/>
            <a:ext cx="7251700" cy="4077222"/>
          </a:xfrm>
          <a:prstGeom prst="rect">
            <a:avLst/>
          </a:prstGeom>
          <a:effectLst>
            <a:reflection blurRad="6350" stA="50000" endA="300" endPos="7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34325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07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gradFill>
          <a:gsLst>
            <a:gs pos="60000">
              <a:schemeClr val="accent1"/>
            </a:gs>
            <a:gs pos="86000">
              <a:srgbClr val="1F538F"/>
            </a:gs>
            <a:gs pos="100000">
              <a:schemeClr val="accent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A4BFA0-E5C7-13E3-03EC-DC785E3CB1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7200" y="16200"/>
            <a:ext cx="6094800" cy="6872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7DF7FC-2311-4E03-AAFE-2DADE0839E10}" type="datetime4">
              <a:rPr lang="en-US" smtClean="0"/>
              <a:pPr/>
              <a:t>November 24,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EF4BC-6E95-E773-0639-620E420E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3345689" cy="90718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D123BC9-B849-5E02-3DDF-B103F55291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5314" y="2034000"/>
            <a:ext cx="3348686" cy="41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8D819A63-FF9D-A3D7-5D19-99428A5AB4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14938" y="2034000"/>
            <a:ext cx="5572125" cy="3347625"/>
          </a:xfrm>
          <a:solidFill>
            <a:schemeClr val="accent6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9E2188-EF07-418A-877E-B5F25E893A6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6" b="2096"/>
          <a:stretch/>
        </p:blipFill>
        <p:spPr>
          <a:xfrm>
            <a:off x="4351531" y="1764050"/>
            <a:ext cx="7251700" cy="4077222"/>
          </a:xfrm>
          <a:prstGeom prst="rect">
            <a:avLst/>
          </a:prstGeom>
          <a:effectLst>
            <a:reflection blurRad="6350" stA="50000" endA="300" endPos="7000" dir="5400000" sy="-100000" algn="bl" rotWithShape="0"/>
          </a:effectLst>
        </p:spPr>
      </p:pic>
      <p:sp>
        <p:nvSpPr>
          <p:cNvPr id="11" name="Footers" descr="{&quot;templafy&quot;:{&quot;id&quot;:&quot;5701762b-2ddd-415c-9f10-2849eeb3ef06&quot;}}">
            <a:extLst>
              <a:ext uri="{FF2B5EF4-FFF2-40B4-BE49-F238E27FC236}">
                <a16:creationId xmlns:a16="http://schemas.microsoft.com/office/drawing/2014/main" id="{E437CE73-48A8-6501-39C1-A1E43A2B9173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3213986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gradFill>
          <a:gsLst>
            <a:gs pos="60000">
              <a:schemeClr val="accent1"/>
            </a:gs>
            <a:gs pos="86000">
              <a:srgbClr val="1F538F"/>
            </a:gs>
            <a:gs pos="100000">
              <a:schemeClr val="accent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21E9437-E9FE-CAAE-4F68-7557917241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12"/>
          <a:stretch/>
        </p:blipFill>
        <p:spPr>
          <a:xfrm>
            <a:off x="2597949" y="4554"/>
            <a:ext cx="9594051" cy="684889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98F3588-281E-71E0-698D-DE2EFA5D7E6E}"/>
              </a:ext>
            </a:extLst>
          </p:cNvPr>
          <p:cNvSpPr/>
          <p:nvPr userDrawn="1"/>
        </p:nvSpPr>
        <p:spPr>
          <a:xfrm>
            <a:off x="0" y="1"/>
            <a:ext cx="3503778" cy="6858000"/>
          </a:xfrm>
          <a:prstGeom prst="rect">
            <a:avLst/>
          </a:prstGeom>
          <a:gradFill flip="none" rotWithShape="1">
            <a:gsLst>
              <a:gs pos="86000">
                <a:srgbClr val="1F538F"/>
              </a:gs>
              <a:gs pos="60000">
                <a:schemeClr val="accent1"/>
              </a:gs>
              <a:gs pos="100000">
                <a:schemeClr val="accent3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EFCFA-0AE5-65AE-6589-C19C748A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7DF7FC-2311-4E03-AAFE-2DADE0839E10}" type="datetime4">
              <a:rPr lang="en-US" smtClean="0"/>
              <a:pPr/>
              <a:t>November 24,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AD62-B326-A257-86A5-C40BD7388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top Placeholder 20">
            <a:extLst>
              <a:ext uri="{FF2B5EF4-FFF2-40B4-BE49-F238E27FC236}">
                <a16:creationId xmlns:a16="http://schemas.microsoft.com/office/drawing/2014/main" id="{72D36FB3-7B4E-797E-A42C-8E78112DC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sp>
        <p:nvSpPr>
          <p:cNvPr id="9" name="Guides" hidden="1">
            <a:extLst>
              <a:ext uri="{FF2B5EF4-FFF2-40B4-BE49-F238E27FC236}">
                <a16:creationId xmlns:a16="http://schemas.microsoft.com/office/drawing/2014/main" id="{17BB443B-C055-B914-A2EB-F51E8E95226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EF4BC-6E95-E773-0639-620E420E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9" y="720000"/>
            <a:ext cx="2417761" cy="90718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D123BC9-B849-5E02-3DDF-B103F55291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5314" y="2034000"/>
            <a:ext cx="2421586" cy="41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rgbClr val="9EC3E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9EC3E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3"/>
                </a:solidFill>
              </a:defRPr>
            </a:lvl6pPr>
            <a:lvl7pPr>
              <a:defRPr>
                <a:solidFill>
                  <a:srgbClr val="9EC3E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rgbClr val="9EC3E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43DD438D-2CD1-72E2-C5C5-E3BE4E4532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127500" y="2048399"/>
            <a:ext cx="7082900" cy="2622025"/>
          </a:xfrm>
          <a:solidFill>
            <a:schemeClr val="bg1"/>
          </a:solidFill>
        </p:spPr>
        <p:txBody>
          <a:bodyPr tIns="648000" anchor="ctr" anchorCtr="0"/>
          <a:lstStyle>
            <a:lvl1pPr algn="ctr">
              <a:defRPr/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8" name="Footers" descr="{&quot;templafy&quot;:{&quot;id&quot;:&quot;6f27a5ea-5194-4474-8f5a-b0c8f65deb8e&quot;}}">
            <a:extLst>
              <a:ext uri="{FF2B5EF4-FFF2-40B4-BE49-F238E27FC236}">
                <a16:creationId xmlns:a16="http://schemas.microsoft.com/office/drawing/2014/main" id="{6D57E22F-014A-FDF5-8749-C999CC6D20AD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1698881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9D521-54AE-CE7E-18FE-2D6C7C07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14DB1-C60C-D330-1D59-18C0D254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DF7FC-2311-4E03-AAFE-2DADE0839E10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73881-E9DC-02D7-5B94-370C418630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5AE1F39-3E8B-13F8-1D88-1282DD9F418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E9A944-309A-4232-553F-22C9A93B0B4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0000" y="1713599"/>
            <a:ext cx="6122000" cy="4424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2367BA-8F05-446D-84E4-1D4A251DEF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51822" y="1628880"/>
            <a:ext cx="3751231" cy="4509120"/>
          </a:xfrm>
          <a:prstGeom prst="rect">
            <a:avLst/>
          </a:prstGeom>
          <a:effectLst>
            <a:outerShdw blurRad="193495" dist="146531" dir="3540000" sx="99000" sy="99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218A61B-6F4F-B694-869D-DF3F3E7BF0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28248" y="1627430"/>
            <a:ext cx="3074765" cy="4509225"/>
          </a:xfrm>
          <a:solidFill>
            <a:schemeClr val="bg1"/>
          </a:solidFill>
        </p:spPr>
        <p:txBody>
          <a:bodyPr tIns="648000" anchor="ctr" anchorCtr="1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52E313-28CB-8D27-CE72-0374CF6A9254}"/>
              </a:ext>
            </a:extLst>
          </p:cNvPr>
          <p:cNvSpPr/>
          <p:nvPr userDrawn="1"/>
        </p:nvSpPr>
        <p:spPr>
          <a:xfrm>
            <a:off x="8328248" y="1628155"/>
            <a:ext cx="725265" cy="450912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  <a:alpha val="0"/>
                </a:schemeClr>
              </a:gs>
              <a:gs pos="63000">
                <a:schemeClr val="accent4">
                  <a:lumMod val="45000"/>
                  <a:lumOff val="55000"/>
                  <a:alpha val="66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lnSpc>
                <a:spcPct val="90000"/>
              </a:lnSpc>
            </a:pPr>
            <a:endParaRPr lang="en-US" sz="1600" noProof="0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37435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2" orient="horz" pos="1025" userDrawn="1">
          <p15:clr>
            <a:srgbClr val="8F8F8F"/>
          </p15:clr>
        </p15:guide>
        <p15:guide id="3" orient="horz" pos="1079" userDrawn="1">
          <p15:clr>
            <a:srgbClr val="FF96F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 i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71BF0-5156-4399-18F9-DC04A1A1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DF7FC-2311-4E03-AAFE-2DADE0839E10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5A234-FFCB-0330-7A76-CE07764E0D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Guides" hidden="1">
            <a:extLst>
              <a:ext uri="{FF2B5EF4-FFF2-40B4-BE49-F238E27FC236}">
                <a16:creationId xmlns:a16="http://schemas.microsoft.com/office/drawing/2014/main" id="{701F89E3-1860-5814-889C-8F8203A4F6D4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338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ith Footer i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71BF0-5156-4399-18F9-DC04A1A1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7DF7FC-2311-4E03-AAFE-2DADE0839E10}" type="datetime4">
              <a:rPr lang="en-US" smtClean="0"/>
              <a:pPr/>
              <a:t>November 24,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5A234-FFCB-0330-7A76-CE07764E0D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DEA8E7-5F55-4A60-8EF9-470692FC56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Guides" hidden="1">
            <a:extLst>
              <a:ext uri="{FF2B5EF4-FFF2-40B4-BE49-F238E27FC236}">
                <a16:creationId xmlns:a16="http://schemas.microsoft.com/office/drawing/2014/main" id="{946AE6E0-28DF-FE32-2A53-3D57FC7ED2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7" name="Footers" descr="{&quot;templafy&quot;:{&quot;id&quot;:&quot;37bf3a59-c3d7-4ee6-b549-ac5503095b71&quot;}}">
            <a:extLst>
              <a:ext uri="{FF2B5EF4-FFF2-40B4-BE49-F238E27FC236}">
                <a16:creationId xmlns:a16="http://schemas.microsoft.com/office/drawing/2014/main" id="{AD7FCB85-6DF8-7133-9CEA-CE8EF93D41E2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bg1"/>
                </a:solidFill>
              </a:rPr>
              <a:t>Penn Medicine</a:t>
            </a:r>
          </a:p>
        </p:txBody>
      </p:sp>
    </p:spTree>
    <p:extLst>
      <p:ext uri="{BB962C8B-B14F-4D97-AF65-F5344CB8AC3E}">
        <p14:creationId xmlns:p14="http://schemas.microsoft.com/office/powerpoint/2010/main" val="2984639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uides" hidden="1">
            <a:extLst>
              <a:ext uri="{FF2B5EF4-FFF2-40B4-BE49-F238E27FC236}">
                <a16:creationId xmlns:a16="http://schemas.microsoft.com/office/drawing/2014/main" id="{8CBDB7B0-4561-2F0F-FCA3-EB062B65853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292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A">
    <p:bg>
      <p:bgPr>
        <a:gradFill>
          <a:gsLst>
            <a:gs pos="22000">
              <a:schemeClr val="bg1"/>
            </a:gs>
            <a:gs pos="100000">
              <a:schemeClr val="accent6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2" name="Line top Placeholder 20">
            <a:extLst>
              <a:ext uri="{FF2B5EF4-FFF2-40B4-BE49-F238E27FC236}">
                <a16:creationId xmlns:a16="http://schemas.microsoft.com/office/drawing/2014/main" id="{38615178-D3EF-0351-B14B-847E20DE72E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2226A66-5DC3-953F-2B42-68A9AAEE705B}"/>
              </a:ext>
            </a:extLst>
          </p:cNvPr>
          <p:cNvGrpSpPr/>
          <p:nvPr userDrawn="1"/>
        </p:nvGrpSpPr>
        <p:grpSpPr>
          <a:xfrm>
            <a:off x="4724397" y="3211027"/>
            <a:ext cx="2743202" cy="435946"/>
            <a:chOff x="728662" y="709353"/>
            <a:chExt cx="2743202" cy="43594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344384E-4AF3-B4A4-F189-409E7C8A04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6053"/>
            <a:stretch/>
          </p:blipFill>
          <p:spPr>
            <a:xfrm>
              <a:off x="728662" y="709353"/>
              <a:ext cx="381588" cy="435946"/>
            </a:xfrm>
            <a:prstGeom prst="rect">
              <a:avLst/>
            </a:prstGeom>
          </p:spPr>
        </p:pic>
        <p:sp>
          <p:nvSpPr>
            <p:cNvPr id="5" name="Freeform 33">
              <a:extLst>
                <a:ext uri="{FF2B5EF4-FFF2-40B4-BE49-F238E27FC236}">
                  <a16:creationId xmlns:a16="http://schemas.microsoft.com/office/drawing/2014/main" id="{0DE36B48-2DFA-C617-11D3-E6301B89EA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22376" y="709353"/>
              <a:ext cx="2249488" cy="295275"/>
            </a:xfrm>
            <a:custGeom>
              <a:avLst/>
              <a:gdLst>
                <a:gd name="T0" fmla="*/ 3918 w 3977"/>
                <a:gd name="T1" fmla="*/ 318 h 515"/>
                <a:gd name="T2" fmla="*/ 3977 w 3977"/>
                <a:gd name="T3" fmla="*/ 433 h 515"/>
                <a:gd name="T4" fmla="*/ 3973 w 3977"/>
                <a:gd name="T5" fmla="*/ 332 h 515"/>
                <a:gd name="T6" fmla="*/ 3688 w 3977"/>
                <a:gd name="T7" fmla="*/ 493 h 515"/>
                <a:gd name="T8" fmla="*/ 3585 w 3977"/>
                <a:gd name="T9" fmla="*/ 308 h 515"/>
                <a:gd name="T10" fmla="*/ 3488 w 3977"/>
                <a:gd name="T11" fmla="*/ 507 h 515"/>
                <a:gd name="T12" fmla="*/ 3337 w 3977"/>
                <a:gd name="T13" fmla="*/ 235 h 515"/>
                <a:gd name="T14" fmla="*/ 3543 w 3977"/>
                <a:gd name="T15" fmla="*/ 212 h 515"/>
                <a:gd name="T16" fmla="*/ 3280 w 3977"/>
                <a:gd name="T17" fmla="*/ 99 h 515"/>
                <a:gd name="T18" fmla="*/ 3280 w 3977"/>
                <a:gd name="T19" fmla="*/ 99 h 515"/>
                <a:gd name="T20" fmla="*/ 3163 w 3977"/>
                <a:gd name="T21" fmla="*/ 507 h 515"/>
                <a:gd name="T22" fmla="*/ 3163 w 3977"/>
                <a:gd name="T23" fmla="*/ 221 h 515"/>
                <a:gd name="T24" fmla="*/ 2812 w 3977"/>
                <a:gd name="T25" fmla="*/ 99 h 515"/>
                <a:gd name="T26" fmla="*/ 2812 w 3977"/>
                <a:gd name="T27" fmla="*/ 99 h 515"/>
                <a:gd name="T28" fmla="*/ 2852 w 3977"/>
                <a:gd name="T29" fmla="*/ 507 h 515"/>
                <a:gd name="T30" fmla="*/ 2695 w 3977"/>
                <a:gd name="T31" fmla="*/ 235 h 515"/>
                <a:gd name="T32" fmla="*/ 2804 w 3977"/>
                <a:gd name="T33" fmla="*/ 453 h 515"/>
                <a:gd name="T34" fmla="*/ 2521 w 3977"/>
                <a:gd name="T35" fmla="*/ 494 h 515"/>
                <a:gd name="T36" fmla="*/ 2621 w 3977"/>
                <a:gd name="T37" fmla="*/ 451 h 515"/>
                <a:gd name="T38" fmla="*/ 2470 w 3977"/>
                <a:gd name="T39" fmla="*/ 212 h 515"/>
                <a:gd name="T40" fmla="*/ 2512 w 3977"/>
                <a:gd name="T41" fmla="*/ 9 h 515"/>
                <a:gd name="T42" fmla="*/ 2236 w 3977"/>
                <a:gd name="T43" fmla="*/ 318 h 515"/>
                <a:gd name="T44" fmla="*/ 2236 w 3977"/>
                <a:gd name="T45" fmla="*/ 318 h 515"/>
                <a:gd name="T46" fmla="*/ 2295 w 3977"/>
                <a:gd name="T47" fmla="*/ 454 h 515"/>
                <a:gd name="T48" fmla="*/ 2080 w 3977"/>
                <a:gd name="T49" fmla="*/ 332 h 515"/>
                <a:gd name="T50" fmla="*/ 1949 w 3977"/>
                <a:gd name="T51" fmla="*/ 414 h 515"/>
                <a:gd name="T52" fmla="*/ 1887 w 3977"/>
                <a:gd name="T53" fmla="*/ 423 h 515"/>
                <a:gd name="T54" fmla="*/ 1537 w 3977"/>
                <a:gd name="T55" fmla="*/ 124 h 515"/>
                <a:gd name="T56" fmla="*/ 1426 w 3977"/>
                <a:gd name="T57" fmla="*/ 507 h 515"/>
                <a:gd name="T58" fmla="*/ 1453 w 3977"/>
                <a:gd name="T59" fmla="*/ 44 h 515"/>
                <a:gd name="T60" fmla="*/ 1977 w 3977"/>
                <a:gd name="T61" fmla="*/ 57 h 515"/>
                <a:gd name="T62" fmla="*/ 1342 w 3977"/>
                <a:gd name="T63" fmla="*/ 507 h 515"/>
                <a:gd name="T64" fmla="*/ 1175 w 3977"/>
                <a:gd name="T65" fmla="*/ 242 h 515"/>
                <a:gd name="T66" fmla="*/ 991 w 3977"/>
                <a:gd name="T67" fmla="*/ 507 h 515"/>
                <a:gd name="T68" fmla="*/ 991 w 3977"/>
                <a:gd name="T69" fmla="*/ 221 h 515"/>
                <a:gd name="T70" fmla="*/ 1294 w 3977"/>
                <a:gd name="T71" fmla="*/ 315 h 515"/>
                <a:gd name="T72" fmla="*/ 978 w 3977"/>
                <a:gd name="T73" fmla="*/ 493 h 515"/>
                <a:gd name="T74" fmla="*/ 875 w 3977"/>
                <a:gd name="T75" fmla="*/ 308 h 515"/>
                <a:gd name="T76" fmla="*/ 778 w 3977"/>
                <a:gd name="T77" fmla="*/ 507 h 515"/>
                <a:gd name="T78" fmla="*/ 627 w 3977"/>
                <a:gd name="T79" fmla="*/ 235 h 515"/>
                <a:gd name="T80" fmla="*/ 833 w 3977"/>
                <a:gd name="T81" fmla="*/ 212 h 515"/>
                <a:gd name="T82" fmla="*/ 552 w 3977"/>
                <a:gd name="T83" fmla="*/ 318 h 515"/>
                <a:gd name="T84" fmla="*/ 396 w 3977"/>
                <a:gd name="T85" fmla="*/ 332 h 515"/>
                <a:gd name="T86" fmla="*/ 493 w 3977"/>
                <a:gd name="T87" fmla="*/ 515 h 515"/>
                <a:gd name="T88" fmla="*/ 396 w 3977"/>
                <a:gd name="T89" fmla="*/ 332 h 515"/>
                <a:gd name="T90" fmla="*/ 172 w 3977"/>
                <a:gd name="T91" fmla="*/ 61 h 515"/>
                <a:gd name="T92" fmla="*/ 114 w 3977"/>
                <a:gd name="T93" fmla="*/ 419 h 515"/>
                <a:gd name="T94" fmla="*/ 53 w 3977"/>
                <a:gd name="T95" fmla="*/ 421 h 515"/>
                <a:gd name="T96" fmla="*/ 349 w 3977"/>
                <a:gd name="T97" fmla="*/ 175 h 515"/>
                <a:gd name="T98" fmla="*/ 3135 w 3977"/>
                <a:gd name="T99" fmla="*/ 313 h 515"/>
                <a:gd name="T100" fmla="*/ 3036 w 3977"/>
                <a:gd name="T101" fmla="*/ 491 h 515"/>
                <a:gd name="T102" fmla="*/ 3021 w 3977"/>
                <a:gd name="T103" fmla="*/ 212 h 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77" h="515">
                  <a:moveTo>
                    <a:pt x="3918" y="318"/>
                  </a:moveTo>
                  <a:lnTo>
                    <a:pt x="3918" y="318"/>
                  </a:lnTo>
                  <a:cubicBezTo>
                    <a:pt x="3921" y="255"/>
                    <a:pt x="3878" y="229"/>
                    <a:pt x="3842" y="229"/>
                  </a:cubicBezTo>
                  <a:cubicBezTo>
                    <a:pt x="3794" y="229"/>
                    <a:pt x="3766" y="265"/>
                    <a:pt x="3762" y="318"/>
                  </a:cubicBezTo>
                  <a:lnTo>
                    <a:pt x="3918" y="318"/>
                  </a:lnTo>
                  <a:lnTo>
                    <a:pt x="3918" y="318"/>
                  </a:lnTo>
                  <a:close/>
                  <a:moveTo>
                    <a:pt x="3762" y="332"/>
                  </a:moveTo>
                  <a:lnTo>
                    <a:pt x="3762" y="332"/>
                  </a:lnTo>
                  <a:cubicBezTo>
                    <a:pt x="3761" y="461"/>
                    <a:pt x="3838" y="493"/>
                    <a:pt x="3876" y="493"/>
                  </a:cubicBezTo>
                  <a:cubicBezTo>
                    <a:pt x="3916" y="493"/>
                    <a:pt x="3936" y="479"/>
                    <a:pt x="3977" y="433"/>
                  </a:cubicBezTo>
                  <a:lnTo>
                    <a:pt x="3977" y="454"/>
                  </a:lnTo>
                  <a:cubicBezTo>
                    <a:pt x="3943" y="498"/>
                    <a:pt x="3909" y="515"/>
                    <a:pt x="3859" y="515"/>
                  </a:cubicBezTo>
                  <a:cubicBezTo>
                    <a:pt x="3770" y="515"/>
                    <a:pt x="3705" y="453"/>
                    <a:pt x="3705" y="367"/>
                  </a:cubicBezTo>
                  <a:cubicBezTo>
                    <a:pt x="3705" y="280"/>
                    <a:pt x="3768" y="212"/>
                    <a:pt x="3849" y="212"/>
                  </a:cubicBezTo>
                  <a:cubicBezTo>
                    <a:pt x="3915" y="212"/>
                    <a:pt x="3977" y="266"/>
                    <a:pt x="3973" y="332"/>
                  </a:cubicBezTo>
                  <a:lnTo>
                    <a:pt x="3762" y="332"/>
                  </a:lnTo>
                  <a:lnTo>
                    <a:pt x="3762" y="332"/>
                  </a:lnTo>
                  <a:close/>
                  <a:moveTo>
                    <a:pt x="3640" y="444"/>
                  </a:moveTo>
                  <a:lnTo>
                    <a:pt x="3640" y="444"/>
                  </a:lnTo>
                  <a:cubicBezTo>
                    <a:pt x="3640" y="482"/>
                    <a:pt x="3648" y="493"/>
                    <a:pt x="3688" y="493"/>
                  </a:cubicBezTo>
                  <a:lnTo>
                    <a:pt x="3688" y="507"/>
                  </a:lnTo>
                  <a:lnTo>
                    <a:pt x="3536" y="507"/>
                  </a:lnTo>
                  <a:lnTo>
                    <a:pt x="3536" y="493"/>
                  </a:lnTo>
                  <a:cubicBezTo>
                    <a:pt x="3574" y="493"/>
                    <a:pt x="3585" y="484"/>
                    <a:pt x="3585" y="457"/>
                  </a:cubicBezTo>
                  <a:lnTo>
                    <a:pt x="3585" y="308"/>
                  </a:lnTo>
                  <a:cubicBezTo>
                    <a:pt x="3585" y="262"/>
                    <a:pt x="3552" y="242"/>
                    <a:pt x="3521" y="242"/>
                  </a:cubicBezTo>
                  <a:cubicBezTo>
                    <a:pt x="3493" y="242"/>
                    <a:pt x="3468" y="260"/>
                    <a:pt x="3439" y="298"/>
                  </a:cubicBezTo>
                  <a:lnTo>
                    <a:pt x="3439" y="438"/>
                  </a:lnTo>
                  <a:cubicBezTo>
                    <a:pt x="3439" y="482"/>
                    <a:pt x="3445" y="493"/>
                    <a:pt x="3488" y="493"/>
                  </a:cubicBezTo>
                  <a:lnTo>
                    <a:pt x="3488" y="507"/>
                  </a:lnTo>
                  <a:lnTo>
                    <a:pt x="3337" y="507"/>
                  </a:lnTo>
                  <a:lnTo>
                    <a:pt x="3337" y="493"/>
                  </a:lnTo>
                  <a:cubicBezTo>
                    <a:pt x="3375" y="493"/>
                    <a:pt x="3385" y="490"/>
                    <a:pt x="3385" y="438"/>
                  </a:cubicBezTo>
                  <a:lnTo>
                    <a:pt x="3385" y="277"/>
                  </a:lnTo>
                  <a:cubicBezTo>
                    <a:pt x="3385" y="242"/>
                    <a:pt x="3376" y="235"/>
                    <a:pt x="3337" y="235"/>
                  </a:cubicBezTo>
                  <a:lnTo>
                    <a:pt x="3337" y="221"/>
                  </a:lnTo>
                  <a:lnTo>
                    <a:pt x="3426" y="212"/>
                  </a:lnTo>
                  <a:lnTo>
                    <a:pt x="3439" y="212"/>
                  </a:lnTo>
                  <a:lnTo>
                    <a:pt x="3439" y="270"/>
                  </a:lnTo>
                  <a:cubicBezTo>
                    <a:pt x="3473" y="231"/>
                    <a:pt x="3507" y="212"/>
                    <a:pt x="3543" y="212"/>
                  </a:cubicBezTo>
                  <a:cubicBezTo>
                    <a:pt x="3591" y="212"/>
                    <a:pt x="3640" y="246"/>
                    <a:pt x="3640" y="315"/>
                  </a:cubicBezTo>
                  <a:lnTo>
                    <a:pt x="3640" y="444"/>
                  </a:lnTo>
                  <a:lnTo>
                    <a:pt x="3640" y="444"/>
                  </a:lnTo>
                  <a:close/>
                  <a:moveTo>
                    <a:pt x="3280" y="99"/>
                  </a:moveTo>
                  <a:lnTo>
                    <a:pt x="3280" y="99"/>
                  </a:lnTo>
                  <a:cubicBezTo>
                    <a:pt x="3280" y="119"/>
                    <a:pt x="3265" y="135"/>
                    <a:pt x="3245" y="135"/>
                  </a:cubicBezTo>
                  <a:cubicBezTo>
                    <a:pt x="3226" y="135"/>
                    <a:pt x="3210" y="119"/>
                    <a:pt x="3210" y="99"/>
                  </a:cubicBezTo>
                  <a:cubicBezTo>
                    <a:pt x="3210" y="80"/>
                    <a:pt x="3226" y="65"/>
                    <a:pt x="3245" y="65"/>
                  </a:cubicBezTo>
                  <a:cubicBezTo>
                    <a:pt x="3265" y="65"/>
                    <a:pt x="3280" y="80"/>
                    <a:pt x="3280" y="99"/>
                  </a:cubicBezTo>
                  <a:lnTo>
                    <a:pt x="3280" y="99"/>
                  </a:lnTo>
                  <a:close/>
                  <a:moveTo>
                    <a:pt x="3272" y="453"/>
                  </a:moveTo>
                  <a:lnTo>
                    <a:pt x="3272" y="453"/>
                  </a:lnTo>
                  <a:cubicBezTo>
                    <a:pt x="3272" y="482"/>
                    <a:pt x="3279" y="493"/>
                    <a:pt x="3320" y="493"/>
                  </a:cubicBezTo>
                  <a:lnTo>
                    <a:pt x="3320" y="507"/>
                  </a:lnTo>
                  <a:lnTo>
                    <a:pt x="3163" y="507"/>
                  </a:lnTo>
                  <a:lnTo>
                    <a:pt x="3163" y="493"/>
                  </a:lnTo>
                  <a:cubicBezTo>
                    <a:pt x="3207" y="493"/>
                    <a:pt x="3217" y="487"/>
                    <a:pt x="3217" y="453"/>
                  </a:cubicBezTo>
                  <a:lnTo>
                    <a:pt x="3217" y="278"/>
                  </a:lnTo>
                  <a:cubicBezTo>
                    <a:pt x="3217" y="238"/>
                    <a:pt x="3205" y="235"/>
                    <a:pt x="3163" y="235"/>
                  </a:cubicBezTo>
                  <a:lnTo>
                    <a:pt x="3163" y="221"/>
                  </a:lnTo>
                  <a:lnTo>
                    <a:pt x="3258" y="212"/>
                  </a:lnTo>
                  <a:lnTo>
                    <a:pt x="3272" y="212"/>
                  </a:lnTo>
                  <a:lnTo>
                    <a:pt x="3272" y="453"/>
                  </a:lnTo>
                  <a:lnTo>
                    <a:pt x="3272" y="453"/>
                  </a:lnTo>
                  <a:close/>
                  <a:moveTo>
                    <a:pt x="2812" y="99"/>
                  </a:moveTo>
                  <a:lnTo>
                    <a:pt x="2812" y="99"/>
                  </a:lnTo>
                  <a:cubicBezTo>
                    <a:pt x="2812" y="119"/>
                    <a:pt x="2797" y="135"/>
                    <a:pt x="2778" y="135"/>
                  </a:cubicBezTo>
                  <a:cubicBezTo>
                    <a:pt x="2758" y="135"/>
                    <a:pt x="2742" y="119"/>
                    <a:pt x="2742" y="99"/>
                  </a:cubicBezTo>
                  <a:cubicBezTo>
                    <a:pt x="2742" y="80"/>
                    <a:pt x="2758" y="65"/>
                    <a:pt x="2778" y="65"/>
                  </a:cubicBezTo>
                  <a:cubicBezTo>
                    <a:pt x="2797" y="65"/>
                    <a:pt x="2812" y="80"/>
                    <a:pt x="2812" y="99"/>
                  </a:cubicBezTo>
                  <a:lnTo>
                    <a:pt x="2812" y="99"/>
                  </a:lnTo>
                  <a:close/>
                  <a:moveTo>
                    <a:pt x="2804" y="453"/>
                  </a:moveTo>
                  <a:lnTo>
                    <a:pt x="2804" y="453"/>
                  </a:lnTo>
                  <a:cubicBezTo>
                    <a:pt x="2804" y="482"/>
                    <a:pt x="2811" y="493"/>
                    <a:pt x="2852" y="493"/>
                  </a:cubicBezTo>
                  <a:lnTo>
                    <a:pt x="2852" y="507"/>
                  </a:lnTo>
                  <a:lnTo>
                    <a:pt x="2695" y="507"/>
                  </a:lnTo>
                  <a:lnTo>
                    <a:pt x="2695" y="493"/>
                  </a:lnTo>
                  <a:cubicBezTo>
                    <a:pt x="2739" y="493"/>
                    <a:pt x="2749" y="487"/>
                    <a:pt x="2749" y="453"/>
                  </a:cubicBezTo>
                  <a:lnTo>
                    <a:pt x="2749" y="278"/>
                  </a:lnTo>
                  <a:cubicBezTo>
                    <a:pt x="2749" y="238"/>
                    <a:pt x="2737" y="235"/>
                    <a:pt x="2695" y="235"/>
                  </a:cubicBezTo>
                  <a:lnTo>
                    <a:pt x="2695" y="221"/>
                  </a:lnTo>
                  <a:lnTo>
                    <a:pt x="2790" y="212"/>
                  </a:lnTo>
                  <a:lnTo>
                    <a:pt x="2804" y="212"/>
                  </a:lnTo>
                  <a:lnTo>
                    <a:pt x="2804" y="453"/>
                  </a:lnTo>
                  <a:lnTo>
                    <a:pt x="2804" y="453"/>
                  </a:lnTo>
                  <a:close/>
                  <a:moveTo>
                    <a:pt x="2566" y="278"/>
                  </a:moveTo>
                  <a:lnTo>
                    <a:pt x="2566" y="278"/>
                  </a:lnTo>
                  <a:cubicBezTo>
                    <a:pt x="2543" y="247"/>
                    <a:pt x="2512" y="229"/>
                    <a:pt x="2483" y="229"/>
                  </a:cubicBezTo>
                  <a:cubicBezTo>
                    <a:pt x="2431" y="229"/>
                    <a:pt x="2395" y="276"/>
                    <a:pt x="2395" y="346"/>
                  </a:cubicBezTo>
                  <a:cubicBezTo>
                    <a:pt x="2395" y="414"/>
                    <a:pt x="2427" y="494"/>
                    <a:pt x="2521" y="494"/>
                  </a:cubicBezTo>
                  <a:cubicBezTo>
                    <a:pt x="2553" y="494"/>
                    <a:pt x="2566" y="481"/>
                    <a:pt x="2566" y="450"/>
                  </a:cubicBezTo>
                  <a:lnTo>
                    <a:pt x="2566" y="278"/>
                  </a:lnTo>
                  <a:lnTo>
                    <a:pt x="2566" y="278"/>
                  </a:lnTo>
                  <a:close/>
                  <a:moveTo>
                    <a:pt x="2621" y="451"/>
                  </a:moveTo>
                  <a:lnTo>
                    <a:pt x="2621" y="451"/>
                  </a:lnTo>
                  <a:cubicBezTo>
                    <a:pt x="2621" y="482"/>
                    <a:pt x="2632" y="493"/>
                    <a:pt x="2669" y="493"/>
                  </a:cubicBezTo>
                  <a:lnTo>
                    <a:pt x="2669" y="507"/>
                  </a:lnTo>
                  <a:lnTo>
                    <a:pt x="2502" y="507"/>
                  </a:lnTo>
                  <a:cubicBezTo>
                    <a:pt x="2381" y="507"/>
                    <a:pt x="2336" y="425"/>
                    <a:pt x="2336" y="358"/>
                  </a:cubicBezTo>
                  <a:cubicBezTo>
                    <a:pt x="2336" y="277"/>
                    <a:pt x="2395" y="212"/>
                    <a:pt x="2470" y="212"/>
                  </a:cubicBezTo>
                  <a:cubicBezTo>
                    <a:pt x="2500" y="212"/>
                    <a:pt x="2530" y="223"/>
                    <a:pt x="2566" y="247"/>
                  </a:cubicBezTo>
                  <a:lnTo>
                    <a:pt x="2566" y="72"/>
                  </a:lnTo>
                  <a:cubicBezTo>
                    <a:pt x="2566" y="31"/>
                    <a:pt x="2556" y="23"/>
                    <a:pt x="2528" y="23"/>
                  </a:cubicBezTo>
                  <a:lnTo>
                    <a:pt x="2512" y="23"/>
                  </a:lnTo>
                  <a:lnTo>
                    <a:pt x="2512" y="9"/>
                  </a:lnTo>
                  <a:lnTo>
                    <a:pt x="2607" y="0"/>
                  </a:lnTo>
                  <a:lnTo>
                    <a:pt x="2621" y="0"/>
                  </a:lnTo>
                  <a:lnTo>
                    <a:pt x="2621" y="451"/>
                  </a:lnTo>
                  <a:lnTo>
                    <a:pt x="2621" y="451"/>
                  </a:lnTo>
                  <a:close/>
                  <a:moveTo>
                    <a:pt x="2236" y="318"/>
                  </a:moveTo>
                  <a:lnTo>
                    <a:pt x="2236" y="318"/>
                  </a:lnTo>
                  <a:cubicBezTo>
                    <a:pt x="2239" y="255"/>
                    <a:pt x="2196" y="229"/>
                    <a:pt x="2159" y="229"/>
                  </a:cubicBezTo>
                  <a:cubicBezTo>
                    <a:pt x="2112" y="229"/>
                    <a:pt x="2083" y="265"/>
                    <a:pt x="2080" y="318"/>
                  </a:cubicBezTo>
                  <a:lnTo>
                    <a:pt x="2236" y="318"/>
                  </a:lnTo>
                  <a:lnTo>
                    <a:pt x="2236" y="318"/>
                  </a:lnTo>
                  <a:close/>
                  <a:moveTo>
                    <a:pt x="2080" y="332"/>
                  </a:moveTo>
                  <a:lnTo>
                    <a:pt x="2080" y="332"/>
                  </a:lnTo>
                  <a:cubicBezTo>
                    <a:pt x="2079" y="461"/>
                    <a:pt x="2155" y="493"/>
                    <a:pt x="2194" y="493"/>
                  </a:cubicBezTo>
                  <a:cubicBezTo>
                    <a:pt x="2234" y="493"/>
                    <a:pt x="2254" y="479"/>
                    <a:pt x="2295" y="433"/>
                  </a:cubicBezTo>
                  <a:lnTo>
                    <a:pt x="2295" y="454"/>
                  </a:lnTo>
                  <a:cubicBezTo>
                    <a:pt x="2260" y="498"/>
                    <a:pt x="2227" y="515"/>
                    <a:pt x="2177" y="515"/>
                  </a:cubicBezTo>
                  <a:cubicBezTo>
                    <a:pt x="2088" y="515"/>
                    <a:pt x="2023" y="453"/>
                    <a:pt x="2023" y="367"/>
                  </a:cubicBezTo>
                  <a:cubicBezTo>
                    <a:pt x="2023" y="280"/>
                    <a:pt x="2086" y="212"/>
                    <a:pt x="2167" y="212"/>
                  </a:cubicBezTo>
                  <a:cubicBezTo>
                    <a:pt x="2233" y="212"/>
                    <a:pt x="2294" y="266"/>
                    <a:pt x="2290" y="332"/>
                  </a:cubicBezTo>
                  <a:lnTo>
                    <a:pt x="2080" y="332"/>
                  </a:lnTo>
                  <a:lnTo>
                    <a:pt x="2080" y="332"/>
                  </a:lnTo>
                  <a:close/>
                  <a:moveTo>
                    <a:pt x="1977" y="57"/>
                  </a:moveTo>
                  <a:lnTo>
                    <a:pt x="1977" y="57"/>
                  </a:lnTo>
                  <a:cubicBezTo>
                    <a:pt x="1937" y="58"/>
                    <a:pt x="1922" y="86"/>
                    <a:pt x="1925" y="129"/>
                  </a:cubicBezTo>
                  <a:lnTo>
                    <a:pt x="1949" y="414"/>
                  </a:lnTo>
                  <a:cubicBezTo>
                    <a:pt x="1954" y="471"/>
                    <a:pt x="1963" y="489"/>
                    <a:pt x="2006" y="493"/>
                  </a:cubicBezTo>
                  <a:lnTo>
                    <a:pt x="2006" y="507"/>
                  </a:lnTo>
                  <a:lnTo>
                    <a:pt x="1840" y="507"/>
                  </a:lnTo>
                  <a:lnTo>
                    <a:pt x="1840" y="493"/>
                  </a:lnTo>
                  <a:cubicBezTo>
                    <a:pt x="1878" y="486"/>
                    <a:pt x="1890" y="469"/>
                    <a:pt x="1887" y="423"/>
                  </a:cubicBezTo>
                  <a:lnTo>
                    <a:pt x="1865" y="124"/>
                  </a:lnTo>
                  <a:lnTo>
                    <a:pt x="1863" y="124"/>
                  </a:lnTo>
                  <a:lnTo>
                    <a:pt x="1705" y="507"/>
                  </a:lnTo>
                  <a:lnTo>
                    <a:pt x="1693" y="507"/>
                  </a:lnTo>
                  <a:lnTo>
                    <a:pt x="1537" y="124"/>
                  </a:lnTo>
                  <a:lnTo>
                    <a:pt x="1536" y="124"/>
                  </a:lnTo>
                  <a:lnTo>
                    <a:pt x="1510" y="410"/>
                  </a:lnTo>
                  <a:cubicBezTo>
                    <a:pt x="1506" y="456"/>
                    <a:pt x="1523" y="484"/>
                    <a:pt x="1570" y="493"/>
                  </a:cubicBezTo>
                  <a:lnTo>
                    <a:pt x="1570" y="507"/>
                  </a:lnTo>
                  <a:lnTo>
                    <a:pt x="1426" y="507"/>
                  </a:lnTo>
                  <a:lnTo>
                    <a:pt x="1426" y="493"/>
                  </a:lnTo>
                  <a:cubicBezTo>
                    <a:pt x="1473" y="486"/>
                    <a:pt x="1480" y="459"/>
                    <a:pt x="1485" y="408"/>
                  </a:cubicBezTo>
                  <a:lnTo>
                    <a:pt x="1513" y="90"/>
                  </a:lnTo>
                  <a:cubicBezTo>
                    <a:pt x="1495" y="70"/>
                    <a:pt x="1479" y="61"/>
                    <a:pt x="1453" y="57"/>
                  </a:cubicBezTo>
                  <a:lnTo>
                    <a:pt x="1453" y="44"/>
                  </a:lnTo>
                  <a:lnTo>
                    <a:pt x="1570" y="44"/>
                  </a:lnTo>
                  <a:lnTo>
                    <a:pt x="1718" y="408"/>
                  </a:lnTo>
                  <a:lnTo>
                    <a:pt x="1868" y="44"/>
                  </a:lnTo>
                  <a:lnTo>
                    <a:pt x="1977" y="44"/>
                  </a:lnTo>
                  <a:lnTo>
                    <a:pt x="1977" y="57"/>
                  </a:lnTo>
                  <a:lnTo>
                    <a:pt x="1977" y="57"/>
                  </a:lnTo>
                  <a:close/>
                  <a:moveTo>
                    <a:pt x="1294" y="444"/>
                  </a:moveTo>
                  <a:lnTo>
                    <a:pt x="1294" y="444"/>
                  </a:lnTo>
                  <a:cubicBezTo>
                    <a:pt x="1294" y="482"/>
                    <a:pt x="1302" y="493"/>
                    <a:pt x="1342" y="493"/>
                  </a:cubicBezTo>
                  <a:lnTo>
                    <a:pt x="1342" y="507"/>
                  </a:lnTo>
                  <a:lnTo>
                    <a:pt x="1190" y="507"/>
                  </a:lnTo>
                  <a:lnTo>
                    <a:pt x="1190" y="493"/>
                  </a:lnTo>
                  <a:cubicBezTo>
                    <a:pt x="1228" y="493"/>
                    <a:pt x="1239" y="484"/>
                    <a:pt x="1239" y="457"/>
                  </a:cubicBezTo>
                  <a:lnTo>
                    <a:pt x="1239" y="308"/>
                  </a:lnTo>
                  <a:cubicBezTo>
                    <a:pt x="1239" y="262"/>
                    <a:pt x="1206" y="242"/>
                    <a:pt x="1175" y="242"/>
                  </a:cubicBezTo>
                  <a:cubicBezTo>
                    <a:pt x="1147" y="242"/>
                    <a:pt x="1122" y="260"/>
                    <a:pt x="1093" y="298"/>
                  </a:cubicBezTo>
                  <a:lnTo>
                    <a:pt x="1093" y="438"/>
                  </a:lnTo>
                  <a:cubicBezTo>
                    <a:pt x="1093" y="482"/>
                    <a:pt x="1099" y="493"/>
                    <a:pt x="1142" y="493"/>
                  </a:cubicBezTo>
                  <a:lnTo>
                    <a:pt x="1142" y="507"/>
                  </a:lnTo>
                  <a:lnTo>
                    <a:pt x="991" y="507"/>
                  </a:lnTo>
                  <a:lnTo>
                    <a:pt x="991" y="493"/>
                  </a:lnTo>
                  <a:cubicBezTo>
                    <a:pt x="1029" y="493"/>
                    <a:pt x="1039" y="490"/>
                    <a:pt x="1039" y="438"/>
                  </a:cubicBezTo>
                  <a:lnTo>
                    <a:pt x="1039" y="277"/>
                  </a:lnTo>
                  <a:cubicBezTo>
                    <a:pt x="1039" y="242"/>
                    <a:pt x="1030" y="235"/>
                    <a:pt x="991" y="235"/>
                  </a:cubicBezTo>
                  <a:lnTo>
                    <a:pt x="991" y="221"/>
                  </a:lnTo>
                  <a:lnTo>
                    <a:pt x="1080" y="212"/>
                  </a:lnTo>
                  <a:lnTo>
                    <a:pt x="1093" y="212"/>
                  </a:lnTo>
                  <a:lnTo>
                    <a:pt x="1093" y="270"/>
                  </a:lnTo>
                  <a:cubicBezTo>
                    <a:pt x="1127" y="231"/>
                    <a:pt x="1161" y="212"/>
                    <a:pt x="1197" y="212"/>
                  </a:cubicBezTo>
                  <a:cubicBezTo>
                    <a:pt x="1245" y="212"/>
                    <a:pt x="1294" y="246"/>
                    <a:pt x="1294" y="315"/>
                  </a:cubicBezTo>
                  <a:lnTo>
                    <a:pt x="1294" y="444"/>
                  </a:lnTo>
                  <a:lnTo>
                    <a:pt x="1294" y="444"/>
                  </a:lnTo>
                  <a:close/>
                  <a:moveTo>
                    <a:pt x="930" y="444"/>
                  </a:moveTo>
                  <a:lnTo>
                    <a:pt x="930" y="444"/>
                  </a:lnTo>
                  <a:cubicBezTo>
                    <a:pt x="930" y="482"/>
                    <a:pt x="938" y="493"/>
                    <a:pt x="978" y="493"/>
                  </a:cubicBezTo>
                  <a:lnTo>
                    <a:pt x="978" y="507"/>
                  </a:lnTo>
                  <a:lnTo>
                    <a:pt x="826" y="507"/>
                  </a:lnTo>
                  <a:lnTo>
                    <a:pt x="826" y="493"/>
                  </a:lnTo>
                  <a:cubicBezTo>
                    <a:pt x="864" y="493"/>
                    <a:pt x="875" y="484"/>
                    <a:pt x="875" y="457"/>
                  </a:cubicBezTo>
                  <a:lnTo>
                    <a:pt x="875" y="308"/>
                  </a:lnTo>
                  <a:cubicBezTo>
                    <a:pt x="875" y="262"/>
                    <a:pt x="842" y="242"/>
                    <a:pt x="811" y="242"/>
                  </a:cubicBezTo>
                  <a:cubicBezTo>
                    <a:pt x="783" y="242"/>
                    <a:pt x="758" y="260"/>
                    <a:pt x="730" y="298"/>
                  </a:cubicBezTo>
                  <a:lnTo>
                    <a:pt x="730" y="438"/>
                  </a:lnTo>
                  <a:cubicBezTo>
                    <a:pt x="730" y="482"/>
                    <a:pt x="735" y="493"/>
                    <a:pt x="778" y="493"/>
                  </a:cubicBezTo>
                  <a:lnTo>
                    <a:pt x="778" y="507"/>
                  </a:lnTo>
                  <a:lnTo>
                    <a:pt x="627" y="507"/>
                  </a:lnTo>
                  <a:lnTo>
                    <a:pt x="627" y="493"/>
                  </a:lnTo>
                  <a:cubicBezTo>
                    <a:pt x="665" y="493"/>
                    <a:pt x="675" y="490"/>
                    <a:pt x="675" y="438"/>
                  </a:cubicBezTo>
                  <a:lnTo>
                    <a:pt x="675" y="277"/>
                  </a:lnTo>
                  <a:cubicBezTo>
                    <a:pt x="675" y="242"/>
                    <a:pt x="666" y="235"/>
                    <a:pt x="627" y="235"/>
                  </a:cubicBezTo>
                  <a:lnTo>
                    <a:pt x="627" y="221"/>
                  </a:lnTo>
                  <a:lnTo>
                    <a:pt x="716" y="212"/>
                  </a:lnTo>
                  <a:lnTo>
                    <a:pt x="730" y="212"/>
                  </a:lnTo>
                  <a:lnTo>
                    <a:pt x="730" y="270"/>
                  </a:lnTo>
                  <a:cubicBezTo>
                    <a:pt x="763" y="231"/>
                    <a:pt x="797" y="212"/>
                    <a:pt x="833" y="212"/>
                  </a:cubicBezTo>
                  <a:cubicBezTo>
                    <a:pt x="881" y="212"/>
                    <a:pt x="930" y="246"/>
                    <a:pt x="930" y="315"/>
                  </a:cubicBezTo>
                  <a:lnTo>
                    <a:pt x="930" y="444"/>
                  </a:lnTo>
                  <a:lnTo>
                    <a:pt x="930" y="444"/>
                  </a:lnTo>
                  <a:close/>
                  <a:moveTo>
                    <a:pt x="552" y="318"/>
                  </a:moveTo>
                  <a:lnTo>
                    <a:pt x="552" y="318"/>
                  </a:lnTo>
                  <a:cubicBezTo>
                    <a:pt x="555" y="255"/>
                    <a:pt x="512" y="229"/>
                    <a:pt x="475" y="229"/>
                  </a:cubicBezTo>
                  <a:cubicBezTo>
                    <a:pt x="428" y="229"/>
                    <a:pt x="399" y="265"/>
                    <a:pt x="396" y="318"/>
                  </a:cubicBezTo>
                  <a:lnTo>
                    <a:pt x="552" y="318"/>
                  </a:lnTo>
                  <a:lnTo>
                    <a:pt x="552" y="318"/>
                  </a:lnTo>
                  <a:close/>
                  <a:moveTo>
                    <a:pt x="396" y="332"/>
                  </a:moveTo>
                  <a:lnTo>
                    <a:pt x="396" y="332"/>
                  </a:lnTo>
                  <a:cubicBezTo>
                    <a:pt x="395" y="461"/>
                    <a:pt x="471" y="493"/>
                    <a:pt x="510" y="493"/>
                  </a:cubicBezTo>
                  <a:cubicBezTo>
                    <a:pt x="550" y="493"/>
                    <a:pt x="570" y="479"/>
                    <a:pt x="611" y="433"/>
                  </a:cubicBezTo>
                  <a:lnTo>
                    <a:pt x="611" y="454"/>
                  </a:lnTo>
                  <a:cubicBezTo>
                    <a:pt x="576" y="498"/>
                    <a:pt x="543" y="515"/>
                    <a:pt x="493" y="515"/>
                  </a:cubicBezTo>
                  <a:cubicBezTo>
                    <a:pt x="403" y="515"/>
                    <a:pt x="339" y="453"/>
                    <a:pt x="339" y="367"/>
                  </a:cubicBezTo>
                  <a:cubicBezTo>
                    <a:pt x="339" y="280"/>
                    <a:pt x="402" y="212"/>
                    <a:pt x="483" y="212"/>
                  </a:cubicBezTo>
                  <a:cubicBezTo>
                    <a:pt x="549" y="212"/>
                    <a:pt x="610" y="266"/>
                    <a:pt x="606" y="332"/>
                  </a:cubicBezTo>
                  <a:lnTo>
                    <a:pt x="396" y="332"/>
                  </a:lnTo>
                  <a:lnTo>
                    <a:pt x="396" y="332"/>
                  </a:lnTo>
                  <a:close/>
                  <a:moveTo>
                    <a:pt x="114" y="269"/>
                  </a:moveTo>
                  <a:lnTo>
                    <a:pt x="114" y="269"/>
                  </a:lnTo>
                  <a:cubicBezTo>
                    <a:pt x="135" y="276"/>
                    <a:pt x="147" y="277"/>
                    <a:pt x="172" y="277"/>
                  </a:cubicBezTo>
                  <a:cubicBezTo>
                    <a:pt x="240" y="277"/>
                    <a:pt x="284" y="240"/>
                    <a:pt x="284" y="177"/>
                  </a:cubicBezTo>
                  <a:cubicBezTo>
                    <a:pt x="284" y="128"/>
                    <a:pt x="257" y="61"/>
                    <a:pt x="172" y="61"/>
                  </a:cubicBezTo>
                  <a:lnTo>
                    <a:pt x="114" y="61"/>
                  </a:lnTo>
                  <a:lnTo>
                    <a:pt x="114" y="269"/>
                  </a:lnTo>
                  <a:lnTo>
                    <a:pt x="114" y="269"/>
                  </a:lnTo>
                  <a:close/>
                  <a:moveTo>
                    <a:pt x="114" y="419"/>
                  </a:moveTo>
                  <a:lnTo>
                    <a:pt x="114" y="419"/>
                  </a:lnTo>
                  <a:cubicBezTo>
                    <a:pt x="114" y="477"/>
                    <a:pt x="128" y="493"/>
                    <a:pt x="167" y="493"/>
                  </a:cubicBezTo>
                  <a:lnTo>
                    <a:pt x="167" y="507"/>
                  </a:lnTo>
                  <a:lnTo>
                    <a:pt x="0" y="507"/>
                  </a:lnTo>
                  <a:lnTo>
                    <a:pt x="0" y="493"/>
                  </a:lnTo>
                  <a:cubicBezTo>
                    <a:pt x="33" y="493"/>
                    <a:pt x="53" y="482"/>
                    <a:pt x="53" y="421"/>
                  </a:cubicBezTo>
                  <a:lnTo>
                    <a:pt x="53" y="131"/>
                  </a:lnTo>
                  <a:cubicBezTo>
                    <a:pt x="53" y="74"/>
                    <a:pt x="39" y="57"/>
                    <a:pt x="0" y="57"/>
                  </a:cubicBezTo>
                  <a:lnTo>
                    <a:pt x="0" y="44"/>
                  </a:lnTo>
                  <a:lnTo>
                    <a:pt x="169" y="44"/>
                  </a:lnTo>
                  <a:cubicBezTo>
                    <a:pt x="297" y="44"/>
                    <a:pt x="349" y="111"/>
                    <a:pt x="349" y="175"/>
                  </a:cubicBezTo>
                  <a:cubicBezTo>
                    <a:pt x="349" y="252"/>
                    <a:pt x="290" y="295"/>
                    <a:pt x="185" y="295"/>
                  </a:cubicBezTo>
                  <a:cubicBezTo>
                    <a:pt x="165" y="295"/>
                    <a:pt x="148" y="294"/>
                    <a:pt x="114" y="290"/>
                  </a:cubicBezTo>
                  <a:lnTo>
                    <a:pt x="114" y="419"/>
                  </a:lnTo>
                  <a:lnTo>
                    <a:pt x="114" y="419"/>
                  </a:lnTo>
                  <a:close/>
                  <a:moveTo>
                    <a:pt x="3135" y="313"/>
                  </a:moveTo>
                  <a:lnTo>
                    <a:pt x="3135" y="313"/>
                  </a:lnTo>
                  <a:lnTo>
                    <a:pt x="3121" y="313"/>
                  </a:lnTo>
                  <a:cubicBezTo>
                    <a:pt x="3109" y="262"/>
                    <a:pt x="3073" y="229"/>
                    <a:pt x="3025" y="229"/>
                  </a:cubicBezTo>
                  <a:cubicBezTo>
                    <a:pt x="2968" y="229"/>
                    <a:pt x="2929" y="277"/>
                    <a:pt x="2929" y="347"/>
                  </a:cubicBezTo>
                  <a:cubicBezTo>
                    <a:pt x="2929" y="426"/>
                    <a:pt x="2978" y="491"/>
                    <a:pt x="3036" y="491"/>
                  </a:cubicBezTo>
                  <a:cubicBezTo>
                    <a:pt x="3071" y="491"/>
                    <a:pt x="3113" y="473"/>
                    <a:pt x="3143" y="431"/>
                  </a:cubicBezTo>
                  <a:lnTo>
                    <a:pt x="3143" y="452"/>
                  </a:lnTo>
                  <a:cubicBezTo>
                    <a:pt x="3112" y="494"/>
                    <a:pt x="3069" y="515"/>
                    <a:pt x="3017" y="515"/>
                  </a:cubicBezTo>
                  <a:cubicBezTo>
                    <a:pt x="2932" y="515"/>
                    <a:pt x="2873" y="456"/>
                    <a:pt x="2873" y="371"/>
                  </a:cubicBezTo>
                  <a:cubicBezTo>
                    <a:pt x="2873" y="283"/>
                    <a:pt x="2939" y="212"/>
                    <a:pt x="3021" y="212"/>
                  </a:cubicBezTo>
                  <a:cubicBezTo>
                    <a:pt x="3064" y="212"/>
                    <a:pt x="3087" y="229"/>
                    <a:pt x="3102" y="229"/>
                  </a:cubicBezTo>
                  <a:cubicBezTo>
                    <a:pt x="3109" y="229"/>
                    <a:pt x="3116" y="223"/>
                    <a:pt x="3121" y="212"/>
                  </a:cubicBezTo>
                  <a:lnTo>
                    <a:pt x="3135" y="212"/>
                  </a:lnTo>
                  <a:lnTo>
                    <a:pt x="3135" y="31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3618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7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C">
    <p:bg>
      <p:bgPr>
        <a:gradFill>
          <a:gsLst>
            <a:gs pos="87000">
              <a:srgbClr val="1F538F"/>
            </a:gs>
            <a:gs pos="52000">
              <a:schemeClr val="accent1"/>
            </a:gs>
            <a:gs pos="100000">
              <a:schemeClr val="accent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uides" hidden="1">
            <a:extLst>
              <a:ext uri="{FF2B5EF4-FFF2-40B4-BE49-F238E27FC236}">
                <a16:creationId xmlns:a16="http://schemas.microsoft.com/office/drawing/2014/main" id="{768174D0-A75B-3CA3-FFC4-1ED1D5AE032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713D132-8C61-C600-AFB3-F62335C60208}"/>
              </a:ext>
            </a:extLst>
          </p:cNvPr>
          <p:cNvGrpSpPr/>
          <p:nvPr userDrawn="1"/>
        </p:nvGrpSpPr>
        <p:grpSpPr>
          <a:xfrm>
            <a:off x="4724397" y="3211027"/>
            <a:ext cx="2743202" cy="435946"/>
            <a:chOff x="4724397" y="3211027"/>
            <a:chExt cx="2743202" cy="43594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FF09B02-6C86-BF07-BC42-4DA86C0C91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6053"/>
            <a:stretch/>
          </p:blipFill>
          <p:spPr>
            <a:xfrm>
              <a:off x="4724397" y="3211027"/>
              <a:ext cx="381588" cy="435946"/>
            </a:xfrm>
            <a:prstGeom prst="rect">
              <a:avLst/>
            </a:prstGeom>
          </p:spPr>
        </p:pic>
        <p:sp>
          <p:nvSpPr>
            <p:cNvPr id="10" name="Freeform 33">
              <a:extLst>
                <a:ext uri="{FF2B5EF4-FFF2-40B4-BE49-F238E27FC236}">
                  <a16:creationId xmlns:a16="http://schemas.microsoft.com/office/drawing/2014/main" id="{C106549B-7A55-FB9D-40AE-058D5282DBEE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5218111" y="3211027"/>
              <a:ext cx="2249488" cy="295275"/>
            </a:xfrm>
            <a:custGeom>
              <a:avLst/>
              <a:gdLst>
                <a:gd name="T0" fmla="*/ 3918 w 3977"/>
                <a:gd name="T1" fmla="*/ 318 h 515"/>
                <a:gd name="T2" fmla="*/ 3977 w 3977"/>
                <a:gd name="T3" fmla="*/ 433 h 515"/>
                <a:gd name="T4" fmla="*/ 3973 w 3977"/>
                <a:gd name="T5" fmla="*/ 332 h 515"/>
                <a:gd name="T6" fmla="*/ 3688 w 3977"/>
                <a:gd name="T7" fmla="*/ 493 h 515"/>
                <a:gd name="T8" fmla="*/ 3585 w 3977"/>
                <a:gd name="T9" fmla="*/ 308 h 515"/>
                <a:gd name="T10" fmla="*/ 3488 w 3977"/>
                <a:gd name="T11" fmla="*/ 507 h 515"/>
                <a:gd name="T12" fmla="*/ 3337 w 3977"/>
                <a:gd name="T13" fmla="*/ 235 h 515"/>
                <a:gd name="T14" fmla="*/ 3543 w 3977"/>
                <a:gd name="T15" fmla="*/ 212 h 515"/>
                <a:gd name="T16" fmla="*/ 3280 w 3977"/>
                <a:gd name="T17" fmla="*/ 99 h 515"/>
                <a:gd name="T18" fmla="*/ 3280 w 3977"/>
                <a:gd name="T19" fmla="*/ 99 h 515"/>
                <a:gd name="T20" fmla="*/ 3163 w 3977"/>
                <a:gd name="T21" fmla="*/ 507 h 515"/>
                <a:gd name="T22" fmla="*/ 3163 w 3977"/>
                <a:gd name="T23" fmla="*/ 221 h 515"/>
                <a:gd name="T24" fmla="*/ 2812 w 3977"/>
                <a:gd name="T25" fmla="*/ 99 h 515"/>
                <a:gd name="T26" fmla="*/ 2812 w 3977"/>
                <a:gd name="T27" fmla="*/ 99 h 515"/>
                <a:gd name="T28" fmla="*/ 2852 w 3977"/>
                <a:gd name="T29" fmla="*/ 507 h 515"/>
                <a:gd name="T30" fmla="*/ 2695 w 3977"/>
                <a:gd name="T31" fmla="*/ 235 h 515"/>
                <a:gd name="T32" fmla="*/ 2804 w 3977"/>
                <a:gd name="T33" fmla="*/ 453 h 515"/>
                <a:gd name="T34" fmla="*/ 2521 w 3977"/>
                <a:gd name="T35" fmla="*/ 494 h 515"/>
                <a:gd name="T36" fmla="*/ 2621 w 3977"/>
                <a:gd name="T37" fmla="*/ 451 h 515"/>
                <a:gd name="T38" fmla="*/ 2470 w 3977"/>
                <a:gd name="T39" fmla="*/ 212 h 515"/>
                <a:gd name="T40" fmla="*/ 2512 w 3977"/>
                <a:gd name="T41" fmla="*/ 9 h 515"/>
                <a:gd name="T42" fmla="*/ 2236 w 3977"/>
                <a:gd name="T43" fmla="*/ 318 h 515"/>
                <a:gd name="T44" fmla="*/ 2236 w 3977"/>
                <a:gd name="T45" fmla="*/ 318 h 515"/>
                <a:gd name="T46" fmla="*/ 2295 w 3977"/>
                <a:gd name="T47" fmla="*/ 454 h 515"/>
                <a:gd name="T48" fmla="*/ 2080 w 3977"/>
                <a:gd name="T49" fmla="*/ 332 h 515"/>
                <a:gd name="T50" fmla="*/ 1949 w 3977"/>
                <a:gd name="T51" fmla="*/ 414 h 515"/>
                <a:gd name="T52" fmla="*/ 1887 w 3977"/>
                <a:gd name="T53" fmla="*/ 423 h 515"/>
                <a:gd name="T54" fmla="*/ 1537 w 3977"/>
                <a:gd name="T55" fmla="*/ 124 h 515"/>
                <a:gd name="T56" fmla="*/ 1426 w 3977"/>
                <a:gd name="T57" fmla="*/ 507 h 515"/>
                <a:gd name="T58" fmla="*/ 1453 w 3977"/>
                <a:gd name="T59" fmla="*/ 44 h 515"/>
                <a:gd name="T60" fmla="*/ 1977 w 3977"/>
                <a:gd name="T61" fmla="*/ 57 h 515"/>
                <a:gd name="T62" fmla="*/ 1342 w 3977"/>
                <a:gd name="T63" fmla="*/ 507 h 515"/>
                <a:gd name="T64" fmla="*/ 1175 w 3977"/>
                <a:gd name="T65" fmla="*/ 242 h 515"/>
                <a:gd name="T66" fmla="*/ 991 w 3977"/>
                <a:gd name="T67" fmla="*/ 507 h 515"/>
                <a:gd name="T68" fmla="*/ 991 w 3977"/>
                <a:gd name="T69" fmla="*/ 221 h 515"/>
                <a:gd name="T70" fmla="*/ 1294 w 3977"/>
                <a:gd name="T71" fmla="*/ 315 h 515"/>
                <a:gd name="T72" fmla="*/ 978 w 3977"/>
                <a:gd name="T73" fmla="*/ 493 h 515"/>
                <a:gd name="T74" fmla="*/ 875 w 3977"/>
                <a:gd name="T75" fmla="*/ 308 h 515"/>
                <a:gd name="T76" fmla="*/ 778 w 3977"/>
                <a:gd name="T77" fmla="*/ 507 h 515"/>
                <a:gd name="T78" fmla="*/ 627 w 3977"/>
                <a:gd name="T79" fmla="*/ 235 h 515"/>
                <a:gd name="T80" fmla="*/ 833 w 3977"/>
                <a:gd name="T81" fmla="*/ 212 h 515"/>
                <a:gd name="T82" fmla="*/ 552 w 3977"/>
                <a:gd name="T83" fmla="*/ 318 h 515"/>
                <a:gd name="T84" fmla="*/ 396 w 3977"/>
                <a:gd name="T85" fmla="*/ 332 h 515"/>
                <a:gd name="T86" fmla="*/ 493 w 3977"/>
                <a:gd name="T87" fmla="*/ 515 h 515"/>
                <a:gd name="T88" fmla="*/ 396 w 3977"/>
                <a:gd name="T89" fmla="*/ 332 h 515"/>
                <a:gd name="T90" fmla="*/ 172 w 3977"/>
                <a:gd name="T91" fmla="*/ 61 h 515"/>
                <a:gd name="T92" fmla="*/ 114 w 3977"/>
                <a:gd name="T93" fmla="*/ 419 h 515"/>
                <a:gd name="T94" fmla="*/ 53 w 3977"/>
                <a:gd name="T95" fmla="*/ 421 h 515"/>
                <a:gd name="T96" fmla="*/ 349 w 3977"/>
                <a:gd name="T97" fmla="*/ 175 h 515"/>
                <a:gd name="T98" fmla="*/ 3135 w 3977"/>
                <a:gd name="T99" fmla="*/ 313 h 515"/>
                <a:gd name="T100" fmla="*/ 3036 w 3977"/>
                <a:gd name="T101" fmla="*/ 491 h 515"/>
                <a:gd name="T102" fmla="*/ 3021 w 3977"/>
                <a:gd name="T103" fmla="*/ 212 h 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77" h="515">
                  <a:moveTo>
                    <a:pt x="3918" y="318"/>
                  </a:moveTo>
                  <a:lnTo>
                    <a:pt x="3918" y="318"/>
                  </a:lnTo>
                  <a:cubicBezTo>
                    <a:pt x="3921" y="255"/>
                    <a:pt x="3878" y="229"/>
                    <a:pt x="3842" y="229"/>
                  </a:cubicBezTo>
                  <a:cubicBezTo>
                    <a:pt x="3794" y="229"/>
                    <a:pt x="3766" y="265"/>
                    <a:pt x="3762" y="318"/>
                  </a:cubicBezTo>
                  <a:lnTo>
                    <a:pt x="3918" y="318"/>
                  </a:lnTo>
                  <a:lnTo>
                    <a:pt x="3918" y="318"/>
                  </a:lnTo>
                  <a:close/>
                  <a:moveTo>
                    <a:pt x="3762" y="332"/>
                  </a:moveTo>
                  <a:lnTo>
                    <a:pt x="3762" y="332"/>
                  </a:lnTo>
                  <a:cubicBezTo>
                    <a:pt x="3761" y="461"/>
                    <a:pt x="3838" y="493"/>
                    <a:pt x="3876" y="493"/>
                  </a:cubicBezTo>
                  <a:cubicBezTo>
                    <a:pt x="3916" y="493"/>
                    <a:pt x="3936" y="479"/>
                    <a:pt x="3977" y="433"/>
                  </a:cubicBezTo>
                  <a:lnTo>
                    <a:pt x="3977" y="454"/>
                  </a:lnTo>
                  <a:cubicBezTo>
                    <a:pt x="3943" y="498"/>
                    <a:pt x="3909" y="515"/>
                    <a:pt x="3859" y="515"/>
                  </a:cubicBezTo>
                  <a:cubicBezTo>
                    <a:pt x="3770" y="515"/>
                    <a:pt x="3705" y="453"/>
                    <a:pt x="3705" y="367"/>
                  </a:cubicBezTo>
                  <a:cubicBezTo>
                    <a:pt x="3705" y="280"/>
                    <a:pt x="3768" y="212"/>
                    <a:pt x="3849" y="212"/>
                  </a:cubicBezTo>
                  <a:cubicBezTo>
                    <a:pt x="3915" y="212"/>
                    <a:pt x="3977" y="266"/>
                    <a:pt x="3973" y="332"/>
                  </a:cubicBezTo>
                  <a:lnTo>
                    <a:pt x="3762" y="332"/>
                  </a:lnTo>
                  <a:lnTo>
                    <a:pt x="3762" y="332"/>
                  </a:lnTo>
                  <a:close/>
                  <a:moveTo>
                    <a:pt x="3640" y="444"/>
                  </a:moveTo>
                  <a:lnTo>
                    <a:pt x="3640" y="444"/>
                  </a:lnTo>
                  <a:cubicBezTo>
                    <a:pt x="3640" y="482"/>
                    <a:pt x="3648" y="493"/>
                    <a:pt x="3688" y="493"/>
                  </a:cubicBezTo>
                  <a:lnTo>
                    <a:pt x="3688" y="507"/>
                  </a:lnTo>
                  <a:lnTo>
                    <a:pt x="3536" y="507"/>
                  </a:lnTo>
                  <a:lnTo>
                    <a:pt x="3536" y="493"/>
                  </a:lnTo>
                  <a:cubicBezTo>
                    <a:pt x="3574" y="493"/>
                    <a:pt x="3585" y="484"/>
                    <a:pt x="3585" y="457"/>
                  </a:cubicBezTo>
                  <a:lnTo>
                    <a:pt x="3585" y="308"/>
                  </a:lnTo>
                  <a:cubicBezTo>
                    <a:pt x="3585" y="262"/>
                    <a:pt x="3552" y="242"/>
                    <a:pt x="3521" y="242"/>
                  </a:cubicBezTo>
                  <a:cubicBezTo>
                    <a:pt x="3493" y="242"/>
                    <a:pt x="3468" y="260"/>
                    <a:pt x="3439" y="298"/>
                  </a:cubicBezTo>
                  <a:lnTo>
                    <a:pt x="3439" y="438"/>
                  </a:lnTo>
                  <a:cubicBezTo>
                    <a:pt x="3439" y="482"/>
                    <a:pt x="3445" y="493"/>
                    <a:pt x="3488" y="493"/>
                  </a:cubicBezTo>
                  <a:lnTo>
                    <a:pt x="3488" y="507"/>
                  </a:lnTo>
                  <a:lnTo>
                    <a:pt x="3337" y="507"/>
                  </a:lnTo>
                  <a:lnTo>
                    <a:pt x="3337" y="493"/>
                  </a:lnTo>
                  <a:cubicBezTo>
                    <a:pt x="3375" y="493"/>
                    <a:pt x="3385" y="490"/>
                    <a:pt x="3385" y="438"/>
                  </a:cubicBezTo>
                  <a:lnTo>
                    <a:pt x="3385" y="277"/>
                  </a:lnTo>
                  <a:cubicBezTo>
                    <a:pt x="3385" y="242"/>
                    <a:pt x="3376" y="235"/>
                    <a:pt x="3337" y="235"/>
                  </a:cubicBezTo>
                  <a:lnTo>
                    <a:pt x="3337" y="221"/>
                  </a:lnTo>
                  <a:lnTo>
                    <a:pt x="3426" y="212"/>
                  </a:lnTo>
                  <a:lnTo>
                    <a:pt x="3439" y="212"/>
                  </a:lnTo>
                  <a:lnTo>
                    <a:pt x="3439" y="270"/>
                  </a:lnTo>
                  <a:cubicBezTo>
                    <a:pt x="3473" y="231"/>
                    <a:pt x="3507" y="212"/>
                    <a:pt x="3543" y="212"/>
                  </a:cubicBezTo>
                  <a:cubicBezTo>
                    <a:pt x="3591" y="212"/>
                    <a:pt x="3640" y="246"/>
                    <a:pt x="3640" y="315"/>
                  </a:cubicBezTo>
                  <a:lnTo>
                    <a:pt x="3640" y="444"/>
                  </a:lnTo>
                  <a:lnTo>
                    <a:pt x="3640" y="444"/>
                  </a:lnTo>
                  <a:close/>
                  <a:moveTo>
                    <a:pt x="3280" y="99"/>
                  </a:moveTo>
                  <a:lnTo>
                    <a:pt x="3280" y="99"/>
                  </a:lnTo>
                  <a:cubicBezTo>
                    <a:pt x="3280" y="119"/>
                    <a:pt x="3265" y="135"/>
                    <a:pt x="3245" y="135"/>
                  </a:cubicBezTo>
                  <a:cubicBezTo>
                    <a:pt x="3226" y="135"/>
                    <a:pt x="3210" y="119"/>
                    <a:pt x="3210" y="99"/>
                  </a:cubicBezTo>
                  <a:cubicBezTo>
                    <a:pt x="3210" y="80"/>
                    <a:pt x="3226" y="65"/>
                    <a:pt x="3245" y="65"/>
                  </a:cubicBezTo>
                  <a:cubicBezTo>
                    <a:pt x="3265" y="65"/>
                    <a:pt x="3280" y="80"/>
                    <a:pt x="3280" y="99"/>
                  </a:cubicBezTo>
                  <a:lnTo>
                    <a:pt x="3280" y="99"/>
                  </a:lnTo>
                  <a:close/>
                  <a:moveTo>
                    <a:pt x="3272" y="453"/>
                  </a:moveTo>
                  <a:lnTo>
                    <a:pt x="3272" y="453"/>
                  </a:lnTo>
                  <a:cubicBezTo>
                    <a:pt x="3272" y="482"/>
                    <a:pt x="3279" y="493"/>
                    <a:pt x="3320" y="493"/>
                  </a:cubicBezTo>
                  <a:lnTo>
                    <a:pt x="3320" y="507"/>
                  </a:lnTo>
                  <a:lnTo>
                    <a:pt x="3163" y="507"/>
                  </a:lnTo>
                  <a:lnTo>
                    <a:pt x="3163" y="493"/>
                  </a:lnTo>
                  <a:cubicBezTo>
                    <a:pt x="3207" y="493"/>
                    <a:pt x="3217" y="487"/>
                    <a:pt x="3217" y="453"/>
                  </a:cubicBezTo>
                  <a:lnTo>
                    <a:pt x="3217" y="278"/>
                  </a:lnTo>
                  <a:cubicBezTo>
                    <a:pt x="3217" y="238"/>
                    <a:pt x="3205" y="235"/>
                    <a:pt x="3163" y="235"/>
                  </a:cubicBezTo>
                  <a:lnTo>
                    <a:pt x="3163" y="221"/>
                  </a:lnTo>
                  <a:lnTo>
                    <a:pt x="3258" y="212"/>
                  </a:lnTo>
                  <a:lnTo>
                    <a:pt x="3272" y="212"/>
                  </a:lnTo>
                  <a:lnTo>
                    <a:pt x="3272" y="453"/>
                  </a:lnTo>
                  <a:lnTo>
                    <a:pt x="3272" y="453"/>
                  </a:lnTo>
                  <a:close/>
                  <a:moveTo>
                    <a:pt x="2812" y="99"/>
                  </a:moveTo>
                  <a:lnTo>
                    <a:pt x="2812" y="99"/>
                  </a:lnTo>
                  <a:cubicBezTo>
                    <a:pt x="2812" y="119"/>
                    <a:pt x="2797" y="135"/>
                    <a:pt x="2778" y="135"/>
                  </a:cubicBezTo>
                  <a:cubicBezTo>
                    <a:pt x="2758" y="135"/>
                    <a:pt x="2742" y="119"/>
                    <a:pt x="2742" y="99"/>
                  </a:cubicBezTo>
                  <a:cubicBezTo>
                    <a:pt x="2742" y="80"/>
                    <a:pt x="2758" y="65"/>
                    <a:pt x="2778" y="65"/>
                  </a:cubicBezTo>
                  <a:cubicBezTo>
                    <a:pt x="2797" y="65"/>
                    <a:pt x="2812" y="80"/>
                    <a:pt x="2812" y="99"/>
                  </a:cubicBezTo>
                  <a:lnTo>
                    <a:pt x="2812" y="99"/>
                  </a:lnTo>
                  <a:close/>
                  <a:moveTo>
                    <a:pt x="2804" y="453"/>
                  </a:moveTo>
                  <a:lnTo>
                    <a:pt x="2804" y="453"/>
                  </a:lnTo>
                  <a:cubicBezTo>
                    <a:pt x="2804" y="482"/>
                    <a:pt x="2811" y="493"/>
                    <a:pt x="2852" y="493"/>
                  </a:cubicBezTo>
                  <a:lnTo>
                    <a:pt x="2852" y="507"/>
                  </a:lnTo>
                  <a:lnTo>
                    <a:pt x="2695" y="507"/>
                  </a:lnTo>
                  <a:lnTo>
                    <a:pt x="2695" y="493"/>
                  </a:lnTo>
                  <a:cubicBezTo>
                    <a:pt x="2739" y="493"/>
                    <a:pt x="2749" y="487"/>
                    <a:pt x="2749" y="453"/>
                  </a:cubicBezTo>
                  <a:lnTo>
                    <a:pt x="2749" y="278"/>
                  </a:lnTo>
                  <a:cubicBezTo>
                    <a:pt x="2749" y="238"/>
                    <a:pt x="2737" y="235"/>
                    <a:pt x="2695" y="235"/>
                  </a:cubicBezTo>
                  <a:lnTo>
                    <a:pt x="2695" y="221"/>
                  </a:lnTo>
                  <a:lnTo>
                    <a:pt x="2790" y="212"/>
                  </a:lnTo>
                  <a:lnTo>
                    <a:pt x="2804" y="212"/>
                  </a:lnTo>
                  <a:lnTo>
                    <a:pt x="2804" y="453"/>
                  </a:lnTo>
                  <a:lnTo>
                    <a:pt x="2804" y="453"/>
                  </a:lnTo>
                  <a:close/>
                  <a:moveTo>
                    <a:pt x="2566" y="278"/>
                  </a:moveTo>
                  <a:lnTo>
                    <a:pt x="2566" y="278"/>
                  </a:lnTo>
                  <a:cubicBezTo>
                    <a:pt x="2543" y="247"/>
                    <a:pt x="2512" y="229"/>
                    <a:pt x="2483" y="229"/>
                  </a:cubicBezTo>
                  <a:cubicBezTo>
                    <a:pt x="2431" y="229"/>
                    <a:pt x="2395" y="276"/>
                    <a:pt x="2395" y="346"/>
                  </a:cubicBezTo>
                  <a:cubicBezTo>
                    <a:pt x="2395" y="414"/>
                    <a:pt x="2427" y="494"/>
                    <a:pt x="2521" y="494"/>
                  </a:cubicBezTo>
                  <a:cubicBezTo>
                    <a:pt x="2553" y="494"/>
                    <a:pt x="2566" y="481"/>
                    <a:pt x="2566" y="450"/>
                  </a:cubicBezTo>
                  <a:lnTo>
                    <a:pt x="2566" y="278"/>
                  </a:lnTo>
                  <a:lnTo>
                    <a:pt x="2566" y="278"/>
                  </a:lnTo>
                  <a:close/>
                  <a:moveTo>
                    <a:pt x="2621" y="451"/>
                  </a:moveTo>
                  <a:lnTo>
                    <a:pt x="2621" y="451"/>
                  </a:lnTo>
                  <a:cubicBezTo>
                    <a:pt x="2621" y="482"/>
                    <a:pt x="2632" y="493"/>
                    <a:pt x="2669" y="493"/>
                  </a:cubicBezTo>
                  <a:lnTo>
                    <a:pt x="2669" y="507"/>
                  </a:lnTo>
                  <a:lnTo>
                    <a:pt x="2502" y="507"/>
                  </a:lnTo>
                  <a:cubicBezTo>
                    <a:pt x="2381" y="507"/>
                    <a:pt x="2336" y="425"/>
                    <a:pt x="2336" y="358"/>
                  </a:cubicBezTo>
                  <a:cubicBezTo>
                    <a:pt x="2336" y="277"/>
                    <a:pt x="2395" y="212"/>
                    <a:pt x="2470" y="212"/>
                  </a:cubicBezTo>
                  <a:cubicBezTo>
                    <a:pt x="2500" y="212"/>
                    <a:pt x="2530" y="223"/>
                    <a:pt x="2566" y="247"/>
                  </a:cubicBezTo>
                  <a:lnTo>
                    <a:pt x="2566" y="72"/>
                  </a:lnTo>
                  <a:cubicBezTo>
                    <a:pt x="2566" y="31"/>
                    <a:pt x="2556" y="23"/>
                    <a:pt x="2528" y="23"/>
                  </a:cubicBezTo>
                  <a:lnTo>
                    <a:pt x="2512" y="23"/>
                  </a:lnTo>
                  <a:lnTo>
                    <a:pt x="2512" y="9"/>
                  </a:lnTo>
                  <a:lnTo>
                    <a:pt x="2607" y="0"/>
                  </a:lnTo>
                  <a:lnTo>
                    <a:pt x="2621" y="0"/>
                  </a:lnTo>
                  <a:lnTo>
                    <a:pt x="2621" y="451"/>
                  </a:lnTo>
                  <a:lnTo>
                    <a:pt x="2621" y="451"/>
                  </a:lnTo>
                  <a:close/>
                  <a:moveTo>
                    <a:pt x="2236" y="318"/>
                  </a:moveTo>
                  <a:lnTo>
                    <a:pt x="2236" y="318"/>
                  </a:lnTo>
                  <a:cubicBezTo>
                    <a:pt x="2239" y="255"/>
                    <a:pt x="2196" y="229"/>
                    <a:pt x="2159" y="229"/>
                  </a:cubicBezTo>
                  <a:cubicBezTo>
                    <a:pt x="2112" y="229"/>
                    <a:pt x="2083" y="265"/>
                    <a:pt x="2080" y="318"/>
                  </a:cubicBezTo>
                  <a:lnTo>
                    <a:pt x="2236" y="318"/>
                  </a:lnTo>
                  <a:lnTo>
                    <a:pt x="2236" y="318"/>
                  </a:lnTo>
                  <a:close/>
                  <a:moveTo>
                    <a:pt x="2080" y="332"/>
                  </a:moveTo>
                  <a:lnTo>
                    <a:pt x="2080" y="332"/>
                  </a:lnTo>
                  <a:cubicBezTo>
                    <a:pt x="2079" y="461"/>
                    <a:pt x="2155" y="493"/>
                    <a:pt x="2194" y="493"/>
                  </a:cubicBezTo>
                  <a:cubicBezTo>
                    <a:pt x="2234" y="493"/>
                    <a:pt x="2254" y="479"/>
                    <a:pt x="2295" y="433"/>
                  </a:cubicBezTo>
                  <a:lnTo>
                    <a:pt x="2295" y="454"/>
                  </a:lnTo>
                  <a:cubicBezTo>
                    <a:pt x="2260" y="498"/>
                    <a:pt x="2227" y="515"/>
                    <a:pt x="2177" y="515"/>
                  </a:cubicBezTo>
                  <a:cubicBezTo>
                    <a:pt x="2088" y="515"/>
                    <a:pt x="2023" y="453"/>
                    <a:pt x="2023" y="367"/>
                  </a:cubicBezTo>
                  <a:cubicBezTo>
                    <a:pt x="2023" y="280"/>
                    <a:pt x="2086" y="212"/>
                    <a:pt x="2167" y="212"/>
                  </a:cubicBezTo>
                  <a:cubicBezTo>
                    <a:pt x="2233" y="212"/>
                    <a:pt x="2294" y="266"/>
                    <a:pt x="2290" y="332"/>
                  </a:cubicBezTo>
                  <a:lnTo>
                    <a:pt x="2080" y="332"/>
                  </a:lnTo>
                  <a:lnTo>
                    <a:pt x="2080" y="332"/>
                  </a:lnTo>
                  <a:close/>
                  <a:moveTo>
                    <a:pt x="1977" y="57"/>
                  </a:moveTo>
                  <a:lnTo>
                    <a:pt x="1977" y="57"/>
                  </a:lnTo>
                  <a:cubicBezTo>
                    <a:pt x="1937" y="58"/>
                    <a:pt x="1922" y="86"/>
                    <a:pt x="1925" y="129"/>
                  </a:cubicBezTo>
                  <a:lnTo>
                    <a:pt x="1949" y="414"/>
                  </a:lnTo>
                  <a:cubicBezTo>
                    <a:pt x="1954" y="471"/>
                    <a:pt x="1963" y="489"/>
                    <a:pt x="2006" y="493"/>
                  </a:cubicBezTo>
                  <a:lnTo>
                    <a:pt x="2006" y="507"/>
                  </a:lnTo>
                  <a:lnTo>
                    <a:pt x="1840" y="507"/>
                  </a:lnTo>
                  <a:lnTo>
                    <a:pt x="1840" y="493"/>
                  </a:lnTo>
                  <a:cubicBezTo>
                    <a:pt x="1878" y="486"/>
                    <a:pt x="1890" y="469"/>
                    <a:pt x="1887" y="423"/>
                  </a:cubicBezTo>
                  <a:lnTo>
                    <a:pt x="1865" y="124"/>
                  </a:lnTo>
                  <a:lnTo>
                    <a:pt x="1863" y="124"/>
                  </a:lnTo>
                  <a:lnTo>
                    <a:pt x="1705" y="507"/>
                  </a:lnTo>
                  <a:lnTo>
                    <a:pt x="1693" y="507"/>
                  </a:lnTo>
                  <a:lnTo>
                    <a:pt x="1537" y="124"/>
                  </a:lnTo>
                  <a:lnTo>
                    <a:pt x="1536" y="124"/>
                  </a:lnTo>
                  <a:lnTo>
                    <a:pt x="1510" y="410"/>
                  </a:lnTo>
                  <a:cubicBezTo>
                    <a:pt x="1506" y="456"/>
                    <a:pt x="1523" y="484"/>
                    <a:pt x="1570" y="493"/>
                  </a:cubicBezTo>
                  <a:lnTo>
                    <a:pt x="1570" y="507"/>
                  </a:lnTo>
                  <a:lnTo>
                    <a:pt x="1426" y="507"/>
                  </a:lnTo>
                  <a:lnTo>
                    <a:pt x="1426" y="493"/>
                  </a:lnTo>
                  <a:cubicBezTo>
                    <a:pt x="1473" y="486"/>
                    <a:pt x="1480" y="459"/>
                    <a:pt x="1485" y="408"/>
                  </a:cubicBezTo>
                  <a:lnTo>
                    <a:pt x="1513" y="90"/>
                  </a:lnTo>
                  <a:cubicBezTo>
                    <a:pt x="1495" y="70"/>
                    <a:pt x="1479" y="61"/>
                    <a:pt x="1453" y="57"/>
                  </a:cubicBezTo>
                  <a:lnTo>
                    <a:pt x="1453" y="44"/>
                  </a:lnTo>
                  <a:lnTo>
                    <a:pt x="1570" y="44"/>
                  </a:lnTo>
                  <a:lnTo>
                    <a:pt x="1718" y="408"/>
                  </a:lnTo>
                  <a:lnTo>
                    <a:pt x="1868" y="44"/>
                  </a:lnTo>
                  <a:lnTo>
                    <a:pt x="1977" y="44"/>
                  </a:lnTo>
                  <a:lnTo>
                    <a:pt x="1977" y="57"/>
                  </a:lnTo>
                  <a:lnTo>
                    <a:pt x="1977" y="57"/>
                  </a:lnTo>
                  <a:close/>
                  <a:moveTo>
                    <a:pt x="1294" y="444"/>
                  </a:moveTo>
                  <a:lnTo>
                    <a:pt x="1294" y="444"/>
                  </a:lnTo>
                  <a:cubicBezTo>
                    <a:pt x="1294" y="482"/>
                    <a:pt x="1302" y="493"/>
                    <a:pt x="1342" y="493"/>
                  </a:cubicBezTo>
                  <a:lnTo>
                    <a:pt x="1342" y="507"/>
                  </a:lnTo>
                  <a:lnTo>
                    <a:pt x="1190" y="507"/>
                  </a:lnTo>
                  <a:lnTo>
                    <a:pt x="1190" y="493"/>
                  </a:lnTo>
                  <a:cubicBezTo>
                    <a:pt x="1228" y="493"/>
                    <a:pt x="1239" y="484"/>
                    <a:pt x="1239" y="457"/>
                  </a:cubicBezTo>
                  <a:lnTo>
                    <a:pt x="1239" y="308"/>
                  </a:lnTo>
                  <a:cubicBezTo>
                    <a:pt x="1239" y="262"/>
                    <a:pt x="1206" y="242"/>
                    <a:pt x="1175" y="242"/>
                  </a:cubicBezTo>
                  <a:cubicBezTo>
                    <a:pt x="1147" y="242"/>
                    <a:pt x="1122" y="260"/>
                    <a:pt x="1093" y="298"/>
                  </a:cubicBezTo>
                  <a:lnTo>
                    <a:pt x="1093" y="438"/>
                  </a:lnTo>
                  <a:cubicBezTo>
                    <a:pt x="1093" y="482"/>
                    <a:pt x="1099" y="493"/>
                    <a:pt x="1142" y="493"/>
                  </a:cubicBezTo>
                  <a:lnTo>
                    <a:pt x="1142" y="507"/>
                  </a:lnTo>
                  <a:lnTo>
                    <a:pt x="991" y="507"/>
                  </a:lnTo>
                  <a:lnTo>
                    <a:pt x="991" y="493"/>
                  </a:lnTo>
                  <a:cubicBezTo>
                    <a:pt x="1029" y="493"/>
                    <a:pt x="1039" y="490"/>
                    <a:pt x="1039" y="438"/>
                  </a:cubicBezTo>
                  <a:lnTo>
                    <a:pt x="1039" y="277"/>
                  </a:lnTo>
                  <a:cubicBezTo>
                    <a:pt x="1039" y="242"/>
                    <a:pt x="1030" y="235"/>
                    <a:pt x="991" y="235"/>
                  </a:cubicBezTo>
                  <a:lnTo>
                    <a:pt x="991" y="221"/>
                  </a:lnTo>
                  <a:lnTo>
                    <a:pt x="1080" y="212"/>
                  </a:lnTo>
                  <a:lnTo>
                    <a:pt x="1093" y="212"/>
                  </a:lnTo>
                  <a:lnTo>
                    <a:pt x="1093" y="270"/>
                  </a:lnTo>
                  <a:cubicBezTo>
                    <a:pt x="1127" y="231"/>
                    <a:pt x="1161" y="212"/>
                    <a:pt x="1197" y="212"/>
                  </a:cubicBezTo>
                  <a:cubicBezTo>
                    <a:pt x="1245" y="212"/>
                    <a:pt x="1294" y="246"/>
                    <a:pt x="1294" y="315"/>
                  </a:cubicBezTo>
                  <a:lnTo>
                    <a:pt x="1294" y="444"/>
                  </a:lnTo>
                  <a:lnTo>
                    <a:pt x="1294" y="444"/>
                  </a:lnTo>
                  <a:close/>
                  <a:moveTo>
                    <a:pt x="930" y="444"/>
                  </a:moveTo>
                  <a:lnTo>
                    <a:pt x="930" y="444"/>
                  </a:lnTo>
                  <a:cubicBezTo>
                    <a:pt x="930" y="482"/>
                    <a:pt x="938" y="493"/>
                    <a:pt x="978" y="493"/>
                  </a:cubicBezTo>
                  <a:lnTo>
                    <a:pt x="978" y="507"/>
                  </a:lnTo>
                  <a:lnTo>
                    <a:pt x="826" y="507"/>
                  </a:lnTo>
                  <a:lnTo>
                    <a:pt x="826" y="493"/>
                  </a:lnTo>
                  <a:cubicBezTo>
                    <a:pt x="864" y="493"/>
                    <a:pt x="875" y="484"/>
                    <a:pt x="875" y="457"/>
                  </a:cubicBezTo>
                  <a:lnTo>
                    <a:pt x="875" y="308"/>
                  </a:lnTo>
                  <a:cubicBezTo>
                    <a:pt x="875" y="262"/>
                    <a:pt x="842" y="242"/>
                    <a:pt x="811" y="242"/>
                  </a:cubicBezTo>
                  <a:cubicBezTo>
                    <a:pt x="783" y="242"/>
                    <a:pt x="758" y="260"/>
                    <a:pt x="730" y="298"/>
                  </a:cubicBezTo>
                  <a:lnTo>
                    <a:pt x="730" y="438"/>
                  </a:lnTo>
                  <a:cubicBezTo>
                    <a:pt x="730" y="482"/>
                    <a:pt x="735" y="493"/>
                    <a:pt x="778" y="493"/>
                  </a:cubicBezTo>
                  <a:lnTo>
                    <a:pt x="778" y="507"/>
                  </a:lnTo>
                  <a:lnTo>
                    <a:pt x="627" y="507"/>
                  </a:lnTo>
                  <a:lnTo>
                    <a:pt x="627" y="493"/>
                  </a:lnTo>
                  <a:cubicBezTo>
                    <a:pt x="665" y="493"/>
                    <a:pt x="675" y="490"/>
                    <a:pt x="675" y="438"/>
                  </a:cubicBezTo>
                  <a:lnTo>
                    <a:pt x="675" y="277"/>
                  </a:lnTo>
                  <a:cubicBezTo>
                    <a:pt x="675" y="242"/>
                    <a:pt x="666" y="235"/>
                    <a:pt x="627" y="235"/>
                  </a:cubicBezTo>
                  <a:lnTo>
                    <a:pt x="627" y="221"/>
                  </a:lnTo>
                  <a:lnTo>
                    <a:pt x="716" y="212"/>
                  </a:lnTo>
                  <a:lnTo>
                    <a:pt x="730" y="212"/>
                  </a:lnTo>
                  <a:lnTo>
                    <a:pt x="730" y="270"/>
                  </a:lnTo>
                  <a:cubicBezTo>
                    <a:pt x="763" y="231"/>
                    <a:pt x="797" y="212"/>
                    <a:pt x="833" y="212"/>
                  </a:cubicBezTo>
                  <a:cubicBezTo>
                    <a:pt x="881" y="212"/>
                    <a:pt x="930" y="246"/>
                    <a:pt x="930" y="315"/>
                  </a:cubicBezTo>
                  <a:lnTo>
                    <a:pt x="930" y="444"/>
                  </a:lnTo>
                  <a:lnTo>
                    <a:pt x="930" y="444"/>
                  </a:lnTo>
                  <a:close/>
                  <a:moveTo>
                    <a:pt x="552" y="318"/>
                  </a:moveTo>
                  <a:lnTo>
                    <a:pt x="552" y="318"/>
                  </a:lnTo>
                  <a:cubicBezTo>
                    <a:pt x="555" y="255"/>
                    <a:pt x="512" y="229"/>
                    <a:pt x="475" y="229"/>
                  </a:cubicBezTo>
                  <a:cubicBezTo>
                    <a:pt x="428" y="229"/>
                    <a:pt x="399" y="265"/>
                    <a:pt x="396" y="318"/>
                  </a:cubicBezTo>
                  <a:lnTo>
                    <a:pt x="552" y="318"/>
                  </a:lnTo>
                  <a:lnTo>
                    <a:pt x="552" y="318"/>
                  </a:lnTo>
                  <a:close/>
                  <a:moveTo>
                    <a:pt x="396" y="332"/>
                  </a:moveTo>
                  <a:lnTo>
                    <a:pt x="396" y="332"/>
                  </a:lnTo>
                  <a:cubicBezTo>
                    <a:pt x="395" y="461"/>
                    <a:pt x="471" y="493"/>
                    <a:pt x="510" y="493"/>
                  </a:cubicBezTo>
                  <a:cubicBezTo>
                    <a:pt x="550" y="493"/>
                    <a:pt x="570" y="479"/>
                    <a:pt x="611" y="433"/>
                  </a:cubicBezTo>
                  <a:lnTo>
                    <a:pt x="611" y="454"/>
                  </a:lnTo>
                  <a:cubicBezTo>
                    <a:pt x="576" y="498"/>
                    <a:pt x="543" y="515"/>
                    <a:pt x="493" y="515"/>
                  </a:cubicBezTo>
                  <a:cubicBezTo>
                    <a:pt x="403" y="515"/>
                    <a:pt x="339" y="453"/>
                    <a:pt x="339" y="367"/>
                  </a:cubicBezTo>
                  <a:cubicBezTo>
                    <a:pt x="339" y="280"/>
                    <a:pt x="402" y="212"/>
                    <a:pt x="483" y="212"/>
                  </a:cubicBezTo>
                  <a:cubicBezTo>
                    <a:pt x="549" y="212"/>
                    <a:pt x="610" y="266"/>
                    <a:pt x="606" y="332"/>
                  </a:cubicBezTo>
                  <a:lnTo>
                    <a:pt x="396" y="332"/>
                  </a:lnTo>
                  <a:lnTo>
                    <a:pt x="396" y="332"/>
                  </a:lnTo>
                  <a:close/>
                  <a:moveTo>
                    <a:pt x="114" y="269"/>
                  </a:moveTo>
                  <a:lnTo>
                    <a:pt x="114" y="269"/>
                  </a:lnTo>
                  <a:cubicBezTo>
                    <a:pt x="135" y="276"/>
                    <a:pt x="147" y="277"/>
                    <a:pt x="172" y="277"/>
                  </a:cubicBezTo>
                  <a:cubicBezTo>
                    <a:pt x="240" y="277"/>
                    <a:pt x="284" y="240"/>
                    <a:pt x="284" y="177"/>
                  </a:cubicBezTo>
                  <a:cubicBezTo>
                    <a:pt x="284" y="128"/>
                    <a:pt x="257" y="61"/>
                    <a:pt x="172" y="61"/>
                  </a:cubicBezTo>
                  <a:lnTo>
                    <a:pt x="114" y="61"/>
                  </a:lnTo>
                  <a:lnTo>
                    <a:pt x="114" y="269"/>
                  </a:lnTo>
                  <a:lnTo>
                    <a:pt x="114" y="269"/>
                  </a:lnTo>
                  <a:close/>
                  <a:moveTo>
                    <a:pt x="114" y="419"/>
                  </a:moveTo>
                  <a:lnTo>
                    <a:pt x="114" y="419"/>
                  </a:lnTo>
                  <a:cubicBezTo>
                    <a:pt x="114" y="477"/>
                    <a:pt x="128" y="493"/>
                    <a:pt x="167" y="493"/>
                  </a:cubicBezTo>
                  <a:lnTo>
                    <a:pt x="167" y="507"/>
                  </a:lnTo>
                  <a:lnTo>
                    <a:pt x="0" y="507"/>
                  </a:lnTo>
                  <a:lnTo>
                    <a:pt x="0" y="493"/>
                  </a:lnTo>
                  <a:cubicBezTo>
                    <a:pt x="33" y="493"/>
                    <a:pt x="53" y="482"/>
                    <a:pt x="53" y="421"/>
                  </a:cubicBezTo>
                  <a:lnTo>
                    <a:pt x="53" y="131"/>
                  </a:lnTo>
                  <a:cubicBezTo>
                    <a:pt x="53" y="74"/>
                    <a:pt x="39" y="57"/>
                    <a:pt x="0" y="57"/>
                  </a:cubicBezTo>
                  <a:lnTo>
                    <a:pt x="0" y="44"/>
                  </a:lnTo>
                  <a:lnTo>
                    <a:pt x="169" y="44"/>
                  </a:lnTo>
                  <a:cubicBezTo>
                    <a:pt x="297" y="44"/>
                    <a:pt x="349" y="111"/>
                    <a:pt x="349" y="175"/>
                  </a:cubicBezTo>
                  <a:cubicBezTo>
                    <a:pt x="349" y="252"/>
                    <a:pt x="290" y="295"/>
                    <a:pt x="185" y="295"/>
                  </a:cubicBezTo>
                  <a:cubicBezTo>
                    <a:pt x="165" y="295"/>
                    <a:pt x="148" y="294"/>
                    <a:pt x="114" y="290"/>
                  </a:cubicBezTo>
                  <a:lnTo>
                    <a:pt x="114" y="419"/>
                  </a:lnTo>
                  <a:lnTo>
                    <a:pt x="114" y="419"/>
                  </a:lnTo>
                  <a:close/>
                  <a:moveTo>
                    <a:pt x="3135" y="313"/>
                  </a:moveTo>
                  <a:lnTo>
                    <a:pt x="3135" y="313"/>
                  </a:lnTo>
                  <a:lnTo>
                    <a:pt x="3121" y="313"/>
                  </a:lnTo>
                  <a:cubicBezTo>
                    <a:pt x="3109" y="262"/>
                    <a:pt x="3073" y="229"/>
                    <a:pt x="3025" y="229"/>
                  </a:cubicBezTo>
                  <a:cubicBezTo>
                    <a:pt x="2968" y="229"/>
                    <a:pt x="2929" y="277"/>
                    <a:pt x="2929" y="347"/>
                  </a:cubicBezTo>
                  <a:cubicBezTo>
                    <a:pt x="2929" y="426"/>
                    <a:pt x="2978" y="491"/>
                    <a:pt x="3036" y="491"/>
                  </a:cubicBezTo>
                  <a:cubicBezTo>
                    <a:pt x="3071" y="491"/>
                    <a:pt x="3113" y="473"/>
                    <a:pt x="3143" y="431"/>
                  </a:cubicBezTo>
                  <a:lnTo>
                    <a:pt x="3143" y="452"/>
                  </a:lnTo>
                  <a:cubicBezTo>
                    <a:pt x="3112" y="494"/>
                    <a:pt x="3069" y="515"/>
                    <a:pt x="3017" y="515"/>
                  </a:cubicBezTo>
                  <a:cubicBezTo>
                    <a:pt x="2932" y="515"/>
                    <a:pt x="2873" y="456"/>
                    <a:pt x="2873" y="371"/>
                  </a:cubicBezTo>
                  <a:cubicBezTo>
                    <a:pt x="2873" y="283"/>
                    <a:pt x="2939" y="212"/>
                    <a:pt x="3021" y="212"/>
                  </a:cubicBezTo>
                  <a:cubicBezTo>
                    <a:pt x="3064" y="212"/>
                    <a:pt x="3087" y="229"/>
                    <a:pt x="3102" y="229"/>
                  </a:cubicBezTo>
                  <a:cubicBezTo>
                    <a:pt x="3109" y="229"/>
                    <a:pt x="3116" y="223"/>
                    <a:pt x="3121" y="212"/>
                  </a:cubicBezTo>
                  <a:lnTo>
                    <a:pt x="3135" y="212"/>
                  </a:lnTo>
                  <a:lnTo>
                    <a:pt x="3135" y="313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Line top Placeholder 20">
            <a:extLst>
              <a:ext uri="{FF2B5EF4-FFF2-40B4-BE49-F238E27FC236}">
                <a16:creationId xmlns:a16="http://schemas.microsoft.com/office/drawing/2014/main" id="{07792B4C-F919-7FC6-37AC-1AC9B390E5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3200" cy="36000"/>
          </a:xfrm>
          <a:solidFill>
            <a:srgbClr val="990000"/>
          </a:solidFill>
          <a:ln>
            <a:solidFill>
              <a:srgbClr val="990000">
                <a:alpha val="0"/>
              </a:srgbClr>
            </a:solidFill>
          </a:ln>
        </p:spPr>
        <p:txBody>
          <a:bodyPr/>
          <a:lstStyle>
            <a:lvl1pPr marL="0" indent="0">
              <a:buNone/>
              <a:defRPr sz="600">
                <a:noFill/>
              </a:defRPr>
            </a:lvl1pPr>
            <a:lvl2pPr marL="0" indent="0">
              <a:defRPr sz="600">
                <a:noFill/>
              </a:defRPr>
            </a:lvl2pPr>
            <a:lvl3pPr marL="0" indent="0">
              <a:defRPr sz="600">
                <a:noFill/>
              </a:defRPr>
            </a:lvl3pPr>
            <a:lvl4pPr marL="0" indent="0">
              <a:defRPr sz="600">
                <a:noFill/>
              </a:defRPr>
            </a:lvl4pPr>
            <a:lvl5pPr marL="0" indent="0">
              <a:defRPr sz="600">
                <a:noFill/>
              </a:defRPr>
            </a:lvl5pPr>
          </a:lstStyle>
          <a:p>
            <a:pPr lvl="0"/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0997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uides" hidden="1">
            <a:extLst>
              <a:ext uri="{FF2B5EF4-FFF2-40B4-BE49-F238E27FC236}">
                <a16:creationId xmlns:a16="http://schemas.microsoft.com/office/drawing/2014/main" id="{34F4D84D-8B38-E9C5-1868-7F61784FF06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F0FCFE-6765-0832-0840-9CF39F36BB4B}"/>
              </a:ext>
            </a:extLst>
          </p:cNvPr>
          <p:cNvSpPr txBox="1"/>
          <p:nvPr userDrawn="1"/>
        </p:nvSpPr>
        <p:spPr>
          <a:xfrm>
            <a:off x="719138" y="719138"/>
            <a:ext cx="1075213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>
                <a:solidFill>
                  <a:schemeClr val="bg1"/>
                </a:solidFill>
              </a:rPr>
              <a:t>If you see any </a:t>
            </a:r>
            <a:r>
              <a:rPr lang="en-GB" sz="4400" b="1" i="1" dirty="0">
                <a:solidFill>
                  <a:schemeClr val="bg1"/>
                </a:solidFill>
              </a:rPr>
              <a:t>layouts after this </a:t>
            </a:r>
            <a:r>
              <a:rPr lang="en-GB" sz="4400" dirty="0">
                <a:solidFill>
                  <a:schemeClr val="bg1"/>
                </a:solidFill>
              </a:rPr>
              <a:t>one,</a:t>
            </a:r>
            <a:br>
              <a:rPr lang="en-GB" sz="4400" dirty="0">
                <a:solidFill>
                  <a:schemeClr val="bg1"/>
                </a:solidFill>
              </a:rPr>
            </a:br>
            <a:r>
              <a:rPr lang="en-GB" sz="4400" dirty="0">
                <a:solidFill>
                  <a:schemeClr val="bg1"/>
                </a:solidFill>
              </a:rPr>
              <a:t>do not use them. These layouts are not part of our corporate template.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66478E-CC82-DDC4-E285-44F5186FA8EF}"/>
              </a:ext>
            </a:extLst>
          </p:cNvPr>
          <p:cNvSpPr txBox="1"/>
          <p:nvPr userDrawn="1"/>
        </p:nvSpPr>
        <p:spPr>
          <a:xfrm>
            <a:off x="719138" y="2370138"/>
            <a:ext cx="982662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600" b="1" i="1" dirty="0">
                <a:solidFill>
                  <a:schemeClr val="bg1"/>
                </a:solidFill>
              </a:rPr>
              <a:t>Do not use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5D99491-12E6-F691-C3B6-1E56D3E5BEA5}"/>
              </a:ext>
            </a:extLst>
          </p:cNvPr>
          <p:cNvGrpSpPr/>
          <p:nvPr userDrawn="1"/>
        </p:nvGrpSpPr>
        <p:grpSpPr bwMode="black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E8E280-940A-9CA6-05EF-30988A74A821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0B93E5-EC9B-1CC2-0E61-75FEB63B4820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01A1C46-3C4F-8189-EA0E-23635248B2F4}"/>
              </a:ext>
            </a:extLst>
          </p:cNvPr>
          <p:cNvSpPr txBox="1"/>
          <p:nvPr userDrawn="1"/>
        </p:nvSpPr>
        <p:spPr>
          <a:xfrm>
            <a:off x="719138" y="5142277"/>
            <a:ext cx="1075213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dirty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algn="ctr">
              <a:spcAft>
                <a:spcPts val="600"/>
              </a:spcAft>
            </a:pPr>
            <a:r>
              <a:rPr lang="en-GB" sz="2000" dirty="0">
                <a:solidFill>
                  <a:schemeClr val="bg1"/>
                </a:solidFill>
              </a:rPr>
              <a:t>Also notice: Layouts after this might contain potential confidential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2583185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" userDrawn="1">
          <p15:clr>
            <a:srgbClr val="8F8F8F"/>
          </p15:clr>
        </p15:guide>
        <p15:guide id="4" orient="horz" pos="3866" userDrawn="1">
          <p15:clr>
            <a:srgbClr val="FF96FF"/>
          </p15:clr>
        </p15:guide>
        <p15:guide id="5" pos="453" userDrawn="1">
          <p15:clr>
            <a:srgbClr val="FF96FF"/>
          </p15:clr>
        </p15:guide>
        <p15:guide id="6" pos="810" userDrawn="1">
          <p15:clr>
            <a:srgbClr val="FF96FF"/>
          </p15:clr>
        </p15:guide>
        <p15:guide id="7" pos="1036" userDrawn="1">
          <p15:clr>
            <a:srgbClr val="FF96FF"/>
          </p15:clr>
        </p15:guide>
        <p15:guide id="8" pos="1393" userDrawn="1">
          <p15:clr>
            <a:srgbClr val="FF96FF"/>
          </p15:clr>
        </p15:guide>
        <p15:guide id="9" pos="1620" userDrawn="1">
          <p15:clr>
            <a:srgbClr val="FF96FF"/>
          </p15:clr>
        </p15:guide>
        <p15:guide id="10" pos="1976" userDrawn="1">
          <p15:clr>
            <a:srgbClr val="FF96FF"/>
          </p15:clr>
        </p15:guide>
        <p15:guide id="11" pos="2203" userDrawn="1">
          <p15:clr>
            <a:srgbClr val="FF96FF"/>
          </p15:clr>
        </p15:guide>
        <p15:guide id="12" pos="2560" userDrawn="1">
          <p15:clr>
            <a:srgbClr val="FF96FF"/>
          </p15:clr>
        </p15:guide>
        <p15:guide id="13" pos="2786" userDrawn="1">
          <p15:clr>
            <a:srgbClr val="FF96FF"/>
          </p15:clr>
        </p15:guide>
        <p15:guide id="14" pos="3143" userDrawn="1">
          <p15:clr>
            <a:srgbClr val="FF96FF"/>
          </p15:clr>
        </p15:guide>
        <p15:guide id="15" pos="3370" userDrawn="1">
          <p15:clr>
            <a:srgbClr val="FF96FF"/>
          </p15:clr>
        </p15:guide>
        <p15:guide id="16" pos="3726" userDrawn="1">
          <p15:clr>
            <a:srgbClr val="FF96FF"/>
          </p15:clr>
        </p15:guide>
        <p15:guide id="17" pos="3953" userDrawn="1">
          <p15:clr>
            <a:srgbClr val="FF96FF"/>
          </p15:clr>
        </p15:guide>
        <p15:guide id="18" pos="4309" userDrawn="1">
          <p15:clr>
            <a:srgbClr val="FF96FF"/>
          </p15:clr>
        </p15:guide>
        <p15:guide id="19" pos="4536" userDrawn="1">
          <p15:clr>
            <a:srgbClr val="FF96FF"/>
          </p15:clr>
        </p15:guide>
        <p15:guide id="20" pos="4893" userDrawn="1">
          <p15:clr>
            <a:srgbClr val="FF96FF"/>
          </p15:clr>
        </p15:guide>
        <p15:guide id="21" pos="5120" userDrawn="1">
          <p15:clr>
            <a:srgbClr val="FF96FF"/>
          </p15:clr>
        </p15:guide>
        <p15:guide id="22" pos="5476" userDrawn="1">
          <p15:clr>
            <a:srgbClr val="FF96FF"/>
          </p15:clr>
        </p15:guide>
        <p15:guide id="23" pos="5703" userDrawn="1">
          <p15:clr>
            <a:srgbClr val="FF96FF"/>
          </p15:clr>
        </p15:guide>
        <p15:guide id="24" pos="6059" userDrawn="1">
          <p15:clr>
            <a:srgbClr val="FF96FF"/>
          </p15:clr>
        </p15:guide>
        <p15:guide id="25" pos="6286" userDrawn="1">
          <p15:clr>
            <a:srgbClr val="FF96FF"/>
          </p15:clr>
        </p15:guide>
        <p15:guide id="26" pos="6643" userDrawn="1">
          <p15:clr>
            <a:srgbClr val="FF96FF"/>
          </p15:clr>
        </p15:guide>
        <p15:guide id="27" pos="6869" userDrawn="1">
          <p15:clr>
            <a:srgbClr val="FF96FF"/>
          </p15:clr>
        </p15:guide>
        <p15:guide id="28" pos="7226" userDrawn="1">
          <p15:clr>
            <a:srgbClr val="FF96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50" Type="http://schemas.openxmlformats.org/officeDocument/2006/relationships/tags" Target="../tags/tag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4653DF-2095-1798-1D71-96071517C202}"/>
              </a:ext>
            </a:extLst>
          </p:cNvPr>
          <p:cNvSpPr>
            <a:spLocks noGrp="1"/>
          </p:cNvSpPr>
          <p:nvPr>
            <p:ph type="title"/>
            <p:custDataLst>
              <p:tags r:id="rId48"/>
            </p:custDataLst>
          </p:nvPr>
        </p:nvSpPr>
        <p:spPr>
          <a:xfrm>
            <a:off x="719138" y="720000"/>
            <a:ext cx="10753724" cy="907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3B6BD-6FE3-BE4B-16AE-1D8275ECAA77}"/>
              </a:ext>
            </a:extLst>
          </p:cNvPr>
          <p:cNvSpPr>
            <a:spLocks noGrp="1"/>
          </p:cNvSpPr>
          <p:nvPr>
            <p:ph type="body" idx="1"/>
            <p:custDataLst>
              <p:tags r:id="rId49"/>
            </p:custDataLst>
          </p:nvPr>
        </p:nvSpPr>
        <p:spPr>
          <a:xfrm>
            <a:off x="720000" y="1713599"/>
            <a:ext cx="10752000" cy="442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Nineth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EBF82-8BAB-1E5B-37EF-020818D10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5138" y="6439469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fld id="{197DF7FC-2311-4E03-AAFE-2DADE0839E10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FCFEF-8B6A-152F-1EE7-29B8B4C5E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9138" y="6439469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fld id="{2DDEA8E7-5F55-4A60-8EF9-470692FC5635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Footers" descr="{&quot;templafy&quot;:{&quot;id&quot;:&quot;7bd821ab-2b5a-4feb-809b-9e9351837c7c&quot;}}">
            <a:extLst>
              <a:ext uri="{FF2B5EF4-FFF2-40B4-BE49-F238E27FC236}">
                <a16:creationId xmlns:a16="http://schemas.microsoft.com/office/drawing/2014/main" id="{C9D8BBB8-64ED-CEAF-3B7D-CCE7CC4C4579}"/>
              </a:ext>
            </a:extLst>
          </p:cNvPr>
          <p:cNvSpPr/>
          <p:nvPr userDrawn="1"/>
        </p:nvSpPr>
        <p:spPr>
          <a:xfrm>
            <a:off x="9055102" y="6439469"/>
            <a:ext cx="2412997" cy="1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/>
          <a:lstStyle/>
          <a:p>
            <a:pPr lvl="0" algn="r"/>
            <a:r>
              <a:rPr lang="en-GB" sz="800" noProof="0" dirty="0">
                <a:solidFill>
                  <a:schemeClr val="accent1"/>
                </a:solidFill>
              </a:rPr>
              <a:t>Penn Medicine</a:t>
            </a:r>
          </a:p>
        </p:txBody>
      </p:sp>
      <p:sp>
        <p:nvSpPr>
          <p:cNvPr id="19" name="Guides" hidden="1">
            <a:extLst>
              <a:ext uri="{FF2B5EF4-FFF2-40B4-BE49-F238E27FC236}">
                <a16:creationId xmlns:a16="http://schemas.microsoft.com/office/drawing/2014/main" id="{0D073D88-5C5F-430B-DE0F-D1CD684A6AE8}"/>
              </a:ext>
            </a:extLst>
          </p:cNvPr>
          <p:cNvSpPr/>
          <p:nvPr userDrawn="1">
            <p:custDataLst>
              <p:tags r:id="rId50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60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49" r:id="rId2"/>
    <p:sldLayoutId id="2147483658" r:id="rId3"/>
    <p:sldLayoutId id="2147483659" r:id="rId4"/>
    <p:sldLayoutId id="2147483660" r:id="rId5"/>
    <p:sldLayoutId id="2147483667" r:id="rId6"/>
    <p:sldLayoutId id="2147483666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50" r:id="rId13"/>
    <p:sldLayoutId id="2147483653" r:id="rId14"/>
    <p:sldLayoutId id="2147483668" r:id="rId15"/>
    <p:sldLayoutId id="2147483669" r:id="rId16"/>
    <p:sldLayoutId id="2147483651" r:id="rId17"/>
    <p:sldLayoutId id="2147483652" r:id="rId18"/>
    <p:sldLayoutId id="2147483654" r:id="rId19"/>
    <p:sldLayoutId id="2147483655" r:id="rId20"/>
    <p:sldLayoutId id="2147483670" r:id="rId21"/>
    <p:sldLayoutId id="2147483671" r:id="rId22"/>
    <p:sldLayoutId id="2147483672" r:id="rId23"/>
    <p:sldLayoutId id="2147483693" r:id="rId24"/>
    <p:sldLayoutId id="2147483694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90" r:id="rId34"/>
    <p:sldLayoutId id="2147483681" r:id="rId35"/>
    <p:sldLayoutId id="2147483682" r:id="rId36"/>
    <p:sldLayoutId id="2147483683" r:id="rId37"/>
    <p:sldLayoutId id="2147483692" r:id="rId38"/>
    <p:sldLayoutId id="2147483684" r:id="rId39"/>
    <p:sldLayoutId id="2147483685" r:id="rId40"/>
    <p:sldLayoutId id="2147483686" r:id="rId41"/>
    <p:sldLayoutId id="2147483687" r:id="rId42"/>
    <p:sldLayoutId id="2147483688" r:id="rId43"/>
    <p:sldLayoutId id="2147483689" r:id="rId44"/>
    <p:sldLayoutId id="2147483656" r:id="rId45"/>
    <p:sldLayoutId id="2147483691" r:id="rId4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250"/>
        </a:spcBef>
        <a:spcAft>
          <a:spcPts val="600"/>
        </a:spcAft>
        <a:buFont typeface="Arial" panose="020B0604020202020204" pitchFamily="34" charset="0"/>
        <a:buNone/>
        <a:defRPr sz="1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136800" indent="-136800" algn="l" defTabSz="914400" rtl="0" eaLnBrk="1" latinLnBrk="0" hangingPunct="1">
        <a:lnSpc>
          <a:spcPct val="100000"/>
        </a:lnSpc>
        <a:spcBef>
          <a:spcPts val="400"/>
        </a:spcBef>
        <a:spcAft>
          <a:spcPts val="100"/>
        </a:spcAft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320400" indent="-183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/>
        </a:buClr>
        <a:buFont typeface="Calibri Light" panose="020F0302020204030204" pitchFamily="34" charset="0"/>
        <a:buChar char="—"/>
        <a:defRPr sz="12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504000" indent="-183600" algn="l" defTabSz="914400" rtl="0" eaLnBrk="1" latinLnBrk="0" hangingPunct="1">
        <a:lnSpc>
          <a:spcPct val="100000"/>
        </a:lnSpc>
        <a:spcBef>
          <a:spcPts val="100"/>
        </a:spcBef>
        <a:spcAft>
          <a:spcPts val="300"/>
        </a:spcAft>
        <a:buClr>
          <a:srgbClr val="9EC3E1"/>
        </a:buClr>
        <a:buFont typeface="Courier New" panose="02070309020205020404" pitchFamily="49" charset="0"/>
        <a:buChar char="o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300"/>
        </a:spcAft>
        <a:buFont typeface="Arial" panose="020B0604020202020204" pitchFamily="34" charset="0"/>
        <a:buNone/>
        <a:defRPr sz="1800" b="1" kern="1200" cap="all" spc="200" baseline="0">
          <a:solidFill>
            <a:schemeClr val="accent2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b="1" kern="1200">
          <a:solidFill>
            <a:schemeClr val="accent3"/>
          </a:solidFill>
          <a:latin typeface="+mj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None/>
        <a:defRPr sz="1400" b="1" kern="1200" cap="all" spc="180" baseline="0">
          <a:solidFill>
            <a:schemeClr val="accent1"/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b="1" kern="1200">
          <a:solidFill>
            <a:srgbClr val="990000"/>
          </a:solidFill>
          <a:latin typeface="+mj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1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5.xml"/><Relationship Id="rId4" Type="http://schemas.openxmlformats.org/officeDocument/2006/relationships/notesSlide" Target="../notesSlides/notesSlide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svg"/><Relationship Id="rId18" Type="http://schemas.openxmlformats.org/officeDocument/2006/relationships/image" Target="../media/image48.png"/><Relationship Id="rId3" Type="http://schemas.openxmlformats.org/officeDocument/2006/relationships/image" Target="../media/image33.svg"/><Relationship Id="rId21" Type="http://schemas.openxmlformats.org/officeDocument/2006/relationships/image" Target="../media/image51.svg"/><Relationship Id="rId7" Type="http://schemas.openxmlformats.org/officeDocument/2006/relationships/image" Target="../media/image37.svg"/><Relationship Id="rId12" Type="http://schemas.openxmlformats.org/officeDocument/2006/relationships/image" Target="../media/image42.png"/><Relationship Id="rId17" Type="http://schemas.openxmlformats.org/officeDocument/2006/relationships/image" Target="../media/image47.sv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5" Type="http://schemas.openxmlformats.org/officeDocument/2006/relationships/image" Target="../media/image45.svg"/><Relationship Id="rId10" Type="http://schemas.openxmlformats.org/officeDocument/2006/relationships/image" Target="../media/image40.png"/><Relationship Id="rId19" Type="http://schemas.openxmlformats.org/officeDocument/2006/relationships/image" Target="../media/image49.svg"/><Relationship Id="rId4" Type="http://schemas.openxmlformats.org/officeDocument/2006/relationships/image" Target="../media/image34.png"/><Relationship Id="rId9" Type="http://schemas.openxmlformats.org/officeDocument/2006/relationships/image" Target="../media/image39.svg"/><Relationship Id="rId1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svg"/><Relationship Id="rId18" Type="http://schemas.openxmlformats.org/officeDocument/2006/relationships/image" Target="../media/image48.png"/><Relationship Id="rId3" Type="http://schemas.openxmlformats.org/officeDocument/2006/relationships/image" Target="../media/image33.svg"/><Relationship Id="rId21" Type="http://schemas.openxmlformats.org/officeDocument/2006/relationships/image" Target="../media/image51.svg"/><Relationship Id="rId7" Type="http://schemas.openxmlformats.org/officeDocument/2006/relationships/image" Target="../media/image37.svg"/><Relationship Id="rId12" Type="http://schemas.openxmlformats.org/officeDocument/2006/relationships/image" Target="../media/image42.png"/><Relationship Id="rId17" Type="http://schemas.openxmlformats.org/officeDocument/2006/relationships/image" Target="../media/image47.sv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5" Type="http://schemas.openxmlformats.org/officeDocument/2006/relationships/image" Target="../media/image45.svg"/><Relationship Id="rId10" Type="http://schemas.openxmlformats.org/officeDocument/2006/relationships/image" Target="../media/image40.png"/><Relationship Id="rId19" Type="http://schemas.openxmlformats.org/officeDocument/2006/relationships/image" Target="../media/image49.svg"/><Relationship Id="rId4" Type="http://schemas.openxmlformats.org/officeDocument/2006/relationships/image" Target="../media/image34.png"/><Relationship Id="rId9" Type="http://schemas.openxmlformats.org/officeDocument/2006/relationships/image" Target="../media/image39.svg"/><Relationship Id="rId1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A44E20-FC1F-B58B-F256-050DF9BE7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999" y="3618000"/>
            <a:ext cx="10733505" cy="1782000"/>
          </a:xfrm>
        </p:spPr>
        <p:txBody>
          <a:bodyPr/>
          <a:lstStyle/>
          <a:p>
            <a:r>
              <a:rPr lang="en-US" sz="6000" dirty="0"/>
              <a:t>Biofiter3R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702FB05C-DD6E-7930-62AF-4F0317DF64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Project </a:t>
            </a:r>
            <a:r>
              <a:rPr lang="en-US" sz="2400" dirty="0" err="1"/>
              <a:t>xxxx</a:t>
            </a:r>
            <a:endParaRPr lang="en-US" sz="2400" dirty="0"/>
          </a:p>
          <a:p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Version 3 </a:t>
            </a:r>
            <a:r>
              <a:rPr lang="en-US" sz="18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xxxx</a:t>
            </a:r>
            <a:endParaRPr lang="en-US" sz="1800" dirty="0">
              <a:solidFill>
                <a:schemeClr val="accent3">
                  <a:lumMod val="40000"/>
                  <a:lumOff val="60000"/>
                </a:schemeClr>
              </a:solidFill>
              <a:latin typeface="+mj-lt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A8AB653-73E8-05CF-EE6A-C97CDC398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7925E-7101-C045-A69F-C62D62D8A8D8}" type="datetime4">
              <a:rPr lang="en-US" smtClean="0"/>
              <a:pPr/>
              <a:t>November 24, 2025</a:t>
            </a:fld>
            <a:endParaRPr lang="en-GB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D2E7713-95D1-EF3A-14F4-0A419A859B0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F78AF4E-5FB1-4DB5-DBA3-3A562EA14B8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20000" y="5568027"/>
            <a:ext cx="5194300" cy="180000"/>
          </a:xfrm>
        </p:spPr>
        <p:txBody>
          <a:bodyPr/>
          <a:lstStyle/>
          <a:p>
            <a:r>
              <a:rPr lang="en-GB" sz="1300" dirty="0"/>
              <a:t>Andre Rico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D395941-E43C-35C8-71FA-F7C471043B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20000" y="5804922"/>
            <a:ext cx="5194300" cy="180000"/>
          </a:xfrm>
        </p:spPr>
        <p:txBody>
          <a:bodyPr/>
          <a:lstStyle/>
          <a:p>
            <a:r>
              <a:rPr lang="en-GB" sz="1300" dirty="0"/>
              <a:t>IBI - App Dev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05241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68E77-B661-0496-D4D6-B9098A23C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C0A82-462C-0161-6876-28DAA8347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200" y="2340396"/>
            <a:ext cx="10749600" cy="2177208"/>
          </a:xfrm>
        </p:spPr>
        <p:txBody>
          <a:bodyPr/>
          <a:lstStyle/>
          <a:p>
            <a:r>
              <a:rPr lang="en-US" dirty="0"/>
              <a:t>WORKSHOP</a:t>
            </a:r>
            <a:br>
              <a:rPr lang="en-US" dirty="0"/>
            </a:br>
            <a:r>
              <a:rPr lang="en-US" dirty="0"/>
              <a:t>V 3.0.0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6C948-569B-41B5-ED04-7BE3F47B0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02526-C099-C14C-B885-D5340A804096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714BC8-EE8D-AC6B-0605-12FB22B71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48EB2-ABBB-452B-B43B-31E8A7DFB90B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674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4E883-4634-0FA8-0961-19A4053F5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BC3D8-850F-57F5-E61F-FD6CE202FC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AB96FB-53CB-D22D-40D3-008661C3795A}"/>
              </a:ext>
            </a:extLst>
          </p:cNvPr>
          <p:cNvSpPr txBox="1"/>
          <p:nvPr/>
        </p:nvSpPr>
        <p:spPr>
          <a:xfrm>
            <a:off x="635000" y="1028516"/>
            <a:ext cx="10921999" cy="3699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2000" dirty="0"/>
              <a:t>This workshop is based on </a:t>
            </a:r>
            <a:r>
              <a:rPr lang="en-US" sz="2000" b="1" dirty="0"/>
              <a:t>Biofilter3R version 3.0.0</a:t>
            </a:r>
            <a:r>
              <a:rPr lang="en-US" sz="2000" dirty="0"/>
              <a:t>, currently deployed in the LPC environment.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               Version 3.0.0 provides a stable foundation for testing, and initial data validation.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               We are actively working on </a:t>
            </a:r>
            <a:r>
              <a:rPr lang="en-US" sz="2000" b="1" dirty="0"/>
              <a:t>version 3.1.0</a:t>
            </a:r>
            <a:r>
              <a:rPr lang="en-US" sz="2000" dirty="0"/>
              <a:t>, which will introduce major changes, including:</a:t>
            </a: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 schema updates</a:t>
            </a: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New functionality and interfaces</a:t>
            </a: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Improvements identified during LPC testing</a:t>
            </a:r>
          </a:p>
        </p:txBody>
      </p:sp>
      <p:pic>
        <p:nvPicPr>
          <p:cNvPr id="1026" name="Picture 2" descr="Disclaimer | Home Grounds">
            <a:extLst>
              <a:ext uri="{FF2B5EF4-FFF2-40B4-BE49-F238E27FC236}">
                <a16:creationId xmlns:a16="http://schemas.microsoft.com/office/drawing/2014/main" id="{430163FA-9033-E1BF-AA56-FCD6520F8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860" y="3586716"/>
            <a:ext cx="5452140" cy="3271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raphic 17" descr="Right pointing backhand index with solid fill">
            <a:extLst>
              <a:ext uri="{FF2B5EF4-FFF2-40B4-BE49-F238E27FC236}">
                <a16:creationId xmlns:a16="http://schemas.microsoft.com/office/drawing/2014/main" id="{E699894D-7F8B-D141-CCA8-598C01BE9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831" y="1754824"/>
            <a:ext cx="570613" cy="570613"/>
          </a:xfrm>
          <a:prstGeom prst="rect">
            <a:avLst/>
          </a:prstGeom>
        </p:spPr>
      </p:pic>
      <p:pic>
        <p:nvPicPr>
          <p:cNvPr id="19" name="Graphic 18" descr="Right pointing backhand index with solid fill">
            <a:extLst>
              <a:ext uri="{FF2B5EF4-FFF2-40B4-BE49-F238E27FC236}">
                <a16:creationId xmlns:a16="http://schemas.microsoft.com/office/drawing/2014/main" id="{039A2D48-0A1D-9BD4-2881-CD108E76AC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831" y="2401436"/>
            <a:ext cx="570613" cy="5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68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F9FD8-0819-9065-0491-015C55C3B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A6A5-CBDF-3FAB-06AD-26EB616F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Workshop Objectives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CA6ED-28FF-0929-3136-CEB07F189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42747-F60B-C140-0BD2-A91A30CC51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70BA0-D46C-ACA3-0FAE-80341A90B021}"/>
              </a:ext>
            </a:extLst>
          </p:cNvPr>
          <p:cNvSpPr txBox="1"/>
          <p:nvPr/>
        </p:nvSpPr>
        <p:spPr>
          <a:xfrm>
            <a:off x="3858338" y="1755581"/>
            <a:ext cx="815389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By the end of this session, you will be able to: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Understand the </a:t>
            </a:r>
            <a:r>
              <a:rPr lang="en-US" sz="2400" b="1" dirty="0"/>
              <a:t>scope and architecture</a:t>
            </a:r>
            <a:r>
              <a:rPr lang="en-US" sz="2400" dirty="0"/>
              <a:t> of Biofilter3R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Explore the </a:t>
            </a:r>
            <a:r>
              <a:rPr lang="en-US" sz="2400" b="1" dirty="0"/>
              <a:t>core db schema</a:t>
            </a:r>
            <a:r>
              <a:rPr lang="en-US" sz="2400" dirty="0"/>
              <a:t> (Entity, Gene, Protein, …)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Learn how to </a:t>
            </a:r>
            <a:r>
              <a:rPr lang="en-US" sz="2400" b="1" dirty="0"/>
              <a:t>access LPC</a:t>
            </a:r>
            <a:r>
              <a:rPr lang="en-US" sz="2400" dirty="0"/>
              <a:t> and run queries via Jupyter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Run your </a:t>
            </a:r>
            <a:r>
              <a:rPr lang="en-US" sz="2400" b="1" dirty="0"/>
              <a:t>first queries</a:t>
            </a:r>
            <a:r>
              <a:rPr lang="en-US" sz="2400" dirty="0"/>
              <a:t> using the Query interface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Get an overview of the </a:t>
            </a:r>
            <a:r>
              <a:rPr lang="en-US" sz="2400" b="1" dirty="0"/>
              <a:t>Report interface</a:t>
            </a:r>
            <a:r>
              <a:rPr lang="en-US" sz="2400" dirty="0"/>
              <a:t> (early stage)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Review the </a:t>
            </a:r>
            <a:r>
              <a:rPr lang="en-US" sz="2400" b="1" dirty="0"/>
              <a:t>next steps</a:t>
            </a:r>
            <a:r>
              <a:rPr lang="en-US" sz="2400" dirty="0"/>
              <a:t> towards version 3.1.0</a:t>
            </a:r>
          </a:p>
        </p:txBody>
      </p:sp>
      <p:pic>
        <p:nvPicPr>
          <p:cNvPr id="9" name="Graphic 8" descr="Bullseye with solid fill">
            <a:extLst>
              <a:ext uri="{FF2B5EF4-FFF2-40B4-BE49-F238E27FC236}">
                <a16:creationId xmlns:a16="http://schemas.microsoft.com/office/drawing/2014/main" id="{914AD527-507C-20F5-D0EF-9D7C5B185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085" y="2148840"/>
            <a:ext cx="310896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4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CA1A0-9455-5508-A680-C038C9E17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5A1CC-A371-E3B9-8F2A-563DA4D2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What is Biofilter3R?</a:t>
            </a:r>
            <a:br>
              <a:rPr lang="en-US" sz="2800" dirty="0"/>
            </a:b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A7EF7-7C59-4452-A3F9-979B8E1EF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4365C-1B71-D4C0-76E5-F5D8E2D2DD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1BCD9-2CD3-9807-7A18-281BA9D23B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Rebuild to version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DD406C-3F9A-0B70-D51C-42D348FD8793}"/>
              </a:ext>
            </a:extLst>
          </p:cNvPr>
          <p:cNvSpPr txBox="1"/>
          <p:nvPr/>
        </p:nvSpPr>
        <p:spPr>
          <a:xfrm>
            <a:off x="1371599" y="2277605"/>
            <a:ext cx="9852307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modern and modular platform</a:t>
            </a:r>
            <a:r>
              <a:rPr lang="en-US" sz="2400" dirty="0"/>
              <a:t> for integration, curation, and querying of genomics data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Designed to </a:t>
            </a:r>
            <a:r>
              <a:rPr lang="en-US" sz="2400" b="1" dirty="0"/>
              <a:t>unify LOKI and Biofilter v2</a:t>
            </a:r>
            <a:r>
              <a:rPr lang="en-US" sz="2400" dirty="0"/>
              <a:t> into a single, scalable system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Built to be </a:t>
            </a:r>
            <a:r>
              <a:rPr lang="en-US" sz="2400" b="1" dirty="0"/>
              <a:t>entity-oriented</a:t>
            </a:r>
            <a:r>
              <a:rPr lang="en-US" sz="2400" dirty="0"/>
              <a:t>, with a flexible schema that can integrate Genes, Proteins, Variants, Pathways, Diseases, and more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Cloud-ready &amp; HPC-ready</a:t>
            </a:r>
            <a:r>
              <a:rPr lang="en-US" sz="2400" dirty="0"/>
              <a:t> — can run locally, in containers, or in distributed environments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Designed for </a:t>
            </a:r>
            <a:r>
              <a:rPr lang="en-US" sz="2400" b="1" dirty="0"/>
              <a:t>reproducibility, traceability, and conflict curation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06457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DB6DD-1046-A517-4572-37EA57D3B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6C2BF-3F06-CD2B-A628-B6EE4417A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Key Differences from LOKI / Biofilter v2</a:t>
            </a:r>
            <a:br>
              <a:rPr lang="en-US" dirty="0"/>
            </a:b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4C5EA-030B-311C-3020-036FEB030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49090-264A-64B7-75F2-9A37A6C51F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6</a:t>
            </a:fld>
            <a:endParaRPr lang="en-US" noProof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378E32-35EF-82ED-0B2A-3555F7F9E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482942"/>
              </p:ext>
            </p:extLst>
          </p:nvPr>
        </p:nvGraphicFramePr>
        <p:xfrm>
          <a:off x="829340" y="1637685"/>
          <a:ext cx="10642660" cy="4938916"/>
        </p:xfrm>
        <a:graphic>
          <a:graphicData uri="http://schemas.openxmlformats.org/drawingml/2006/table">
            <a:tbl>
              <a:tblPr>
                <a:tableStyleId>{18603FDC-E32A-4AB5-989C-0864C3EAD2B8}</a:tableStyleId>
              </a:tblPr>
              <a:tblGrid>
                <a:gridCol w="2599355">
                  <a:extLst>
                    <a:ext uri="{9D8B030D-6E8A-4147-A177-3AD203B41FA5}">
                      <a16:colId xmlns:a16="http://schemas.microsoft.com/office/drawing/2014/main" val="3480308579"/>
                    </a:ext>
                  </a:extLst>
                </a:gridCol>
                <a:gridCol w="3539175">
                  <a:extLst>
                    <a:ext uri="{9D8B030D-6E8A-4147-A177-3AD203B41FA5}">
                      <a16:colId xmlns:a16="http://schemas.microsoft.com/office/drawing/2014/main" val="680033912"/>
                    </a:ext>
                  </a:extLst>
                </a:gridCol>
                <a:gridCol w="4504130">
                  <a:extLst>
                    <a:ext uri="{9D8B030D-6E8A-4147-A177-3AD203B41FA5}">
                      <a16:colId xmlns:a16="http://schemas.microsoft.com/office/drawing/2014/main" val="422082151"/>
                    </a:ext>
                  </a:extLst>
                </a:gridCol>
              </a:tblGrid>
              <a:tr h="368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Feature</a:t>
                      </a:r>
                    </a:p>
                  </a:txBody>
                  <a:tcPr marL="76282" marR="76282" marT="38141" marB="3814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Biofilter v2 / LOKI</a:t>
                      </a:r>
                    </a:p>
                  </a:txBody>
                  <a:tcPr marL="76282" marR="76282" marT="38141" marB="3814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Biofilter3R v3.0.0</a:t>
                      </a:r>
                    </a:p>
                  </a:txBody>
                  <a:tcPr marL="76282" marR="76282" marT="38141" marB="3814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259085"/>
                  </a:ext>
                </a:extLst>
              </a:tr>
              <a:tr h="50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🔧 Architecture</a:t>
                      </a:r>
                    </a:p>
                  </a:txBody>
                  <a:tcPr marL="76282" marR="76282" marT="38141" marB="3814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Monolithic, tightly coupled to database</a:t>
                      </a:r>
                    </a:p>
                  </a:txBody>
                  <a:tcPr marL="76282" marR="76282" marT="38141" marB="3814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Modular, separation of software and data</a:t>
                      </a:r>
                    </a:p>
                  </a:txBody>
                  <a:tcPr marL="76282" marR="76282" marT="38141" marB="3814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82441794"/>
                  </a:ext>
                </a:extLst>
              </a:tr>
              <a:tr h="50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🧬 Entities</a:t>
                      </a:r>
                    </a:p>
                  </a:txBody>
                  <a:tcPr marL="76282" marR="76282" marT="38141" marB="38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Separated by type (genes, SNPs)</a:t>
                      </a:r>
                    </a:p>
                  </a:txBody>
                  <a:tcPr marL="76282" marR="76282" marT="38141" marB="38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Unified via the Entity model</a:t>
                      </a:r>
                    </a:p>
                  </a:txBody>
                  <a:tcPr marL="76282" marR="76282" marT="38141" marB="38141" anchor="ctr"/>
                </a:tc>
                <a:extLst>
                  <a:ext uri="{0D108BD9-81ED-4DB2-BD59-A6C34878D82A}">
                    <a16:rowId xmlns:a16="http://schemas.microsoft.com/office/drawing/2014/main" val="2243395759"/>
                  </a:ext>
                </a:extLst>
              </a:tr>
              <a:tr h="50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🔁 Curation</a:t>
                      </a:r>
                    </a:p>
                  </a:txBody>
                  <a:tcPr marL="76282" marR="76282" marT="38141" marB="38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No conflict tracking</a:t>
                      </a:r>
                    </a:p>
                  </a:txBody>
                  <a:tcPr marL="76282" marR="76282" marT="38141" marB="38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Curation with explicit conflict tracking/resolution</a:t>
                      </a:r>
                    </a:p>
                  </a:txBody>
                  <a:tcPr marL="76282" marR="76282" marT="38141" marB="38141" anchor="ctr"/>
                </a:tc>
                <a:extLst>
                  <a:ext uri="{0D108BD9-81ED-4DB2-BD59-A6C34878D82A}">
                    <a16:rowId xmlns:a16="http://schemas.microsoft.com/office/drawing/2014/main" val="3699220928"/>
                  </a:ext>
                </a:extLst>
              </a:tr>
              <a:tr h="50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📦 Ingestion</a:t>
                      </a:r>
                    </a:p>
                  </a:txBody>
                  <a:tcPr marL="76282" marR="76282" marT="38141" marB="38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Manual scripts per data source</a:t>
                      </a:r>
                    </a:p>
                  </a:txBody>
                  <a:tcPr marL="76282" marR="76282" marT="38141" marB="38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ETL pipeline with extract / transform / load phases</a:t>
                      </a:r>
                    </a:p>
                  </a:txBody>
                  <a:tcPr marL="76282" marR="76282" marT="38141" marB="38141" anchor="ctr"/>
                </a:tc>
                <a:extLst>
                  <a:ext uri="{0D108BD9-81ED-4DB2-BD59-A6C34878D82A}">
                    <a16:rowId xmlns:a16="http://schemas.microsoft.com/office/drawing/2014/main" val="952505577"/>
                  </a:ext>
                </a:extLst>
              </a:tr>
              <a:tr h="50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🗃️ Storage</a:t>
                      </a:r>
                    </a:p>
                  </a:txBody>
                  <a:tcPr marL="76282" marR="76282" marT="38141" marB="38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SQLite only</a:t>
                      </a:r>
                    </a:p>
                  </a:txBody>
                  <a:tcPr marL="76282" marR="76282" marT="38141" marB="38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Class-based logic + Parquet + RAW files</a:t>
                      </a:r>
                    </a:p>
                  </a:txBody>
                  <a:tcPr marL="76282" marR="76282" marT="38141" marB="38141" anchor="ctr"/>
                </a:tc>
                <a:extLst>
                  <a:ext uri="{0D108BD9-81ED-4DB2-BD59-A6C34878D82A}">
                    <a16:rowId xmlns:a16="http://schemas.microsoft.com/office/drawing/2014/main" val="1355203012"/>
                  </a:ext>
                </a:extLst>
              </a:tr>
              <a:tr h="50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🔍 Aliases</a:t>
                      </a:r>
                    </a:p>
                  </a:txBody>
                  <a:tcPr marL="76282" marR="76282" marT="38141" marB="38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Simple, no type or provenance</a:t>
                      </a:r>
                    </a:p>
                  </a:txBody>
                  <a:tcPr marL="76282" marR="76282" marT="38141" marB="38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EntityName with type, source, normalization</a:t>
                      </a:r>
                    </a:p>
                  </a:txBody>
                  <a:tcPr marL="76282" marR="76282" marT="38141" marB="38141" anchor="ctr"/>
                </a:tc>
                <a:extLst>
                  <a:ext uri="{0D108BD9-81ED-4DB2-BD59-A6C34878D82A}">
                    <a16:rowId xmlns:a16="http://schemas.microsoft.com/office/drawing/2014/main" val="1339329851"/>
                  </a:ext>
                </a:extLst>
              </a:tr>
              <a:tr h="50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🧪 Testing Support</a:t>
                      </a:r>
                    </a:p>
                  </a:txBody>
                  <a:tcPr marL="76282" marR="76282" marT="38141" marB="38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None</a:t>
                      </a:r>
                    </a:p>
                  </a:txBody>
                  <a:tcPr marL="76282" marR="76282" marT="38141" marB="38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Unit tests using pytest</a:t>
                      </a:r>
                    </a:p>
                  </a:txBody>
                  <a:tcPr marL="76282" marR="76282" marT="38141" marB="38141" anchor="ctr"/>
                </a:tc>
                <a:extLst>
                  <a:ext uri="{0D108BD9-81ED-4DB2-BD59-A6C34878D82A}">
                    <a16:rowId xmlns:a16="http://schemas.microsoft.com/office/drawing/2014/main" val="2573361174"/>
                  </a:ext>
                </a:extLst>
              </a:tr>
              <a:tr h="50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☁️ Deploy / Portability</a:t>
                      </a:r>
                    </a:p>
                  </a:txBody>
                  <a:tcPr marL="76282" marR="76282" marT="38141" marB="38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Local only</a:t>
                      </a:r>
                    </a:p>
                  </a:txBody>
                  <a:tcPr marL="76282" marR="76282" marT="38141" marB="38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HPC, cloud, and Docker support</a:t>
                      </a:r>
                    </a:p>
                  </a:txBody>
                  <a:tcPr marL="76282" marR="76282" marT="38141" marB="38141" anchor="ctr"/>
                </a:tc>
                <a:extLst>
                  <a:ext uri="{0D108BD9-81ED-4DB2-BD59-A6C34878D82A}">
                    <a16:rowId xmlns:a16="http://schemas.microsoft.com/office/drawing/2014/main" val="1749238748"/>
                  </a:ext>
                </a:extLst>
              </a:tr>
              <a:tr h="50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🔎 Querying</a:t>
                      </a:r>
                    </a:p>
                  </a:txBody>
                  <a:tcPr marL="76282" marR="76282" marT="38141" marB="38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Hardcoded</a:t>
                      </a:r>
                    </a:p>
                  </a:txBody>
                  <a:tcPr marL="76282" marR="76282" marT="38141" marB="381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Programmable interface with dynamic filters (##)</a:t>
                      </a:r>
                    </a:p>
                  </a:txBody>
                  <a:tcPr marL="76282" marR="76282" marT="38141" marB="38141" anchor="ctr"/>
                </a:tc>
                <a:extLst>
                  <a:ext uri="{0D108BD9-81ED-4DB2-BD59-A6C34878D82A}">
                    <a16:rowId xmlns:a16="http://schemas.microsoft.com/office/drawing/2014/main" val="3450751247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486C4DAD-4A84-5771-138E-2F0451676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17129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A125B8-DD29-7B5C-5690-A5A42D2F40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Highlights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F4F9A6F-B3CC-B755-FC3F-B235582D7AA8}"/>
              </a:ext>
            </a:extLst>
          </p:cNvPr>
          <p:cNvCxnSpPr>
            <a:cxnSpLocks/>
          </p:cNvCxnSpPr>
          <p:nvPr/>
        </p:nvCxnSpPr>
        <p:spPr>
          <a:xfrm>
            <a:off x="2257646" y="2275367"/>
            <a:ext cx="11979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F354E4-B044-521D-B910-1C6409C633E8}"/>
              </a:ext>
            </a:extLst>
          </p:cNvPr>
          <p:cNvCxnSpPr>
            <a:cxnSpLocks/>
          </p:cNvCxnSpPr>
          <p:nvPr/>
        </p:nvCxnSpPr>
        <p:spPr>
          <a:xfrm>
            <a:off x="2257646" y="3285460"/>
            <a:ext cx="11979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5654A0-9475-1E76-DEB5-C248060E1427}"/>
              </a:ext>
            </a:extLst>
          </p:cNvPr>
          <p:cNvCxnSpPr>
            <a:cxnSpLocks/>
          </p:cNvCxnSpPr>
          <p:nvPr/>
        </p:nvCxnSpPr>
        <p:spPr>
          <a:xfrm>
            <a:off x="2257646" y="3792278"/>
            <a:ext cx="11979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83492A-66E2-60AF-4A4C-5F32E219CF48}"/>
              </a:ext>
            </a:extLst>
          </p:cNvPr>
          <p:cNvCxnSpPr>
            <a:cxnSpLocks/>
          </p:cNvCxnSpPr>
          <p:nvPr/>
        </p:nvCxnSpPr>
        <p:spPr>
          <a:xfrm>
            <a:off x="2257646" y="4299097"/>
            <a:ext cx="11979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F45FC8-6D80-CD10-C476-F4CF24DAB53C}"/>
              </a:ext>
            </a:extLst>
          </p:cNvPr>
          <p:cNvCxnSpPr>
            <a:cxnSpLocks/>
          </p:cNvCxnSpPr>
          <p:nvPr/>
        </p:nvCxnSpPr>
        <p:spPr>
          <a:xfrm>
            <a:off x="2257646" y="4813004"/>
            <a:ext cx="11979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52B15D6-EF4A-D64D-D1F4-AF518F67BDF5}"/>
              </a:ext>
            </a:extLst>
          </p:cNvPr>
          <p:cNvCxnSpPr>
            <a:cxnSpLocks/>
          </p:cNvCxnSpPr>
          <p:nvPr/>
        </p:nvCxnSpPr>
        <p:spPr>
          <a:xfrm>
            <a:off x="2445489" y="5312735"/>
            <a:ext cx="10100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8D0194A-65ED-7526-CF6F-F2620F0A9099}"/>
              </a:ext>
            </a:extLst>
          </p:cNvPr>
          <p:cNvCxnSpPr>
            <a:cxnSpLocks/>
          </p:cNvCxnSpPr>
          <p:nvPr/>
        </p:nvCxnSpPr>
        <p:spPr>
          <a:xfrm>
            <a:off x="2757377" y="5812465"/>
            <a:ext cx="6982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94E80A7-199C-5DCF-4668-512385AEF9A4}"/>
              </a:ext>
            </a:extLst>
          </p:cNvPr>
          <p:cNvCxnSpPr>
            <a:cxnSpLocks/>
          </p:cNvCxnSpPr>
          <p:nvPr/>
        </p:nvCxnSpPr>
        <p:spPr>
          <a:xfrm>
            <a:off x="2257646" y="6319284"/>
            <a:ext cx="11979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B8C91A8-0726-89FC-2ED5-80C59EADE8EC}"/>
              </a:ext>
            </a:extLst>
          </p:cNvPr>
          <p:cNvCxnSpPr>
            <a:cxnSpLocks/>
          </p:cNvCxnSpPr>
          <p:nvPr/>
        </p:nvCxnSpPr>
        <p:spPr>
          <a:xfrm>
            <a:off x="2257646" y="2782186"/>
            <a:ext cx="11979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39C4C9C-1F91-F975-C8CE-462D45CD336D}"/>
              </a:ext>
            </a:extLst>
          </p:cNvPr>
          <p:cNvCxnSpPr>
            <a:cxnSpLocks/>
          </p:cNvCxnSpPr>
          <p:nvPr/>
        </p:nvCxnSpPr>
        <p:spPr>
          <a:xfrm>
            <a:off x="6663070" y="2275367"/>
            <a:ext cx="3118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C454E76-754A-CA69-F672-60F6F65C1231}"/>
              </a:ext>
            </a:extLst>
          </p:cNvPr>
          <p:cNvCxnSpPr>
            <a:cxnSpLocks/>
          </p:cNvCxnSpPr>
          <p:nvPr/>
        </p:nvCxnSpPr>
        <p:spPr>
          <a:xfrm>
            <a:off x="4217581" y="5312735"/>
            <a:ext cx="27573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275E31F-5A1B-DBA8-14A8-2AD9A609ADC9}"/>
              </a:ext>
            </a:extLst>
          </p:cNvPr>
          <p:cNvCxnSpPr>
            <a:cxnSpLocks/>
          </p:cNvCxnSpPr>
          <p:nvPr/>
        </p:nvCxnSpPr>
        <p:spPr>
          <a:xfrm>
            <a:off x="4635795" y="5819553"/>
            <a:ext cx="23391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9257AD7-542C-71FD-ECC9-8371F62ABCB2}"/>
              </a:ext>
            </a:extLst>
          </p:cNvPr>
          <p:cNvCxnSpPr>
            <a:cxnSpLocks/>
          </p:cNvCxnSpPr>
          <p:nvPr/>
        </p:nvCxnSpPr>
        <p:spPr>
          <a:xfrm>
            <a:off x="4635795" y="6319284"/>
            <a:ext cx="23391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4B69717-8A18-CBB3-53CB-1A2AD367A844}"/>
              </a:ext>
            </a:extLst>
          </p:cNvPr>
          <p:cNvCxnSpPr>
            <a:cxnSpLocks/>
          </p:cNvCxnSpPr>
          <p:nvPr/>
        </p:nvCxnSpPr>
        <p:spPr>
          <a:xfrm>
            <a:off x="6152706" y="4813004"/>
            <a:ext cx="8222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50ED3F-D999-782E-495A-F44F13175B6A}"/>
              </a:ext>
            </a:extLst>
          </p:cNvPr>
          <p:cNvCxnSpPr>
            <a:cxnSpLocks/>
          </p:cNvCxnSpPr>
          <p:nvPr/>
        </p:nvCxnSpPr>
        <p:spPr>
          <a:xfrm>
            <a:off x="4635795" y="4302641"/>
            <a:ext cx="23391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5AF314F-B66F-49D6-6B5B-7818528D39CF}"/>
              </a:ext>
            </a:extLst>
          </p:cNvPr>
          <p:cNvCxnSpPr>
            <a:cxnSpLocks/>
          </p:cNvCxnSpPr>
          <p:nvPr/>
        </p:nvCxnSpPr>
        <p:spPr>
          <a:xfrm>
            <a:off x="5181600" y="3285460"/>
            <a:ext cx="17933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965E898-D0D9-4F8D-4A65-EA842CCC4DFB}"/>
              </a:ext>
            </a:extLst>
          </p:cNvPr>
          <p:cNvCxnSpPr>
            <a:cxnSpLocks/>
          </p:cNvCxnSpPr>
          <p:nvPr/>
        </p:nvCxnSpPr>
        <p:spPr>
          <a:xfrm>
            <a:off x="5940056" y="3792278"/>
            <a:ext cx="10349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40E015B-7A13-2DD0-F0D9-D52BA5A19289}"/>
              </a:ext>
            </a:extLst>
          </p:cNvPr>
          <p:cNvCxnSpPr>
            <a:cxnSpLocks/>
          </p:cNvCxnSpPr>
          <p:nvPr/>
        </p:nvCxnSpPr>
        <p:spPr>
          <a:xfrm>
            <a:off x="6096000" y="2782186"/>
            <a:ext cx="878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6290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3C2EE-2589-797C-0AD5-70F8F5578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2C720-3FFC-5B0A-19AC-A1367A606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Database Schema (v3.0.0)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0FEC4-D550-0084-A406-CFAD45301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5973C-6B49-1572-9D90-7332426037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AA3BDC-43FD-BE78-9077-62C50DD8EE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Entities: the Strategic hub of Biofilter3R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67EAA1-D29E-D7D8-FA28-B6868BF68F8C}"/>
              </a:ext>
            </a:extLst>
          </p:cNvPr>
          <p:cNvSpPr txBox="1"/>
          <p:nvPr/>
        </p:nvSpPr>
        <p:spPr>
          <a:xfrm>
            <a:off x="5519771" y="2274626"/>
            <a:ext cx="6065838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2400" b="1" dirty="0"/>
              <a:t>What is an Entity?</a:t>
            </a:r>
            <a:endParaRPr lang="en-US" sz="24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Unified ID</a:t>
            </a:r>
            <a:r>
              <a:rPr lang="en-US" sz="2000" dirty="0"/>
              <a:t> for any object (biological and other)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Aliases merged</a:t>
            </a:r>
            <a:r>
              <a:rPr lang="en-US" sz="2000" dirty="0"/>
              <a:t> into a single reference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Relationships centralized</a:t>
            </a:r>
            <a:r>
              <a:rPr lang="en-US" sz="2000" dirty="0"/>
              <a:t> across domains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Conflicts curated</a:t>
            </a:r>
            <a:r>
              <a:rPr lang="en-US" sz="2000" dirty="0"/>
              <a:t> at the entity level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Expandable</a:t>
            </a:r>
            <a:r>
              <a:rPr lang="en-US" sz="2000" dirty="0"/>
              <a:t> to new domains (Diseases, Chemicals, …)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💡 </a:t>
            </a:r>
            <a:r>
              <a:rPr lang="en-US" sz="2000" i="1" dirty="0"/>
              <a:t>Entities are the strategic hub connecting all omics data</a:t>
            </a:r>
            <a:endParaRPr lang="en-US" sz="2000" dirty="0"/>
          </a:p>
        </p:txBody>
      </p:sp>
      <p:pic>
        <p:nvPicPr>
          <p:cNvPr id="18" name="Graphic 17" descr="Atom outline">
            <a:extLst>
              <a:ext uri="{FF2B5EF4-FFF2-40B4-BE49-F238E27FC236}">
                <a16:creationId xmlns:a16="http://schemas.microsoft.com/office/drawing/2014/main" id="{6E87D736-1D2A-3FD4-4CCB-BC2CE9678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8876" y="3222081"/>
            <a:ext cx="1345809" cy="134580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555E27A-A419-98E6-D70D-F8FE624CC735}"/>
              </a:ext>
            </a:extLst>
          </p:cNvPr>
          <p:cNvSpPr txBox="1"/>
          <p:nvPr/>
        </p:nvSpPr>
        <p:spPr>
          <a:xfrm>
            <a:off x="1867242" y="3222081"/>
            <a:ext cx="53110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Genes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9341C9-8686-AE37-9024-7F049EF3151D}"/>
              </a:ext>
            </a:extLst>
          </p:cNvPr>
          <p:cNvSpPr txBox="1"/>
          <p:nvPr/>
        </p:nvSpPr>
        <p:spPr>
          <a:xfrm>
            <a:off x="1468693" y="3787263"/>
            <a:ext cx="5321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Protein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5F534E-D066-D31E-4751-5A803C587B94}"/>
              </a:ext>
            </a:extLst>
          </p:cNvPr>
          <p:cNvSpPr txBox="1"/>
          <p:nvPr/>
        </p:nvSpPr>
        <p:spPr>
          <a:xfrm>
            <a:off x="1646722" y="4376484"/>
            <a:ext cx="61952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Pathway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ACC772-D4EF-6AC4-56C3-84DC954516F3}"/>
              </a:ext>
            </a:extLst>
          </p:cNvPr>
          <p:cNvSpPr txBox="1"/>
          <p:nvPr/>
        </p:nvSpPr>
        <p:spPr>
          <a:xfrm>
            <a:off x="3121310" y="3201319"/>
            <a:ext cx="52373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Variant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4E9914-092A-21AE-F2E2-3765852AD59D}"/>
              </a:ext>
            </a:extLst>
          </p:cNvPr>
          <p:cNvSpPr txBox="1"/>
          <p:nvPr/>
        </p:nvSpPr>
        <p:spPr>
          <a:xfrm>
            <a:off x="3332873" y="3738437"/>
            <a:ext cx="109626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Gene Ontology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29B1F8-D7C7-3402-36D5-028B3AA90934}"/>
              </a:ext>
            </a:extLst>
          </p:cNvPr>
          <p:cNvSpPr txBox="1"/>
          <p:nvPr/>
        </p:nvSpPr>
        <p:spPr>
          <a:xfrm>
            <a:off x="732226" y="3442128"/>
            <a:ext cx="44170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Family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FE2CF1-3DB4-3726-52E3-ADB4082CF055}"/>
              </a:ext>
            </a:extLst>
          </p:cNvPr>
          <p:cNvSpPr txBox="1"/>
          <p:nvPr/>
        </p:nvSpPr>
        <p:spPr>
          <a:xfrm>
            <a:off x="606391" y="4080621"/>
            <a:ext cx="63970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Canonical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EC1A6E-F12E-2577-1122-65C0AA3EBC8D}"/>
              </a:ext>
            </a:extLst>
          </p:cNvPr>
          <p:cNvSpPr txBox="1"/>
          <p:nvPr/>
        </p:nvSpPr>
        <p:spPr>
          <a:xfrm>
            <a:off x="1495521" y="2621150"/>
            <a:ext cx="53110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Location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236558-62F6-1A8C-1859-914C6C4F6539}"/>
              </a:ext>
            </a:extLst>
          </p:cNvPr>
          <p:cNvSpPr txBox="1"/>
          <p:nvPr/>
        </p:nvSpPr>
        <p:spPr>
          <a:xfrm>
            <a:off x="1246095" y="2934812"/>
            <a:ext cx="39023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Group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31AC1C-DB55-8771-2645-CFE49C147058}"/>
              </a:ext>
            </a:extLst>
          </p:cNvPr>
          <p:cNvSpPr txBox="1"/>
          <p:nvPr/>
        </p:nvSpPr>
        <p:spPr>
          <a:xfrm>
            <a:off x="3881004" y="2878197"/>
            <a:ext cx="33903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Loci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84687C-A463-F10D-D84D-CD0828E7BCA1}"/>
              </a:ext>
            </a:extLst>
          </p:cNvPr>
          <p:cNvSpPr txBox="1"/>
          <p:nvPr/>
        </p:nvSpPr>
        <p:spPr>
          <a:xfrm>
            <a:off x="4174162" y="4148631"/>
            <a:ext cx="69383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Hierarchy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E714CB55-5EE1-3B32-259A-C06A599A0A1B}"/>
              </a:ext>
            </a:extLst>
          </p:cNvPr>
          <p:cNvCxnSpPr>
            <a:cxnSpLocks/>
            <a:stCxn id="36" idx="2"/>
            <a:endCxn id="25" idx="0"/>
          </p:cNvCxnSpPr>
          <p:nvPr/>
        </p:nvCxnSpPr>
        <p:spPr>
          <a:xfrm rot="16200000" flipH="1">
            <a:off x="1738803" y="2828087"/>
            <a:ext cx="416265" cy="371721"/>
          </a:xfrm>
          <a:prstGeom prst="bentConnector3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B5C16F0A-3C44-ECBC-919E-3AC34CE8D74F}"/>
              </a:ext>
            </a:extLst>
          </p:cNvPr>
          <p:cNvCxnSpPr>
            <a:cxnSpLocks/>
            <a:stCxn id="37" idx="2"/>
            <a:endCxn id="25" idx="1"/>
          </p:cNvCxnSpPr>
          <p:nvPr/>
        </p:nvCxnSpPr>
        <p:spPr>
          <a:xfrm rot="16200000" flipH="1">
            <a:off x="1549065" y="3011625"/>
            <a:ext cx="210325" cy="426029"/>
          </a:xfrm>
          <a:prstGeom prst="bentConnector2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A6C54C78-06BF-8402-01F5-24202A92B0F0}"/>
              </a:ext>
            </a:extLst>
          </p:cNvPr>
          <p:cNvCxnSpPr>
            <a:cxnSpLocks/>
            <a:stCxn id="34" idx="3"/>
            <a:endCxn id="30" idx="0"/>
          </p:cNvCxnSpPr>
          <p:nvPr/>
        </p:nvCxnSpPr>
        <p:spPr>
          <a:xfrm>
            <a:off x="1173929" y="3534461"/>
            <a:ext cx="560863" cy="252802"/>
          </a:xfrm>
          <a:prstGeom prst="bentConnector2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CCFC7361-C0D5-8458-29A6-E6FD98FB8102}"/>
              </a:ext>
            </a:extLst>
          </p:cNvPr>
          <p:cNvCxnSpPr>
            <a:cxnSpLocks/>
            <a:stCxn id="35" idx="3"/>
            <a:endCxn id="30" idx="2"/>
          </p:cNvCxnSpPr>
          <p:nvPr/>
        </p:nvCxnSpPr>
        <p:spPr>
          <a:xfrm flipV="1">
            <a:off x="1246095" y="4002707"/>
            <a:ext cx="488697" cy="170247"/>
          </a:xfrm>
          <a:prstGeom prst="bentConnector2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EDD45433-DCC1-C0A2-2393-FDDF5A8815A2}"/>
              </a:ext>
            </a:extLst>
          </p:cNvPr>
          <p:cNvCxnSpPr>
            <a:cxnSpLocks/>
            <a:stCxn id="39" idx="1"/>
            <a:endCxn id="33" idx="2"/>
          </p:cNvCxnSpPr>
          <p:nvPr/>
        </p:nvCxnSpPr>
        <p:spPr>
          <a:xfrm rot="10800000">
            <a:off x="3881004" y="3953882"/>
            <a:ext cx="293158" cy="287083"/>
          </a:xfrm>
          <a:prstGeom prst="bentConnector2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3A988E19-649C-6D4E-B5CE-E87E7E9F3221}"/>
              </a:ext>
            </a:extLst>
          </p:cNvPr>
          <p:cNvCxnSpPr>
            <a:cxnSpLocks/>
            <a:stCxn id="38" idx="1"/>
            <a:endCxn id="32" idx="0"/>
          </p:cNvCxnSpPr>
          <p:nvPr/>
        </p:nvCxnSpPr>
        <p:spPr>
          <a:xfrm rot="10800000" flipV="1">
            <a:off x="3383178" y="2970529"/>
            <a:ext cx="497827" cy="230789"/>
          </a:xfrm>
          <a:prstGeom prst="bentConnector2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34099A36-A8E8-A455-06CF-0898ECBA13F4}"/>
              </a:ext>
            </a:extLst>
          </p:cNvPr>
          <p:cNvSpPr/>
          <p:nvPr/>
        </p:nvSpPr>
        <p:spPr>
          <a:xfrm>
            <a:off x="2694728" y="3309041"/>
            <a:ext cx="94994" cy="1274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24A800A-5045-4670-C17A-6FFACC4C9DF4}"/>
              </a:ext>
            </a:extLst>
          </p:cNvPr>
          <p:cNvSpPr/>
          <p:nvPr/>
        </p:nvSpPr>
        <p:spPr>
          <a:xfrm>
            <a:off x="2257477" y="3901293"/>
            <a:ext cx="94994" cy="1274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C8CECD8-DFEC-7ADD-4B78-26C9A1D199F9}"/>
              </a:ext>
            </a:extLst>
          </p:cNvPr>
          <p:cNvSpPr/>
          <p:nvPr/>
        </p:nvSpPr>
        <p:spPr>
          <a:xfrm>
            <a:off x="2906079" y="4129123"/>
            <a:ext cx="94994" cy="12740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B954A3F-60DB-7114-432C-B614AFA33C87}"/>
              </a:ext>
            </a:extLst>
          </p:cNvPr>
          <p:cNvSpPr txBox="1"/>
          <p:nvPr/>
        </p:nvSpPr>
        <p:spPr>
          <a:xfrm>
            <a:off x="3103451" y="4361551"/>
            <a:ext cx="5594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Disease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0822BF3-AEAA-E744-238F-8C77128E7CD1}"/>
              </a:ext>
            </a:extLst>
          </p:cNvPr>
          <p:cNvSpPr txBox="1"/>
          <p:nvPr/>
        </p:nvSpPr>
        <p:spPr>
          <a:xfrm>
            <a:off x="2454461" y="4664194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Chemical</a:t>
            </a:r>
          </a:p>
        </p:txBody>
      </p:sp>
    </p:spTree>
    <p:extLst>
      <p:ext uri="{BB962C8B-B14F-4D97-AF65-F5344CB8AC3E}">
        <p14:creationId xmlns:p14="http://schemas.microsoft.com/office/powerpoint/2010/main" val="2770696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E5443-E606-73CC-A030-29F565EB8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 descr="Atom outline">
            <a:extLst>
              <a:ext uri="{FF2B5EF4-FFF2-40B4-BE49-F238E27FC236}">
                <a16:creationId xmlns:a16="http://schemas.microsoft.com/office/drawing/2014/main" id="{A16FE4E2-C44E-E09D-B72D-28FB8F048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8416" y="2093224"/>
            <a:ext cx="1031852" cy="10318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DAF80-DC46-6307-DC74-6A6129AB2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Database Schema (v3.0.0)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AD373-F453-917A-DF51-07D136C07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F3A48B-6B8C-803E-A7D1-A2803D841A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555CB44-8C46-F5C7-227B-2C26954E89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Entityrelationship: CONNECTING THE DOTS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DAC59D-D653-5213-7FBB-EE1CF2DD3E35}"/>
              </a:ext>
            </a:extLst>
          </p:cNvPr>
          <p:cNvSpPr txBox="1"/>
          <p:nvPr/>
        </p:nvSpPr>
        <p:spPr>
          <a:xfrm>
            <a:off x="5362046" y="1642894"/>
            <a:ext cx="6719556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What is an EntityRelationship?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Directed link between two </a:t>
            </a:r>
            <a:r>
              <a:rPr lang="en-US" b="1" dirty="0"/>
              <a:t>Entities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Each relationship has a </a:t>
            </a:r>
            <a:r>
              <a:rPr lang="en-US" b="1" dirty="0"/>
              <a:t>semantic type</a:t>
            </a:r>
            <a:r>
              <a:rPr lang="en-US" dirty="0"/>
              <a:t> (e.g., </a:t>
            </a:r>
            <a:r>
              <a:rPr lang="en-US" i="1" dirty="0" err="1"/>
              <a:t>is_a</a:t>
            </a:r>
            <a:r>
              <a:rPr lang="en-US" dirty="0"/>
              <a:t>, </a:t>
            </a:r>
            <a:r>
              <a:rPr lang="en-US" i="1" dirty="0" err="1"/>
              <a:t>part_of</a:t>
            </a:r>
            <a:r>
              <a:rPr lang="en-US" dirty="0"/>
              <a:t>, </a:t>
            </a:r>
            <a:r>
              <a:rPr lang="en-US" i="1" dirty="0"/>
              <a:t>encodes</a:t>
            </a:r>
            <a:r>
              <a:rPr lang="en-US" dirty="0"/>
              <a:t>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Provenance tracked via </a:t>
            </a:r>
            <a:r>
              <a:rPr lang="en-US" b="1" dirty="0"/>
              <a:t>Data Source ID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Stored as </a:t>
            </a:r>
            <a:r>
              <a:rPr lang="en-US" b="1" dirty="0"/>
              <a:t>lean table</a:t>
            </a:r>
            <a:r>
              <a:rPr lang="en-US" dirty="0"/>
              <a:t> (no enforced FKs for ingestion speed)</a:t>
            </a:r>
          </a:p>
          <a:p>
            <a:pPr>
              <a:spcAft>
                <a:spcPts val="600"/>
              </a:spcAft>
            </a:pPr>
            <a:endParaRPr lang="en-US" sz="600" b="1" dirty="0"/>
          </a:p>
          <a:p>
            <a:pPr>
              <a:spcAft>
                <a:spcPts val="600"/>
              </a:spcAft>
            </a:pPr>
            <a:r>
              <a:rPr lang="en-US" b="1" dirty="0"/>
              <a:t>Why is it important?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Central to </a:t>
            </a:r>
            <a:r>
              <a:rPr lang="en-US" b="1" dirty="0"/>
              <a:t>Modeling</a:t>
            </a:r>
            <a:r>
              <a:rPr lang="en-US" dirty="0"/>
              <a:t>: build interaction networks across domains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multi-hop queries</a:t>
            </a:r>
            <a:r>
              <a:rPr lang="en-US" dirty="0"/>
              <a:t> (e.g., SNP → Gene → Pathway)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Enables </a:t>
            </a:r>
            <a:r>
              <a:rPr lang="en-US" b="1" dirty="0"/>
              <a:t>cross-domain queries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Provides a </a:t>
            </a:r>
            <a:r>
              <a:rPr lang="en-US" b="1" dirty="0"/>
              <a:t>scalable graph-like structure</a:t>
            </a:r>
            <a:r>
              <a:rPr lang="en-US" dirty="0"/>
              <a:t> on top of the relational DB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 v3.1.0 → direct indexing by groups for faster queries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💡 </a:t>
            </a:r>
            <a:r>
              <a:rPr lang="en-US" sz="1600" i="1" dirty="0"/>
              <a:t>EntityRelationships transform isolated data points into a connected knowledge graph. Example:</a:t>
            </a:r>
            <a:r>
              <a:rPr lang="en-US" sz="1600" dirty="0"/>
              <a:t> from a SNP list, users can traverse to genes and further to pathways or proteins.</a:t>
            </a:r>
          </a:p>
        </p:txBody>
      </p:sp>
      <p:pic>
        <p:nvPicPr>
          <p:cNvPr id="18" name="Graphic 17" descr="Atom outline">
            <a:extLst>
              <a:ext uri="{FF2B5EF4-FFF2-40B4-BE49-F238E27FC236}">
                <a16:creationId xmlns:a16="http://schemas.microsoft.com/office/drawing/2014/main" id="{28FA36ED-88C0-3243-D701-A7FF88E99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8876" y="3222081"/>
            <a:ext cx="1345809" cy="1345809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186F4430-F0D8-5EE2-5A33-51B5FA9D13BD}"/>
              </a:ext>
            </a:extLst>
          </p:cNvPr>
          <p:cNvSpPr/>
          <p:nvPr/>
        </p:nvSpPr>
        <p:spPr>
          <a:xfrm>
            <a:off x="2694728" y="3309041"/>
            <a:ext cx="94994" cy="1274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B84BB3C-34FC-02A8-8309-3B036A8B0CE8}"/>
              </a:ext>
            </a:extLst>
          </p:cNvPr>
          <p:cNvSpPr/>
          <p:nvPr/>
        </p:nvSpPr>
        <p:spPr>
          <a:xfrm>
            <a:off x="2257477" y="3901293"/>
            <a:ext cx="94994" cy="1274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8F2D67C-70AF-DF1E-4D9C-3B0863BEDEDB}"/>
              </a:ext>
            </a:extLst>
          </p:cNvPr>
          <p:cNvSpPr/>
          <p:nvPr/>
        </p:nvSpPr>
        <p:spPr>
          <a:xfrm>
            <a:off x="2906079" y="4129123"/>
            <a:ext cx="94994" cy="12740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pic>
        <p:nvPicPr>
          <p:cNvPr id="3" name="Graphic 2" descr="Atom outline">
            <a:extLst>
              <a:ext uri="{FF2B5EF4-FFF2-40B4-BE49-F238E27FC236}">
                <a16:creationId xmlns:a16="http://schemas.microsoft.com/office/drawing/2014/main" id="{BE80BBBF-6F6F-7E6F-AE75-442891980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85433" y="2026932"/>
            <a:ext cx="1345809" cy="1345809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955B439-DC22-19EE-728C-331EE498AE2B}"/>
              </a:ext>
            </a:extLst>
          </p:cNvPr>
          <p:cNvSpPr/>
          <p:nvPr/>
        </p:nvSpPr>
        <p:spPr>
          <a:xfrm>
            <a:off x="2027561" y="2693454"/>
            <a:ext cx="94994" cy="98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pic>
        <p:nvPicPr>
          <p:cNvPr id="11" name="Graphic 10" descr="Atom outline">
            <a:extLst>
              <a:ext uri="{FF2B5EF4-FFF2-40B4-BE49-F238E27FC236}">
                <a16:creationId xmlns:a16="http://schemas.microsoft.com/office/drawing/2014/main" id="{1F7A0F2D-898D-C6DA-D097-EC44E885D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3190" y="4830775"/>
            <a:ext cx="1345809" cy="1345809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75A40496-5466-4927-FC24-148019B42A10}"/>
              </a:ext>
            </a:extLst>
          </p:cNvPr>
          <p:cNvSpPr/>
          <p:nvPr/>
        </p:nvSpPr>
        <p:spPr>
          <a:xfrm>
            <a:off x="2639042" y="4917735"/>
            <a:ext cx="94994" cy="127401"/>
          </a:xfrm>
          <a:prstGeom prst="ellipse">
            <a:avLst/>
          </a:prstGeom>
          <a:solidFill>
            <a:srgbClr val="6042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7489FD-5EE8-3A55-4BD2-1D9BC3AE6B80}"/>
              </a:ext>
            </a:extLst>
          </p:cNvPr>
          <p:cNvSpPr/>
          <p:nvPr/>
        </p:nvSpPr>
        <p:spPr>
          <a:xfrm>
            <a:off x="2201791" y="5509987"/>
            <a:ext cx="94994" cy="127401"/>
          </a:xfrm>
          <a:prstGeom prst="ellipse">
            <a:avLst/>
          </a:prstGeom>
          <a:solidFill>
            <a:schemeClr val="accent6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9CBA98B-B4AF-A022-831D-C724E0B6F6A7}"/>
              </a:ext>
            </a:extLst>
          </p:cNvPr>
          <p:cNvSpPr/>
          <p:nvPr/>
        </p:nvSpPr>
        <p:spPr>
          <a:xfrm>
            <a:off x="2850393" y="5737817"/>
            <a:ext cx="94994" cy="127401"/>
          </a:xfrm>
          <a:prstGeom prst="ellipse">
            <a:avLst/>
          </a:prstGeom>
          <a:solidFill>
            <a:srgbClr val="00AF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pic>
        <p:nvPicPr>
          <p:cNvPr id="15" name="Graphic 14" descr="Atom outline">
            <a:extLst>
              <a:ext uri="{FF2B5EF4-FFF2-40B4-BE49-F238E27FC236}">
                <a16:creationId xmlns:a16="http://schemas.microsoft.com/office/drawing/2014/main" id="{6463A7EC-D8C8-61E0-12EE-2D562061D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239" y="4088686"/>
            <a:ext cx="1019783" cy="1019783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D7B7A15F-D6EB-1329-6E2A-77BC82779E72}"/>
              </a:ext>
            </a:extLst>
          </p:cNvPr>
          <p:cNvSpPr/>
          <p:nvPr/>
        </p:nvSpPr>
        <p:spPr>
          <a:xfrm>
            <a:off x="3490166" y="2933126"/>
            <a:ext cx="94994" cy="1274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D8F0F15-B78A-0119-6573-5A08CBB43E30}"/>
              </a:ext>
            </a:extLst>
          </p:cNvPr>
          <p:cNvSpPr/>
          <p:nvPr/>
        </p:nvSpPr>
        <p:spPr>
          <a:xfrm>
            <a:off x="3944879" y="2233058"/>
            <a:ext cx="94994" cy="12740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pic>
        <p:nvPicPr>
          <p:cNvPr id="29" name="Graphic 28" descr="Atom outline">
            <a:extLst>
              <a:ext uri="{FF2B5EF4-FFF2-40B4-BE49-F238E27FC236}">
                <a16:creationId xmlns:a16="http://schemas.microsoft.com/office/drawing/2014/main" id="{3D215A6E-63EF-C158-A173-8CC2B7822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7147" y="4159501"/>
            <a:ext cx="564741" cy="564741"/>
          </a:xfrm>
          <a:prstGeom prst="rect">
            <a:avLst/>
          </a:prstGeom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EB1E8F58-535C-5567-3A9B-C3AC060FE61D}"/>
              </a:ext>
            </a:extLst>
          </p:cNvPr>
          <p:cNvSpPr/>
          <p:nvPr/>
        </p:nvSpPr>
        <p:spPr>
          <a:xfrm>
            <a:off x="4107735" y="4388051"/>
            <a:ext cx="45719" cy="49244"/>
          </a:xfrm>
          <a:prstGeom prst="ellipse">
            <a:avLst/>
          </a:prstGeom>
          <a:solidFill>
            <a:srgbClr val="A035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4071E16-EE33-978B-0A1F-233B983F68D7}"/>
              </a:ext>
            </a:extLst>
          </p:cNvPr>
          <p:cNvSpPr/>
          <p:nvPr/>
        </p:nvSpPr>
        <p:spPr>
          <a:xfrm>
            <a:off x="3946657" y="4645080"/>
            <a:ext cx="45719" cy="4924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D3AAC1D-CB1A-4275-EAEB-EB32F5386F77}"/>
              </a:ext>
            </a:extLst>
          </p:cNvPr>
          <p:cNvSpPr/>
          <p:nvPr/>
        </p:nvSpPr>
        <p:spPr>
          <a:xfrm>
            <a:off x="3830864" y="4283209"/>
            <a:ext cx="45719" cy="49244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AB9669E-3877-7A63-1826-1F9D076AB976}"/>
              </a:ext>
            </a:extLst>
          </p:cNvPr>
          <p:cNvSpPr/>
          <p:nvPr/>
        </p:nvSpPr>
        <p:spPr>
          <a:xfrm>
            <a:off x="1450945" y="2325671"/>
            <a:ext cx="94994" cy="98488"/>
          </a:xfrm>
          <a:prstGeom prst="ellipse">
            <a:avLst/>
          </a:prstGeom>
          <a:solidFill>
            <a:srgbClr val="0060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AB80C98-63BB-F8B7-1820-552A2CC0576E}"/>
              </a:ext>
            </a:extLst>
          </p:cNvPr>
          <p:cNvSpPr/>
          <p:nvPr/>
        </p:nvSpPr>
        <p:spPr>
          <a:xfrm>
            <a:off x="1115138" y="4143579"/>
            <a:ext cx="94994" cy="98488"/>
          </a:xfrm>
          <a:prstGeom prst="ellipse">
            <a:avLst/>
          </a:prstGeom>
          <a:solidFill>
            <a:srgbClr val="CB5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537F6C4-975A-6282-FB31-F34EFDF3778A}"/>
              </a:ext>
            </a:extLst>
          </p:cNvPr>
          <p:cNvSpPr/>
          <p:nvPr/>
        </p:nvSpPr>
        <p:spPr>
          <a:xfrm>
            <a:off x="776818" y="4781531"/>
            <a:ext cx="94994" cy="98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928B352-84DB-5845-097B-A0257F6430E0}"/>
              </a:ext>
            </a:extLst>
          </p:cNvPr>
          <p:cNvSpPr/>
          <p:nvPr/>
        </p:nvSpPr>
        <p:spPr>
          <a:xfrm flipH="1">
            <a:off x="1682386" y="2565143"/>
            <a:ext cx="83822" cy="8801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6649570-2E45-16D1-D4EA-661897018F5F}"/>
              </a:ext>
            </a:extLst>
          </p:cNvPr>
          <p:cNvSpPr/>
          <p:nvPr/>
        </p:nvSpPr>
        <p:spPr>
          <a:xfrm flipH="1">
            <a:off x="3793854" y="2638854"/>
            <a:ext cx="130526" cy="1202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ECA971D-BFEC-7A43-E8D8-6A7A152699C5}"/>
              </a:ext>
            </a:extLst>
          </p:cNvPr>
          <p:cNvSpPr/>
          <p:nvPr/>
        </p:nvSpPr>
        <p:spPr>
          <a:xfrm flipH="1">
            <a:off x="3933905" y="4413753"/>
            <a:ext cx="60325" cy="6032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486D1AE-B17D-FF10-39F0-A1987C257B39}"/>
              </a:ext>
            </a:extLst>
          </p:cNvPr>
          <p:cNvSpPr/>
          <p:nvPr/>
        </p:nvSpPr>
        <p:spPr>
          <a:xfrm flipH="1">
            <a:off x="2646517" y="3834874"/>
            <a:ext cx="130526" cy="1202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10E621D-3352-0595-B741-A183FFAD19E0}"/>
              </a:ext>
            </a:extLst>
          </p:cNvPr>
          <p:cNvSpPr/>
          <p:nvPr/>
        </p:nvSpPr>
        <p:spPr>
          <a:xfrm flipH="1">
            <a:off x="1099219" y="4557067"/>
            <a:ext cx="83822" cy="8801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6708C92-49C7-D7EB-6482-6506CA89DFC1}"/>
              </a:ext>
            </a:extLst>
          </p:cNvPr>
          <p:cNvSpPr/>
          <p:nvPr/>
        </p:nvSpPr>
        <p:spPr>
          <a:xfrm flipH="1">
            <a:off x="2590831" y="5443569"/>
            <a:ext cx="130526" cy="1202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cxnSp>
        <p:nvCxnSpPr>
          <p:cNvPr id="67" name="Curved Connector 66">
            <a:extLst>
              <a:ext uri="{FF2B5EF4-FFF2-40B4-BE49-F238E27FC236}">
                <a16:creationId xmlns:a16="http://schemas.microsoft.com/office/drawing/2014/main" id="{FFFAEC10-AA78-CE88-F6E9-D534E5C5B9AF}"/>
              </a:ext>
            </a:extLst>
          </p:cNvPr>
          <p:cNvCxnSpPr>
            <a:stCxn id="50" idx="3"/>
            <a:endCxn id="54" idx="7"/>
          </p:cNvCxnSpPr>
          <p:nvPr/>
        </p:nvCxnSpPr>
        <p:spPr>
          <a:xfrm rot="16200000" flipH="1">
            <a:off x="1603676" y="2790523"/>
            <a:ext cx="1212213" cy="911699"/>
          </a:xfrm>
          <a:prstGeom prst="curved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67">
            <a:extLst>
              <a:ext uri="{FF2B5EF4-FFF2-40B4-BE49-F238E27FC236}">
                <a16:creationId xmlns:a16="http://schemas.microsoft.com/office/drawing/2014/main" id="{2DBEED2E-8D07-9FB0-FE22-13219DD02415}"/>
              </a:ext>
            </a:extLst>
          </p:cNvPr>
          <p:cNvCxnSpPr>
            <a:cxnSpLocks/>
            <a:endCxn id="53" idx="6"/>
          </p:cNvCxnSpPr>
          <p:nvPr/>
        </p:nvCxnSpPr>
        <p:spPr>
          <a:xfrm>
            <a:off x="2789005" y="3899845"/>
            <a:ext cx="1144900" cy="544071"/>
          </a:xfrm>
          <a:prstGeom prst="curved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urved Connector 70">
            <a:extLst>
              <a:ext uri="{FF2B5EF4-FFF2-40B4-BE49-F238E27FC236}">
                <a16:creationId xmlns:a16="http://schemas.microsoft.com/office/drawing/2014/main" id="{9DDA0745-120F-263D-835D-511CF4825074}"/>
              </a:ext>
            </a:extLst>
          </p:cNvPr>
          <p:cNvCxnSpPr>
            <a:cxnSpLocks/>
            <a:stCxn id="59" idx="2"/>
            <a:endCxn id="53" idx="4"/>
          </p:cNvCxnSpPr>
          <p:nvPr/>
        </p:nvCxnSpPr>
        <p:spPr>
          <a:xfrm flipV="1">
            <a:off x="2721357" y="4474078"/>
            <a:ext cx="1242710" cy="1029602"/>
          </a:xfrm>
          <a:prstGeom prst="curvedConnector2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urved Connector 75">
            <a:extLst>
              <a:ext uri="{FF2B5EF4-FFF2-40B4-BE49-F238E27FC236}">
                <a16:creationId xmlns:a16="http://schemas.microsoft.com/office/drawing/2014/main" id="{E3122542-BDEA-4BE4-35EB-AC022DECC9AB}"/>
              </a:ext>
            </a:extLst>
          </p:cNvPr>
          <p:cNvCxnSpPr>
            <a:cxnSpLocks/>
            <a:stCxn id="53" idx="2"/>
          </p:cNvCxnSpPr>
          <p:nvPr/>
        </p:nvCxnSpPr>
        <p:spPr>
          <a:xfrm flipH="1" flipV="1">
            <a:off x="3858337" y="2759076"/>
            <a:ext cx="135893" cy="1684840"/>
          </a:xfrm>
          <a:prstGeom prst="curvedConnector4">
            <a:avLst>
              <a:gd name="adj1" fmla="val -168221"/>
              <a:gd name="adj2" fmla="val 50895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urved Connector 78">
            <a:extLst>
              <a:ext uri="{FF2B5EF4-FFF2-40B4-BE49-F238E27FC236}">
                <a16:creationId xmlns:a16="http://schemas.microsoft.com/office/drawing/2014/main" id="{95D25161-0683-6466-657B-405FDFE75760}"/>
              </a:ext>
            </a:extLst>
          </p:cNvPr>
          <p:cNvCxnSpPr>
            <a:cxnSpLocks/>
            <a:stCxn id="56" idx="1"/>
            <a:endCxn id="54" idx="4"/>
          </p:cNvCxnSpPr>
          <p:nvPr/>
        </p:nvCxnSpPr>
        <p:spPr>
          <a:xfrm rot="5400000" flipH="1" flipV="1">
            <a:off x="1633843" y="3492019"/>
            <a:ext cx="614861" cy="1541014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B81F4253-887B-87DD-9410-37E58399BD49}"/>
              </a:ext>
            </a:extLst>
          </p:cNvPr>
          <p:cNvSpPr txBox="1"/>
          <p:nvPr/>
        </p:nvSpPr>
        <p:spPr>
          <a:xfrm>
            <a:off x="221660" y="2694385"/>
            <a:ext cx="762588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rgbClr val="8F9F33"/>
                </a:solidFill>
              </a:rPr>
              <a:t>Alias</a:t>
            </a:r>
          </a:p>
          <a:p>
            <a:pPr algn="ctr"/>
            <a:r>
              <a:rPr lang="en-US" sz="1000" dirty="0">
                <a:solidFill>
                  <a:srgbClr val="8F9F33"/>
                </a:solidFill>
              </a:rPr>
              <a:t>(e.g., HGNC:5)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83DB488-C1AF-388B-D322-79F457218508}"/>
              </a:ext>
            </a:extLst>
          </p:cNvPr>
          <p:cNvSpPr txBox="1"/>
          <p:nvPr/>
        </p:nvSpPr>
        <p:spPr>
          <a:xfrm>
            <a:off x="2249288" y="2121737"/>
            <a:ext cx="74924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rgbClr val="8F9F33"/>
                </a:solidFill>
              </a:rPr>
              <a:t>Entity ID</a:t>
            </a:r>
          </a:p>
          <a:p>
            <a:pPr algn="ctr"/>
            <a:r>
              <a:rPr lang="en-US" sz="1000" dirty="0">
                <a:solidFill>
                  <a:srgbClr val="8F9F33"/>
                </a:solidFill>
              </a:rPr>
              <a:t>(e.g., id 1)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6B72DB8-3B6C-96D6-5B55-F2EB726FDFFC}"/>
              </a:ext>
            </a:extLst>
          </p:cNvPr>
          <p:cNvSpPr txBox="1"/>
          <p:nvPr/>
        </p:nvSpPr>
        <p:spPr>
          <a:xfrm>
            <a:off x="326697" y="3540845"/>
            <a:ext cx="1539075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rgbClr val="8F9F33"/>
                </a:solidFill>
              </a:rPr>
              <a:t>Entity Relationship Type</a:t>
            </a:r>
          </a:p>
          <a:p>
            <a:pPr algn="ctr"/>
            <a:r>
              <a:rPr lang="en-US" sz="1000" dirty="0">
                <a:solidFill>
                  <a:srgbClr val="8F9F33"/>
                </a:solidFill>
              </a:rPr>
              <a:t>(e.g., encodes)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89CAF80-0576-9D50-B6DD-F39A325139E3}"/>
              </a:ext>
            </a:extLst>
          </p:cNvPr>
          <p:cNvCxnSpPr>
            <a:cxnSpLocks/>
            <a:stCxn id="84" idx="0"/>
          </p:cNvCxnSpPr>
          <p:nvPr/>
        </p:nvCxnSpPr>
        <p:spPr>
          <a:xfrm flipV="1">
            <a:off x="1096235" y="3176105"/>
            <a:ext cx="910718" cy="364740"/>
          </a:xfrm>
          <a:prstGeom prst="straightConnector1">
            <a:avLst/>
          </a:prstGeom>
          <a:ln>
            <a:solidFill>
              <a:srgbClr val="8F9F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9866182-99EC-B074-F2A4-506D053E663C}"/>
              </a:ext>
            </a:extLst>
          </p:cNvPr>
          <p:cNvCxnSpPr>
            <a:cxnSpLocks/>
            <a:stCxn id="123" idx="2"/>
            <a:endCxn id="45" idx="1"/>
          </p:cNvCxnSpPr>
          <p:nvPr/>
        </p:nvCxnSpPr>
        <p:spPr>
          <a:xfrm>
            <a:off x="1179975" y="2094132"/>
            <a:ext cx="284882" cy="245962"/>
          </a:xfrm>
          <a:prstGeom prst="straightConnector1">
            <a:avLst/>
          </a:prstGeom>
          <a:ln>
            <a:solidFill>
              <a:srgbClr val="8F9F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2360767-9C7B-5267-9386-158EAEF822E2}"/>
              </a:ext>
            </a:extLst>
          </p:cNvPr>
          <p:cNvCxnSpPr>
            <a:cxnSpLocks/>
            <a:stCxn id="83" idx="1"/>
            <a:endCxn id="50" idx="1"/>
          </p:cNvCxnSpPr>
          <p:nvPr/>
        </p:nvCxnSpPr>
        <p:spPr>
          <a:xfrm flipH="1">
            <a:off x="1753933" y="2291014"/>
            <a:ext cx="495355" cy="287018"/>
          </a:xfrm>
          <a:prstGeom prst="straightConnector1">
            <a:avLst/>
          </a:prstGeom>
          <a:ln>
            <a:solidFill>
              <a:srgbClr val="8F9F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5F3A6639-29D5-E0F1-4A1B-46A52D567C6E}"/>
              </a:ext>
            </a:extLst>
          </p:cNvPr>
          <p:cNvSpPr/>
          <p:nvPr/>
        </p:nvSpPr>
        <p:spPr>
          <a:xfrm>
            <a:off x="4095570" y="2709831"/>
            <a:ext cx="94994" cy="98488"/>
          </a:xfrm>
          <a:prstGeom prst="ellipse">
            <a:avLst/>
          </a:prstGeom>
          <a:solidFill>
            <a:srgbClr val="CB5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cxnSp>
        <p:nvCxnSpPr>
          <p:cNvPr id="101" name="Curved Connector 100">
            <a:extLst>
              <a:ext uri="{FF2B5EF4-FFF2-40B4-BE49-F238E27FC236}">
                <a16:creationId xmlns:a16="http://schemas.microsoft.com/office/drawing/2014/main" id="{9232E9CF-8B73-923C-AD26-19F4B3407A9F}"/>
              </a:ext>
            </a:extLst>
          </p:cNvPr>
          <p:cNvCxnSpPr>
            <a:cxnSpLocks/>
            <a:endCxn id="59" idx="6"/>
          </p:cNvCxnSpPr>
          <p:nvPr/>
        </p:nvCxnSpPr>
        <p:spPr>
          <a:xfrm>
            <a:off x="1198127" y="4623759"/>
            <a:ext cx="1392704" cy="87992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3541830-DA58-8C4F-5264-7B021FDB0055}"/>
              </a:ext>
            </a:extLst>
          </p:cNvPr>
          <p:cNvSpPr txBox="1"/>
          <p:nvPr/>
        </p:nvSpPr>
        <p:spPr>
          <a:xfrm>
            <a:off x="2358952" y="2752085"/>
            <a:ext cx="61690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rgbClr val="8F9F33"/>
                </a:solidFill>
              </a:rPr>
              <a:t>Alias</a:t>
            </a:r>
          </a:p>
          <a:p>
            <a:pPr algn="ctr"/>
            <a:r>
              <a:rPr lang="en-US" sz="1000" dirty="0">
                <a:solidFill>
                  <a:srgbClr val="8F9F33"/>
                </a:solidFill>
              </a:rPr>
              <a:t>(e.g., A1BG)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24F872EE-3064-DF3E-14B4-7509517E2527}"/>
              </a:ext>
            </a:extLst>
          </p:cNvPr>
          <p:cNvCxnSpPr>
            <a:cxnSpLocks/>
            <a:stCxn id="113" idx="1"/>
            <a:endCxn id="10" idx="5"/>
          </p:cNvCxnSpPr>
          <p:nvPr/>
        </p:nvCxnSpPr>
        <p:spPr>
          <a:xfrm flipH="1" flipV="1">
            <a:off x="2108643" y="2777519"/>
            <a:ext cx="250309" cy="143843"/>
          </a:xfrm>
          <a:prstGeom prst="straightConnector1">
            <a:avLst/>
          </a:prstGeom>
          <a:ln>
            <a:solidFill>
              <a:srgbClr val="8F9F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4B8A6D5E-257B-D68B-ED0C-7550D7A99B3E}"/>
              </a:ext>
            </a:extLst>
          </p:cNvPr>
          <p:cNvSpPr/>
          <p:nvPr/>
        </p:nvSpPr>
        <p:spPr>
          <a:xfrm>
            <a:off x="1319258" y="2754848"/>
            <a:ext cx="94994" cy="98488"/>
          </a:xfrm>
          <a:prstGeom prst="ellipse">
            <a:avLst/>
          </a:prstGeom>
          <a:solidFill>
            <a:srgbClr val="CB5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D1287710-2114-5B64-AC22-DC35FB293658}"/>
              </a:ext>
            </a:extLst>
          </p:cNvPr>
          <p:cNvSpPr/>
          <p:nvPr/>
        </p:nvSpPr>
        <p:spPr>
          <a:xfrm>
            <a:off x="1429668" y="4781531"/>
            <a:ext cx="94994" cy="98488"/>
          </a:xfrm>
          <a:prstGeom prst="ellipse">
            <a:avLst/>
          </a:prstGeom>
          <a:solidFill>
            <a:srgbClr val="0060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4D5E077-E75E-61CD-63BC-C2B0258E2A90}"/>
              </a:ext>
            </a:extLst>
          </p:cNvPr>
          <p:cNvSpPr txBox="1"/>
          <p:nvPr/>
        </p:nvSpPr>
        <p:spPr>
          <a:xfrm>
            <a:off x="496130" y="1755578"/>
            <a:ext cx="136769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rgbClr val="8F9F33"/>
                </a:solidFill>
              </a:rPr>
              <a:t>Alias</a:t>
            </a:r>
          </a:p>
          <a:p>
            <a:pPr algn="ctr"/>
            <a:r>
              <a:rPr lang="en-US" sz="1000" dirty="0">
                <a:solidFill>
                  <a:srgbClr val="8F9F33"/>
                </a:solidFill>
              </a:rPr>
              <a:t>(e.g.,ENSG000121410)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24C4E813-A2A6-0E6D-62D5-08AED395D2C2}"/>
              </a:ext>
            </a:extLst>
          </p:cNvPr>
          <p:cNvCxnSpPr>
            <a:cxnSpLocks/>
            <a:stCxn id="82" idx="3"/>
            <a:endCxn id="118" idx="2"/>
          </p:cNvCxnSpPr>
          <p:nvPr/>
        </p:nvCxnSpPr>
        <p:spPr>
          <a:xfrm flipV="1">
            <a:off x="984248" y="2804092"/>
            <a:ext cx="335010" cy="59570"/>
          </a:xfrm>
          <a:prstGeom prst="straightConnector1">
            <a:avLst/>
          </a:prstGeom>
          <a:ln>
            <a:solidFill>
              <a:srgbClr val="8F9F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8067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7B6BF-50AA-EBE5-74FC-285957FA4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5214D-7B39-CF59-F8A6-A56CDE077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Database Schema (v3.0.0)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A0CC3-5C1D-4F9B-9E77-24F40AB633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3EF78-CAC6-26C9-620D-73DE652E0F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07DFF6-C769-EFED-9FF8-2BE537DA6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Gene Domain</a:t>
            </a:r>
          </a:p>
        </p:txBody>
      </p: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06085C98-CE2C-F578-39F4-E76438895AA9}"/>
              </a:ext>
            </a:extLst>
          </p:cNvPr>
          <p:cNvCxnSpPr>
            <a:cxnSpLocks/>
          </p:cNvCxnSpPr>
          <p:nvPr/>
        </p:nvCxnSpPr>
        <p:spPr>
          <a:xfrm>
            <a:off x="1940966" y="3045768"/>
            <a:ext cx="947951" cy="1210128"/>
          </a:xfrm>
          <a:prstGeom prst="bentConnector2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AC4E82C3-079D-037E-C9B3-2F441EFBAF98}"/>
              </a:ext>
            </a:extLst>
          </p:cNvPr>
          <p:cNvSpPr txBox="1"/>
          <p:nvPr/>
        </p:nvSpPr>
        <p:spPr>
          <a:xfrm>
            <a:off x="649372" y="2037847"/>
            <a:ext cx="5741644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Stores </a:t>
            </a:r>
            <a:r>
              <a:rPr lang="en-US" b="1" dirty="0"/>
              <a:t>standardized gene information </a:t>
            </a:r>
            <a:r>
              <a:rPr lang="en-US" dirty="0"/>
              <a:t>(HGNC, Entrez, </a:t>
            </a:r>
            <a:r>
              <a:rPr lang="en-US" dirty="0" err="1"/>
              <a:t>Ensembl</a:t>
            </a:r>
            <a:r>
              <a:rPr lang="en-US" dirty="0"/>
              <a:t> IDs)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multiple genomic locations </a:t>
            </a:r>
            <a:r>
              <a:rPr lang="en-US" dirty="0"/>
              <a:t>and cytogenetic bands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Organizes genes into </a:t>
            </a:r>
            <a:r>
              <a:rPr lang="en-US" b="1" dirty="0"/>
              <a:t>functional and structural groups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Tracks </a:t>
            </a:r>
            <a:r>
              <a:rPr lang="en-US" b="1" dirty="0"/>
              <a:t>locus type </a:t>
            </a:r>
            <a:r>
              <a:rPr lang="en-US" dirty="0"/>
              <a:t>(protein-coding, RNA, pseudogene, …)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Connected to </a:t>
            </a:r>
            <a:r>
              <a:rPr lang="en-US" b="1" dirty="0"/>
              <a:t>Entity</a:t>
            </a:r>
            <a:r>
              <a:rPr lang="en-US" dirty="0"/>
              <a:t> for alias resolution and cross-domain relationships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Linked to </a:t>
            </a:r>
            <a:r>
              <a:rPr lang="en-US" b="1" dirty="0"/>
              <a:t>Variants</a:t>
            </a:r>
            <a:r>
              <a:rPr lang="en-US" dirty="0"/>
              <a:t> via VariantGene</a:t>
            </a:r>
          </a:p>
          <a:p>
            <a:pPr>
              <a:spcAft>
                <a:spcPts val="600"/>
              </a:spcAft>
              <a:buNone/>
            </a:pPr>
            <a:r>
              <a:rPr lang="en-US" dirty="0"/>
              <a:t>💡 </a:t>
            </a:r>
            <a:r>
              <a:rPr lang="en-US" sz="1600" i="1" dirty="0"/>
              <a:t>The Gene Domain ensures consistent, curated representation of genes across multiple data sources.</a:t>
            </a:r>
            <a:endParaRPr lang="en-US" i="1" dirty="0"/>
          </a:p>
        </p:txBody>
      </p:sp>
      <p:sp>
        <p:nvSpPr>
          <p:cNvPr id="159" name="Rounded Rectangle 158">
            <a:extLst>
              <a:ext uri="{FF2B5EF4-FFF2-40B4-BE49-F238E27FC236}">
                <a16:creationId xmlns:a16="http://schemas.microsoft.com/office/drawing/2014/main" id="{18A2349E-3183-9A44-FAE4-78525F10C2C9}"/>
              </a:ext>
            </a:extLst>
          </p:cNvPr>
          <p:cNvSpPr>
            <a:spLocks/>
          </p:cNvSpPr>
          <p:nvPr/>
        </p:nvSpPr>
        <p:spPr>
          <a:xfrm>
            <a:off x="6735007" y="2645086"/>
            <a:ext cx="2758576" cy="1072436"/>
          </a:xfrm>
          <a:prstGeom prst="roundRect">
            <a:avLst>
              <a:gd name="adj" fmla="val 5501"/>
            </a:avLst>
          </a:prstGeom>
          <a:solidFill>
            <a:srgbClr val="FFC000">
              <a:alpha val="1662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160" name="Rounded Rectangle 159">
            <a:extLst>
              <a:ext uri="{FF2B5EF4-FFF2-40B4-BE49-F238E27FC236}">
                <a16:creationId xmlns:a16="http://schemas.microsoft.com/office/drawing/2014/main" id="{EC2FA337-B8F7-13FD-B79C-C26F0947F580}"/>
              </a:ext>
            </a:extLst>
          </p:cNvPr>
          <p:cNvSpPr>
            <a:spLocks/>
          </p:cNvSpPr>
          <p:nvPr/>
        </p:nvSpPr>
        <p:spPr>
          <a:xfrm>
            <a:off x="8443906" y="2656667"/>
            <a:ext cx="3467302" cy="3093389"/>
          </a:xfrm>
          <a:prstGeom prst="roundRect">
            <a:avLst>
              <a:gd name="adj" fmla="val 5501"/>
            </a:avLst>
          </a:prstGeom>
          <a:solidFill>
            <a:srgbClr val="B9CC3F">
              <a:alpha val="1662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1282A9E9-B7E3-A03A-A4F8-F916F8C39101}"/>
              </a:ext>
            </a:extLst>
          </p:cNvPr>
          <p:cNvGrpSpPr/>
          <p:nvPr/>
        </p:nvGrpSpPr>
        <p:grpSpPr>
          <a:xfrm>
            <a:off x="8257512" y="1075776"/>
            <a:ext cx="3666485" cy="1497918"/>
            <a:chOff x="6973806" y="1449275"/>
            <a:chExt cx="3666485" cy="1497918"/>
          </a:xfrm>
        </p:grpSpPr>
        <p:sp>
          <p:nvSpPr>
            <p:cNvPr id="162" name="Rounded Rectangle 161">
              <a:extLst>
                <a:ext uri="{FF2B5EF4-FFF2-40B4-BE49-F238E27FC236}">
                  <a16:creationId xmlns:a16="http://schemas.microsoft.com/office/drawing/2014/main" id="{8E6AAF9B-F1EF-9BF7-2B6C-68DDDEF86075}"/>
                </a:ext>
              </a:extLst>
            </p:cNvPr>
            <p:cNvSpPr>
              <a:spLocks/>
            </p:cNvSpPr>
            <p:nvPr/>
          </p:nvSpPr>
          <p:spPr>
            <a:xfrm>
              <a:off x="7172989" y="1449275"/>
              <a:ext cx="3467302" cy="1497918"/>
            </a:xfrm>
            <a:prstGeom prst="roundRect">
              <a:avLst>
                <a:gd name="adj" fmla="val 5501"/>
              </a:avLst>
            </a:prstGeom>
            <a:solidFill>
              <a:schemeClr val="accent3">
                <a:alpha val="1662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1600" dirty="0" err="1">
                <a:latin typeface="+mj-lt"/>
              </a:endParaRPr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9AB01132-9E94-DE84-A72F-E1A6F2C46728}"/>
                </a:ext>
              </a:extLst>
            </p:cNvPr>
            <p:cNvGrpSpPr/>
            <p:nvPr/>
          </p:nvGrpSpPr>
          <p:grpSpPr>
            <a:xfrm>
              <a:off x="6973806" y="2235611"/>
              <a:ext cx="1401295" cy="474077"/>
              <a:chOff x="6185793" y="1039518"/>
              <a:chExt cx="1401295" cy="474077"/>
            </a:xfrm>
          </p:grpSpPr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78D89103-70F8-C641-787C-DC45F89E78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85793" y="1344318"/>
                <a:ext cx="1401295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lt"/>
                  </a:defRPr>
                </a:lvl1pPr>
              </a:lstStyle>
              <a:p>
                <a:pPr algn="ctr"/>
                <a:r>
                  <a:rPr lang="en-US" sz="1100" dirty="0"/>
                  <a:t>EntityNames</a:t>
                </a:r>
              </a:p>
            </p:txBody>
          </p:sp>
          <p:pic>
            <p:nvPicPr>
              <p:cNvPr id="182" name="Picture 181">
                <a:extLst>
                  <a:ext uri="{FF2B5EF4-FFF2-40B4-BE49-F238E27FC236}">
                    <a16:creationId xmlns:a16="http://schemas.microsoft.com/office/drawing/2014/main" id="{0F79ABCE-BFDB-D2F0-D555-AD282FFA30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670540" y="1039518"/>
                <a:ext cx="431800" cy="304800"/>
              </a:xfrm>
              <a:prstGeom prst="rect">
                <a:avLst/>
              </a:prstGeom>
            </p:spPr>
          </p:pic>
        </p:grp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691F6D9B-9865-09C5-5A42-D13B73C93AB6}"/>
                </a:ext>
              </a:extLst>
            </p:cNvPr>
            <p:cNvGrpSpPr/>
            <p:nvPr/>
          </p:nvGrpSpPr>
          <p:grpSpPr>
            <a:xfrm>
              <a:off x="7508492" y="1713290"/>
              <a:ext cx="1401295" cy="474077"/>
              <a:chOff x="6185793" y="1039518"/>
              <a:chExt cx="1401295" cy="474077"/>
            </a:xfrm>
          </p:grpSpPr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9150594C-C456-5D7F-004A-61437FB563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85793" y="1344318"/>
                <a:ext cx="1401295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lt"/>
                  </a:defRPr>
                </a:lvl1pPr>
              </a:lstStyle>
              <a:p>
                <a:pPr algn="ctr"/>
                <a:r>
                  <a:rPr lang="en-US" sz="1100" dirty="0"/>
                  <a:t>EntityGroup</a:t>
                </a:r>
              </a:p>
            </p:txBody>
          </p:sp>
          <p:pic>
            <p:nvPicPr>
              <p:cNvPr id="180" name="Picture 179">
                <a:extLst>
                  <a:ext uri="{FF2B5EF4-FFF2-40B4-BE49-F238E27FC236}">
                    <a16:creationId xmlns:a16="http://schemas.microsoft.com/office/drawing/2014/main" id="{01B48CC8-54AC-04DF-5DF9-66CD1FC405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670540" y="1039518"/>
                <a:ext cx="431800" cy="304800"/>
              </a:xfrm>
              <a:prstGeom prst="rect">
                <a:avLst/>
              </a:prstGeom>
            </p:spPr>
          </p:pic>
        </p:grp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723D8C72-9641-CD1D-3896-B5D10180764E}"/>
                </a:ext>
              </a:extLst>
            </p:cNvPr>
            <p:cNvGrpSpPr/>
            <p:nvPr/>
          </p:nvGrpSpPr>
          <p:grpSpPr>
            <a:xfrm>
              <a:off x="7981889" y="2404888"/>
              <a:ext cx="1401295" cy="474077"/>
              <a:chOff x="6185793" y="1039518"/>
              <a:chExt cx="1401295" cy="474077"/>
            </a:xfrm>
          </p:grpSpPr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3B60FB51-3DBE-24C8-850F-FDC15A1239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85793" y="1344318"/>
                <a:ext cx="1401295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lt"/>
                  </a:defRPr>
                </a:lvl1pPr>
              </a:lstStyle>
              <a:p>
                <a:pPr algn="ctr"/>
                <a:r>
                  <a:rPr lang="en-US" sz="1100" dirty="0"/>
                  <a:t>Entity</a:t>
                </a:r>
              </a:p>
            </p:txBody>
          </p:sp>
          <p:pic>
            <p:nvPicPr>
              <p:cNvPr id="178" name="Picture 177">
                <a:extLst>
                  <a:ext uri="{FF2B5EF4-FFF2-40B4-BE49-F238E27FC236}">
                    <a16:creationId xmlns:a16="http://schemas.microsoft.com/office/drawing/2014/main" id="{164E9083-F1FA-030E-A055-EC78B5A00E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670540" y="1039518"/>
                <a:ext cx="431800" cy="304800"/>
              </a:xfrm>
              <a:prstGeom prst="rect">
                <a:avLst/>
              </a:prstGeom>
            </p:spPr>
          </p:pic>
        </p:grp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D559327D-53BC-DB2C-A452-A68123B1911A}"/>
                </a:ext>
              </a:extLst>
            </p:cNvPr>
            <p:cNvGrpSpPr/>
            <p:nvPr/>
          </p:nvGrpSpPr>
          <p:grpSpPr>
            <a:xfrm>
              <a:off x="9157406" y="2402006"/>
              <a:ext cx="1401295" cy="474077"/>
              <a:chOff x="6185793" y="1039518"/>
              <a:chExt cx="1401295" cy="474077"/>
            </a:xfrm>
          </p:grpSpPr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AE26557F-EBB4-ED5D-4F56-CC516AD8E8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85793" y="1344318"/>
                <a:ext cx="1401295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lt"/>
                  </a:defRPr>
                </a:lvl1pPr>
              </a:lstStyle>
              <a:p>
                <a:pPr algn="ctr"/>
                <a:r>
                  <a:rPr lang="en-US" sz="1100" dirty="0"/>
                  <a:t>EntityRelationship</a:t>
                </a:r>
              </a:p>
            </p:txBody>
          </p:sp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CB3EFCDF-3AE0-1FF4-7494-E688ED9AA7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670540" y="1039518"/>
                <a:ext cx="431800" cy="304800"/>
              </a:xfrm>
              <a:prstGeom prst="rect">
                <a:avLst/>
              </a:prstGeom>
            </p:spPr>
          </p:pic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D0EB6F43-9FD5-B987-0764-483331DBA678}"/>
                </a:ext>
              </a:extLst>
            </p:cNvPr>
            <p:cNvGrpSpPr/>
            <p:nvPr/>
          </p:nvGrpSpPr>
          <p:grpSpPr>
            <a:xfrm>
              <a:off x="9157406" y="1653169"/>
              <a:ext cx="1401295" cy="474077"/>
              <a:chOff x="6185793" y="1039518"/>
              <a:chExt cx="1401295" cy="474077"/>
            </a:xfrm>
          </p:grpSpPr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7BCF290D-0C7C-E3BC-D663-3C7EEFBC36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85793" y="1344318"/>
                <a:ext cx="1401295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lt"/>
                  </a:defRPr>
                </a:lvl1pPr>
              </a:lstStyle>
              <a:p>
                <a:pPr algn="ctr"/>
                <a:r>
                  <a:rPr lang="en-US" sz="1100" dirty="0"/>
                  <a:t>EntityRelationshipType</a:t>
                </a:r>
              </a:p>
            </p:txBody>
          </p:sp>
          <p:pic>
            <p:nvPicPr>
              <p:cNvPr id="174" name="Picture 173">
                <a:extLst>
                  <a:ext uri="{FF2B5EF4-FFF2-40B4-BE49-F238E27FC236}">
                    <a16:creationId xmlns:a16="http://schemas.microsoft.com/office/drawing/2014/main" id="{5D13E495-2806-F4C0-1A99-BF6D4FDC68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670540" y="1039518"/>
                <a:ext cx="431800" cy="304800"/>
              </a:xfrm>
              <a:prstGeom prst="rect">
                <a:avLst/>
              </a:prstGeom>
            </p:spPr>
          </p:pic>
        </p:grpSp>
        <p:cxnSp>
          <p:nvCxnSpPr>
            <p:cNvPr id="168" name="Elbow Connector 167">
              <a:extLst>
                <a:ext uri="{FF2B5EF4-FFF2-40B4-BE49-F238E27FC236}">
                  <a16:creationId xmlns:a16="http://schemas.microsoft.com/office/drawing/2014/main" id="{B18CCE6D-55C2-B821-30EB-88AE0193EA31}"/>
                </a:ext>
              </a:extLst>
            </p:cNvPr>
            <p:cNvCxnSpPr>
              <a:stCxn id="180" idx="3"/>
              <a:endCxn id="178" idx="0"/>
            </p:cNvCxnSpPr>
            <p:nvPr/>
          </p:nvCxnSpPr>
          <p:spPr>
            <a:xfrm>
              <a:off x="8425039" y="1865690"/>
              <a:ext cx="257497" cy="539198"/>
            </a:xfrm>
            <a:prstGeom prst="bentConnector2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9" name="Elbow Connector 168">
              <a:extLst>
                <a:ext uri="{FF2B5EF4-FFF2-40B4-BE49-F238E27FC236}">
                  <a16:creationId xmlns:a16="http://schemas.microsoft.com/office/drawing/2014/main" id="{D3A8E3A2-944C-7E6D-EE8C-FBD3796F8566}"/>
                </a:ext>
              </a:extLst>
            </p:cNvPr>
            <p:cNvCxnSpPr>
              <a:cxnSpLocks/>
              <a:stCxn id="182" idx="3"/>
              <a:endCxn id="178" idx="1"/>
            </p:cNvCxnSpPr>
            <p:nvPr/>
          </p:nvCxnSpPr>
          <p:spPr>
            <a:xfrm>
              <a:off x="7890353" y="2388011"/>
              <a:ext cx="576283" cy="169277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0" name="Elbow Connector 169">
              <a:extLst>
                <a:ext uri="{FF2B5EF4-FFF2-40B4-BE49-F238E27FC236}">
                  <a16:creationId xmlns:a16="http://schemas.microsoft.com/office/drawing/2014/main" id="{A1D7DC5D-DAD2-6C1B-34B5-BFAEB2FCC3B0}"/>
                </a:ext>
              </a:extLst>
            </p:cNvPr>
            <p:cNvCxnSpPr>
              <a:cxnSpLocks/>
              <a:stCxn id="173" idx="2"/>
              <a:endCxn id="176" idx="0"/>
            </p:cNvCxnSpPr>
            <p:nvPr/>
          </p:nvCxnSpPr>
          <p:spPr>
            <a:xfrm rot="5400000">
              <a:off x="9720674" y="2264626"/>
              <a:ext cx="274760" cy="1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1" name="Elbow Connector 170">
              <a:extLst>
                <a:ext uri="{FF2B5EF4-FFF2-40B4-BE49-F238E27FC236}">
                  <a16:creationId xmlns:a16="http://schemas.microsoft.com/office/drawing/2014/main" id="{0A39FD87-B692-6C0D-6711-60EF5320BFFD}"/>
                </a:ext>
              </a:extLst>
            </p:cNvPr>
            <p:cNvCxnSpPr>
              <a:cxnSpLocks/>
              <a:stCxn id="178" idx="3"/>
              <a:endCxn id="176" idx="1"/>
            </p:cNvCxnSpPr>
            <p:nvPr/>
          </p:nvCxnSpPr>
          <p:spPr>
            <a:xfrm flipV="1">
              <a:off x="8898436" y="2554406"/>
              <a:ext cx="743717" cy="28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0721144D-3F64-663B-032F-F0ED5305D1B1}"/>
                </a:ext>
              </a:extLst>
            </p:cNvPr>
            <p:cNvSpPr txBox="1"/>
            <p:nvPr/>
          </p:nvSpPr>
          <p:spPr>
            <a:xfrm>
              <a:off x="7231928" y="1480380"/>
              <a:ext cx="88505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>
                      <a:lumMod val="75000"/>
                    </a:schemeClr>
                  </a:solidFill>
                  <a:latin typeface="+mj-lt"/>
                </a:rPr>
                <a:t>Entity Domain</a:t>
              </a:r>
            </a:p>
          </p:txBody>
        </p:sp>
      </p:grpSp>
      <p:sp>
        <p:nvSpPr>
          <p:cNvPr id="183" name="Rectangle 182">
            <a:extLst>
              <a:ext uri="{FF2B5EF4-FFF2-40B4-BE49-F238E27FC236}">
                <a16:creationId xmlns:a16="http://schemas.microsoft.com/office/drawing/2014/main" id="{6D1FD857-1B93-0EF8-ACE3-001E5AC211FD}"/>
              </a:ext>
            </a:extLst>
          </p:cNvPr>
          <p:cNvSpPr/>
          <p:nvPr/>
        </p:nvSpPr>
        <p:spPr>
          <a:xfrm>
            <a:off x="7132419" y="5580543"/>
            <a:ext cx="152593" cy="1034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840EBE4F-CF58-D2CB-05B6-1C3EAEE9D444}"/>
              </a:ext>
            </a:extLst>
          </p:cNvPr>
          <p:cNvGrpSpPr/>
          <p:nvPr/>
        </p:nvGrpSpPr>
        <p:grpSpPr>
          <a:xfrm>
            <a:off x="9259704" y="3055469"/>
            <a:ext cx="1401295" cy="474077"/>
            <a:chOff x="9203399" y="2264749"/>
            <a:chExt cx="1401295" cy="474077"/>
          </a:xfrm>
        </p:grpSpPr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5A6F6A5E-A248-BBD0-C428-78B16A3B0216}"/>
                </a:ext>
              </a:extLst>
            </p:cNvPr>
            <p:cNvSpPr txBox="1">
              <a:spLocks/>
            </p:cNvSpPr>
            <p:nvPr/>
          </p:nvSpPr>
          <p:spPr>
            <a:xfrm>
              <a:off x="9203399" y="2569549"/>
              <a:ext cx="140129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defRPr>
              </a:lvl1pPr>
            </a:lstStyle>
            <a:p>
              <a:pPr algn="ctr"/>
              <a:r>
                <a:rPr lang="en-US" sz="1100" dirty="0"/>
                <a:t>GeneMaster</a:t>
              </a:r>
            </a:p>
          </p:txBody>
        </p:sp>
        <p:pic>
          <p:nvPicPr>
            <p:cNvPr id="186" name="Picture 185">
              <a:extLst>
                <a:ext uri="{FF2B5EF4-FFF2-40B4-BE49-F238E27FC236}">
                  <a16:creationId xmlns:a16="http://schemas.microsoft.com/office/drawing/2014/main" id="{1AB83906-7958-0CFA-B90F-17444B05A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88146" y="2264749"/>
              <a:ext cx="431800" cy="304800"/>
            </a:xfrm>
            <a:prstGeom prst="rect">
              <a:avLst/>
            </a:prstGeom>
          </p:spPr>
        </p:pic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CAB0DBA9-248E-A113-D40A-747FFF546BB2}"/>
              </a:ext>
            </a:extLst>
          </p:cNvPr>
          <p:cNvGrpSpPr/>
          <p:nvPr/>
        </p:nvGrpSpPr>
        <p:grpSpPr>
          <a:xfrm>
            <a:off x="10441111" y="3425102"/>
            <a:ext cx="1401295" cy="474077"/>
            <a:chOff x="9203399" y="2264749"/>
            <a:chExt cx="1401295" cy="474077"/>
          </a:xfrm>
        </p:grpSpPr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B3EEF6E9-6A4A-C340-3098-71104EDDAFF5}"/>
                </a:ext>
              </a:extLst>
            </p:cNvPr>
            <p:cNvSpPr txBox="1">
              <a:spLocks/>
            </p:cNvSpPr>
            <p:nvPr/>
          </p:nvSpPr>
          <p:spPr>
            <a:xfrm>
              <a:off x="9203399" y="2569549"/>
              <a:ext cx="140129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defRPr>
              </a:lvl1pPr>
            </a:lstStyle>
            <a:p>
              <a:pPr algn="ctr"/>
              <a:r>
                <a:rPr lang="en-US" sz="1100" dirty="0"/>
                <a:t>GeneGroupMembership</a:t>
              </a:r>
            </a:p>
          </p:txBody>
        </p:sp>
        <p:pic>
          <p:nvPicPr>
            <p:cNvPr id="189" name="Picture 188">
              <a:extLst>
                <a:ext uri="{FF2B5EF4-FFF2-40B4-BE49-F238E27FC236}">
                  <a16:creationId xmlns:a16="http://schemas.microsoft.com/office/drawing/2014/main" id="{036BBF88-014F-1FB8-C645-4746C60FD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88146" y="2264749"/>
              <a:ext cx="431800" cy="304800"/>
            </a:xfrm>
            <a:prstGeom prst="rect">
              <a:avLst/>
            </a:prstGeom>
          </p:spPr>
        </p:pic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A59CD8A5-D0B7-174C-CB56-684E3082E04D}"/>
              </a:ext>
            </a:extLst>
          </p:cNvPr>
          <p:cNvGrpSpPr/>
          <p:nvPr/>
        </p:nvGrpSpPr>
        <p:grpSpPr>
          <a:xfrm>
            <a:off x="10436127" y="4306985"/>
            <a:ext cx="1401295" cy="474077"/>
            <a:chOff x="9203399" y="2264749"/>
            <a:chExt cx="1401295" cy="474077"/>
          </a:xfrm>
        </p:grpSpPr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FB59279B-2771-6625-4D0A-EE718740BECF}"/>
                </a:ext>
              </a:extLst>
            </p:cNvPr>
            <p:cNvSpPr txBox="1">
              <a:spLocks/>
            </p:cNvSpPr>
            <p:nvPr/>
          </p:nvSpPr>
          <p:spPr>
            <a:xfrm>
              <a:off x="9203399" y="2569549"/>
              <a:ext cx="140129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defRPr>
              </a:lvl1pPr>
            </a:lstStyle>
            <a:p>
              <a:pPr algn="ctr"/>
              <a:r>
                <a:rPr lang="en-US" sz="1100" dirty="0"/>
                <a:t>GeneGroup</a:t>
              </a:r>
            </a:p>
          </p:txBody>
        </p:sp>
        <p:pic>
          <p:nvPicPr>
            <p:cNvPr id="192" name="Picture 191">
              <a:extLst>
                <a:ext uri="{FF2B5EF4-FFF2-40B4-BE49-F238E27FC236}">
                  <a16:creationId xmlns:a16="http://schemas.microsoft.com/office/drawing/2014/main" id="{0A03AB5E-04F0-1F0A-6E8B-D6790D0FD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88146" y="2264749"/>
              <a:ext cx="431800" cy="304800"/>
            </a:xfrm>
            <a:prstGeom prst="rect">
              <a:avLst/>
            </a:prstGeom>
          </p:spPr>
        </p:pic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6BBC078F-CE12-F39B-F814-5E9E38C0B0DF}"/>
              </a:ext>
            </a:extLst>
          </p:cNvPr>
          <p:cNvGrpSpPr/>
          <p:nvPr/>
        </p:nvGrpSpPr>
        <p:grpSpPr>
          <a:xfrm>
            <a:off x="9087260" y="4200826"/>
            <a:ext cx="1401295" cy="474077"/>
            <a:chOff x="9203399" y="2264749"/>
            <a:chExt cx="1401295" cy="474077"/>
          </a:xfrm>
        </p:grpSpPr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961FD849-A60A-FC49-A3CC-736014CCFEFC}"/>
                </a:ext>
              </a:extLst>
            </p:cNvPr>
            <p:cNvSpPr txBox="1">
              <a:spLocks/>
            </p:cNvSpPr>
            <p:nvPr/>
          </p:nvSpPr>
          <p:spPr>
            <a:xfrm>
              <a:off x="9203399" y="2569549"/>
              <a:ext cx="140129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defRPr>
              </a:lvl1pPr>
            </a:lstStyle>
            <a:p>
              <a:pPr algn="ctr"/>
              <a:r>
                <a:rPr lang="en-US" sz="1100" dirty="0"/>
                <a:t>GeneLocation</a:t>
              </a:r>
            </a:p>
          </p:txBody>
        </p:sp>
        <p:pic>
          <p:nvPicPr>
            <p:cNvPr id="195" name="Picture 194">
              <a:extLst>
                <a:ext uri="{FF2B5EF4-FFF2-40B4-BE49-F238E27FC236}">
                  <a16:creationId xmlns:a16="http://schemas.microsoft.com/office/drawing/2014/main" id="{F9090100-CC8F-A186-28B6-79C0B1CBE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88146" y="2264749"/>
              <a:ext cx="431800" cy="304800"/>
            </a:xfrm>
            <a:prstGeom prst="rect">
              <a:avLst/>
            </a:prstGeom>
          </p:spPr>
        </p:pic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291F75E5-BCA9-10B6-61AF-09C3C683FA86}"/>
              </a:ext>
            </a:extLst>
          </p:cNvPr>
          <p:cNvGrpSpPr/>
          <p:nvPr/>
        </p:nvGrpSpPr>
        <p:grpSpPr>
          <a:xfrm>
            <a:off x="9792406" y="5003092"/>
            <a:ext cx="1401295" cy="474077"/>
            <a:chOff x="9203399" y="2264749"/>
            <a:chExt cx="1401295" cy="474077"/>
          </a:xfrm>
        </p:grpSpPr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CB5A3ABA-64E6-11E8-3239-482269ECD413}"/>
                </a:ext>
              </a:extLst>
            </p:cNvPr>
            <p:cNvSpPr txBox="1">
              <a:spLocks/>
            </p:cNvSpPr>
            <p:nvPr/>
          </p:nvSpPr>
          <p:spPr>
            <a:xfrm>
              <a:off x="9203399" y="2569549"/>
              <a:ext cx="140129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defRPr>
              </a:lvl1pPr>
            </a:lstStyle>
            <a:p>
              <a:pPr algn="ctr"/>
              <a:r>
                <a:rPr lang="en-US" sz="1100" dirty="0"/>
                <a:t>GeneLocusGroup</a:t>
              </a:r>
            </a:p>
          </p:txBody>
        </p:sp>
        <p:pic>
          <p:nvPicPr>
            <p:cNvPr id="198" name="Picture 197">
              <a:extLst>
                <a:ext uri="{FF2B5EF4-FFF2-40B4-BE49-F238E27FC236}">
                  <a16:creationId xmlns:a16="http://schemas.microsoft.com/office/drawing/2014/main" id="{E2B12697-6A0F-387F-2D0E-3051525E0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88146" y="2264749"/>
              <a:ext cx="431800" cy="304800"/>
            </a:xfrm>
            <a:prstGeom prst="rect">
              <a:avLst/>
            </a:prstGeom>
          </p:spPr>
        </p:pic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D9A6B2D2-693C-DF3E-4213-0BEDF1940D0B}"/>
              </a:ext>
            </a:extLst>
          </p:cNvPr>
          <p:cNvGrpSpPr/>
          <p:nvPr/>
        </p:nvGrpSpPr>
        <p:grpSpPr>
          <a:xfrm>
            <a:off x="8377676" y="5043529"/>
            <a:ext cx="1401295" cy="474077"/>
            <a:chOff x="9203399" y="2264749"/>
            <a:chExt cx="1401295" cy="474077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A771EAFE-A73F-47D9-AF5E-2D479B7091D1}"/>
                </a:ext>
              </a:extLst>
            </p:cNvPr>
            <p:cNvSpPr txBox="1">
              <a:spLocks/>
            </p:cNvSpPr>
            <p:nvPr/>
          </p:nvSpPr>
          <p:spPr>
            <a:xfrm>
              <a:off x="9203399" y="2569549"/>
              <a:ext cx="140129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defRPr>
              </a:lvl1pPr>
            </a:lstStyle>
            <a:p>
              <a:pPr algn="ctr"/>
              <a:r>
                <a:rPr lang="en-US" sz="1100" dirty="0"/>
                <a:t>GeneLocusType</a:t>
              </a:r>
            </a:p>
          </p:txBody>
        </p:sp>
        <p:pic>
          <p:nvPicPr>
            <p:cNvPr id="201" name="Picture 200">
              <a:extLst>
                <a:ext uri="{FF2B5EF4-FFF2-40B4-BE49-F238E27FC236}">
                  <a16:creationId xmlns:a16="http://schemas.microsoft.com/office/drawing/2014/main" id="{8D0A7D9B-A8C2-6A3A-707D-730B566AF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88146" y="2264749"/>
              <a:ext cx="431800" cy="304800"/>
            </a:xfrm>
            <a:prstGeom prst="rect">
              <a:avLst/>
            </a:prstGeom>
          </p:spPr>
        </p:pic>
      </p:grpSp>
      <p:cxnSp>
        <p:nvCxnSpPr>
          <p:cNvPr id="202" name="Elbow Connector 201">
            <a:extLst>
              <a:ext uri="{FF2B5EF4-FFF2-40B4-BE49-F238E27FC236}">
                <a16:creationId xmlns:a16="http://schemas.microsoft.com/office/drawing/2014/main" id="{14AD6634-0193-3D9B-FD05-BD88D88AC840}"/>
              </a:ext>
            </a:extLst>
          </p:cNvPr>
          <p:cNvCxnSpPr>
            <a:cxnSpLocks/>
            <a:stCxn id="177" idx="2"/>
            <a:endCxn id="186" idx="0"/>
          </p:cNvCxnSpPr>
          <p:nvPr/>
        </p:nvCxnSpPr>
        <p:spPr>
          <a:xfrm rot="5400000">
            <a:off x="9688296" y="2777521"/>
            <a:ext cx="550003" cy="589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3" name="Elbow Connector 202">
            <a:extLst>
              <a:ext uri="{FF2B5EF4-FFF2-40B4-BE49-F238E27FC236}">
                <a16:creationId xmlns:a16="http://schemas.microsoft.com/office/drawing/2014/main" id="{F1FFB90E-EFB4-FABB-9EA5-10E4017998DB}"/>
              </a:ext>
            </a:extLst>
          </p:cNvPr>
          <p:cNvCxnSpPr>
            <a:cxnSpLocks/>
            <a:stCxn id="186" idx="3"/>
            <a:endCxn id="189" idx="0"/>
          </p:cNvCxnSpPr>
          <p:nvPr/>
        </p:nvCxnSpPr>
        <p:spPr>
          <a:xfrm>
            <a:off x="10176251" y="3207869"/>
            <a:ext cx="965507" cy="217233"/>
          </a:xfrm>
          <a:prstGeom prst="bentConnector2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4" name="Elbow Connector 203">
            <a:extLst>
              <a:ext uri="{FF2B5EF4-FFF2-40B4-BE49-F238E27FC236}">
                <a16:creationId xmlns:a16="http://schemas.microsoft.com/office/drawing/2014/main" id="{111C5D34-91CA-209E-84D1-446FCD5FF1C3}"/>
              </a:ext>
            </a:extLst>
          </p:cNvPr>
          <p:cNvCxnSpPr>
            <a:cxnSpLocks/>
            <a:stCxn id="188" idx="2"/>
            <a:endCxn id="192" idx="0"/>
          </p:cNvCxnSpPr>
          <p:nvPr/>
        </p:nvCxnSpPr>
        <p:spPr>
          <a:xfrm rot="5400000">
            <a:off x="10935364" y="4100590"/>
            <a:ext cx="407806" cy="498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5" name="Elbow Connector 204">
            <a:extLst>
              <a:ext uri="{FF2B5EF4-FFF2-40B4-BE49-F238E27FC236}">
                <a16:creationId xmlns:a16="http://schemas.microsoft.com/office/drawing/2014/main" id="{1150AF79-A702-3B7C-D52D-06E28B0CEF35}"/>
              </a:ext>
            </a:extLst>
          </p:cNvPr>
          <p:cNvCxnSpPr>
            <a:cxnSpLocks/>
            <a:stCxn id="185" idx="2"/>
            <a:endCxn id="195" idx="0"/>
          </p:cNvCxnSpPr>
          <p:nvPr/>
        </p:nvCxnSpPr>
        <p:spPr>
          <a:xfrm rot="5400000">
            <a:off x="9538490" y="3778964"/>
            <a:ext cx="671280" cy="17244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6" name="Elbow Connector 205">
            <a:extLst>
              <a:ext uri="{FF2B5EF4-FFF2-40B4-BE49-F238E27FC236}">
                <a16:creationId xmlns:a16="http://schemas.microsoft.com/office/drawing/2014/main" id="{91DDD7FB-2466-342A-3309-81FF2B075F83}"/>
              </a:ext>
            </a:extLst>
          </p:cNvPr>
          <p:cNvCxnSpPr>
            <a:cxnSpLocks/>
            <a:stCxn id="195" idx="3"/>
          </p:cNvCxnSpPr>
          <p:nvPr/>
        </p:nvCxnSpPr>
        <p:spPr>
          <a:xfrm>
            <a:off x="10003807" y="4353226"/>
            <a:ext cx="475810" cy="649866"/>
          </a:xfrm>
          <a:prstGeom prst="bentConnector2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7" name="Elbow Connector 206">
            <a:extLst>
              <a:ext uri="{FF2B5EF4-FFF2-40B4-BE49-F238E27FC236}">
                <a16:creationId xmlns:a16="http://schemas.microsoft.com/office/drawing/2014/main" id="{ADC952D3-F052-38BA-0D74-4A604EE08AE2}"/>
              </a:ext>
            </a:extLst>
          </p:cNvPr>
          <p:cNvCxnSpPr>
            <a:cxnSpLocks/>
            <a:stCxn id="195" idx="1"/>
            <a:endCxn id="201" idx="0"/>
          </p:cNvCxnSpPr>
          <p:nvPr/>
        </p:nvCxnSpPr>
        <p:spPr>
          <a:xfrm rot="10800000" flipV="1">
            <a:off x="9078323" y="4353225"/>
            <a:ext cx="493684" cy="690303"/>
          </a:xfrm>
          <a:prstGeom prst="bentConnector2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CEBA85E1-ED1C-B164-DD3A-85E7594BA36E}"/>
              </a:ext>
            </a:extLst>
          </p:cNvPr>
          <p:cNvSpPr txBox="1"/>
          <p:nvPr/>
        </p:nvSpPr>
        <p:spPr>
          <a:xfrm>
            <a:off x="10708773" y="2742971"/>
            <a:ext cx="85600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200" dirty="0">
                <a:solidFill>
                  <a:srgbClr val="8F9F33"/>
                </a:solidFill>
                <a:latin typeface="+mj-lt"/>
              </a:rPr>
              <a:t>Gene Domain</a:t>
            </a: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19ED0972-78B0-319D-0807-F9F7F08065B6}"/>
              </a:ext>
            </a:extLst>
          </p:cNvPr>
          <p:cNvGrpSpPr/>
          <p:nvPr/>
        </p:nvGrpSpPr>
        <p:grpSpPr>
          <a:xfrm>
            <a:off x="8216013" y="3056658"/>
            <a:ext cx="1401295" cy="474077"/>
            <a:chOff x="9203399" y="2264749"/>
            <a:chExt cx="1401295" cy="474077"/>
          </a:xfrm>
        </p:grpSpPr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BC9D648F-C29F-C554-A9B4-095C2295BFC6}"/>
                </a:ext>
              </a:extLst>
            </p:cNvPr>
            <p:cNvSpPr txBox="1">
              <a:spLocks/>
            </p:cNvSpPr>
            <p:nvPr/>
          </p:nvSpPr>
          <p:spPr>
            <a:xfrm>
              <a:off x="9203399" y="2569549"/>
              <a:ext cx="140129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defRPr>
              </a:lvl1pPr>
            </a:lstStyle>
            <a:p>
              <a:pPr algn="ctr"/>
              <a:r>
                <a:rPr lang="en-US" sz="1100" dirty="0"/>
                <a:t>VariantGene</a:t>
              </a:r>
            </a:p>
          </p:txBody>
        </p:sp>
        <p:pic>
          <p:nvPicPr>
            <p:cNvPr id="211" name="Picture 210">
              <a:extLst>
                <a:ext uri="{FF2B5EF4-FFF2-40B4-BE49-F238E27FC236}">
                  <a16:creationId xmlns:a16="http://schemas.microsoft.com/office/drawing/2014/main" id="{95A984AE-A27C-5835-9140-E98F2BD88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88146" y="2264749"/>
              <a:ext cx="431800" cy="304800"/>
            </a:xfrm>
            <a:prstGeom prst="rect">
              <a:avLst/>
            </a:prstGeom>
          </p:spPr>
        </p:pic>
      </p:grpSp>
      <p:cxnSp>
        <p:nvCxnSpPr>
          <p:cNvPr id="212" name="Elbow Connector 211">
            <a:extLst>
              <a:ext uri="{FF2B5EF4-FFF2-40B4-BE49-F238E27FC236}">
                <a16:creationId xmlns:a16="http://schemas.microsoft.com/office/drawing/2014/main" id="{562E1CDB-67FF-A235-20CA-7E4A33DC0C3A}"/>
              </a:ext>
            </a:extLst>
          </p:cNvPr>
          <p:cNvCxnSpPr>
            <a:cxnSpLocks/>
            <a:stCxn id="211" idx="3"/>
            <a:endCxn id="186" idx="1"/>
          </p:cNvCxnSpPr>
          <p:nvPr/>
        </p:nvCxnSpPr>
        <p:spPr>
          <a:xfrm flipV="1">
            <a:off x="9132560" y="3207869"/>
            <a:ext cx="611891" cy="118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00EFA92D-9E50-1D91-884F-997E2620B65D}"/>
              </a:ext>
            </a:extLst>
          </p:cNvPr>
          <p:cNvSpPr txBox="1"/>
          <p:nvPr/>
        </p:nvSpPr>
        <p:spPr>
          <a:xfrm>
            <a:off x="6849533" y="2679729"/>
            <a:ext cx="96782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200" dirty="0">
                <a:solidFill>
                  <a:srgbClr val="FFC000"/>
                </a:solidFill>
                <a:latin typeface="+mj-lt"/>
              </a:rPr>
              <a:t>Variant Domain</a:t>
            </a: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754B9537-943D-319B-AD88-9A545F09AD04}"/>
              </a:ext>
            </a:extLst>
          </p:cNvPr>
          <p:cNvGrpSpPr/>
          <p:nvPr/>
        </p:nvGrpSpPr>
        <p:grpSpPr>
          <a:xfrm>
            <a:off x="7025332" y="3057020"/>
            <a:ext cx="1401295" cy="474077"/>
            <a:chOff x="9203399" y="2264749"/>
            <a:chExt cx="1401295" cy="474077"/>
          </a:xfrm>
        </p:grpSpPr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B4C24B1B-A830-30EC-3BD0-5BD05B619CEF}"/>
                </a:ext>
              </a:extLst>
            </p:cNvPr>
            <p:cNvSpPr txBox="1">
              <a:spLocks/>
            </p:cNvSpPr>
            <p:nvPr/>
          </p:nvSpPr>
          <p:spPr>
            <a:xfrm>
              <a:off x="9203399" y="2569549"/>
              <a:ext cx="140129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defRPr>
              </a:lvl1pPr>
            </a:lstStyle>
            <a:p>
              <a:pPr algn="ctr"/>
              <a:r>
                <a:rPr lang="en-US" sz="1100" dirty="0"/>
                <a:t>Variant</a:t>
              </a:r>
            </a:p>
          </p:txBody>
        </p:sp>
        <p:pic>
          <p:nvPicPr>
            <p:cNvPr id="216" name="Picture 215">
              <a:extLst>
                <a:ext uri="{FF2B5EF4-FFF2-40B4-BE49-F238E27FC236}">
                  <a16:creationId xmlns:a16="http://schemas.microsoft.com/office/drawing/2014/main" id="{BA5316C7-CDE8-A03B-F01A-B355B4680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88146" y="2264749"/>
              <a:ext cx="431800" cy="304800"/>
            </a:xfrm>
            <a:prstGeom prst="rect">
              <a:avLst/>
            </a:prstGeom>
          </p:spPr>
        </p:pic>
      </p:grpSp>
      <p:cxnSp>
        <p:nvCxnSpPr>
          <p:cNvPr id="217" name="Elbow Connector 216">
            <a:extLst>
              <a:ext uri="{FF2B5EF4-FFF2-40B4-BE49-F238E27FC236}">
                <a16:creationId xmlns:a16="http://schemas.microsoft.com/office/drawing/2014/main" id="{DA9A0D4A-3429-2D10-6701-252DB8B89FFA}"/>
              </a:ext>
            </a:extLst>
          </p:cNvPr>
          <p:cNvCxnSpPr>
            <a:cxnSpLocks/>
            <a:stCxn id="216" idx="3"/>
            <a:endCxn id="211" idx="1"/>
          </p:cNvCxnSpPr>
          <p:nvPr/>
        </p:nvCxnSpPr>
        <p:spPr>
          <a:xfrm flipV="1">
            <a:off x="7941879" y="3209058"/>
            <a:ext cx="758881" cy="362"/>
          </a:xfrm>
          <a:prstGeom prst="bent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8" name="Elbow Connector 217">
            <a:extLst>
              <a:ext uri="{FF2B5EF4-FFF2-40B4-BE49-F238E27FC236}">
                <a16:creationId xmlns:a16="http://schemas.microsoft.com/office/drawing/2014/main" id="{2E4C9898-56E5-A8AB-0497-C5EDF056DE36}"/>
              </a:ext>
            </a:extLst>
          </p:cNvPr>
          <p:cNvCxnSpPr>
            <a:cxnSpLocks/>
          </p:cNvCxnSpPr>
          <p:nvPr/>
        </p:nvCxnSpPr>
        <p:spPr>
          <a:xfrm flipV="1">
            <a:off x="7121999" y="3207191"/>
            <a:ext cx="361606" cy="153078"/>
          </a:xfrm>
          <a:prstGeom prst="bent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470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F44B2-E0D3-BD99-EE11-257FA806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ounded Rectangle 220">
            <a:extLst>
              <a:ext uri="{FF2B5EF4-FFF2-40B4-BE49-F238E27FC236}">
                <a16:creationId xmlns:a16="http://schemas.microsoft.com/office/drawing/2014/main" id="{C386DA92-7ED3-4F2D-2692-C54A20F908B8}"/>
              </a:ext>
            </a:extLst>
          </p:cNvPr>
          <p:cNvSpPr>
            <a:spLocks/>
          </p:cNvSpPr>
          <p:nvPr/>
        </p:nvSpPr>
        <p:spPr>
          <a:xfrm>
            <a:off x="8423735" y="2589432"/>
            <a:ext cx="3467302" cy="3093389"/>
          </a:xfrm>
          <a:prstGeom prst="roundRect">
            <a:avLst>
              <a:gd name="adj" fmla="val 5501"/>
            </a:avLst>
          </a:prstGeom>
          <a:solidFill>
            <a:srgbClr val="7030A0">
              <a:alpha val="1662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BF0175-3B36-4686-40F4-E5D65C3F8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3994629" cy="561600"/>
          </a:xfrm>
        </p:spPr>
        <p:txBody>
          <a:bodyPr/>
          <a:lstStyle/>
          <a:p>
            <a:r>
              <a:rPr lang="en-US" sz="2800" dirty="0"/>
              <a:t>Database Schema (v3.0.0)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A6722-7429-4D07-0720-DDC51A4E98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3CA421-9EA5-4307-DD83-D02F2CD0C7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859628-CC98-BA59-FDF5-BFA4406D9E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0000" y="1279218"/>
            <a:ext cx="2306735" cy="347020"/>
          </a:xfrm>
        </p:spPr>
        <p:txBody>
          <a:bodyPr/>
          <a:lstStyle/>
          <a:p>
            <a:r>
              <a:rPr lang="en-US" dirty="0"/>
              <a:t>PROTEIN Domain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0501199-7CE4-679D-F20E-08AFE50D50E0}"/>
              </a:ext>
            </a:extLst>
          </p:cNvPr>
          <p:cNvSpPr txBox="1"/>
          <p:nvPr/>
        </p:nvSpPr>
        <p:spPr>
          <a:xfrm>
            <a:off x="612334" y="2099677"/>
            <a:ext cx="748222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Represents </a:t>
            </a:r>
            <a:r>
              <a:rPr lang="en-US" b="1" dirty="0"/>
              <a:t>canonical proteins</a:t>
            </a:r>
            <a:r>
              <a:rPr lang="en-US" dirty="0"/>
              <a:t> and their </a:t>
            </a:r>
            <a:r>
              <a:rPr lang="en-US" b="1" dirty="0"/>
              <a:t>isoforms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Stores </a:t>
            </a:r>
            <a:r>
              <a:rPr lang="en-US" b="1" dirty="0"/>
              <a:t>functional metadata</a:t>
            </a:r>
            <a:r>
              <a:rPr lang="en-US" dirty="0"/>
              <a:t> (function, localization, tissue expression)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Links proteins to </a:t>
            </a:r>
            <a:r>
              <a:rPr lang="en-US" b="1" dirty="0" err="1"/>
              <a:t>Pfam</a:t>
            </a:r>
            <a:r>
              <a:rPr lang="en-US" b="1" dirty="0"/>
              <a:t> domains</a:t>
            </a:r>
            <a:r>
              <a:rPr lang="en-US" dirty="0"/>
              <a:t> via ProteinPfamLink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Proteins are represented as </a:t>
            </a:r>
            <a:r>
              <a:rPr lang="en-US" b="1" dirty="0"/>
              <a:t>Entities</a:t>
            </a:r>
            <a:r>
              <a:rPr lang="en-US" dirty="0"/>
              <a:t> in both canonical and isoform forms, but ProteinMaster stores only the </a:t>
            </a:r>
            <a:r>
              <a:rPr lang="en-US" b="1" dirty="0"/>
              <a:t>canonical protein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Distinguishes </a:t>
            </a:r>
            <a:r>
              <a:rPr lang="en-US" b="1" dirty="0"/>
              <a:t>isoforms</a:t>
            </a:r>
            <a:r>
              <a:rPr lang="en-US" dirty="0"/>
              <a:t> without duplicating canonical metadata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Fully traceable to </a:t>
            </a:r>
            <a:r>
              <a:rPr lang="en-US" b="1" dirty="0"/>
              <a:t>source systems</a:t>
            </a:r>
            <a:r>
              <a:rPr lang="en-US" dirty="0"/>
              <a:t> (e.g., UniProt, </a:t>
            </a:r>
            <a:r>
              <a:rPr lang="en-US" dirty="0" err="1"/>
              <a:t>Pfam</a:t>
            </a:r>
            <a:r>
              <a:rPr lang="en-US" dirty="0"/>
              <a:t>)</a:t>
            </a:r>
          </a:p>
          <a:p>
            <a:pPr>
              <a:spcAft>
                <a:spcPts val="600"/>
              </a:spcAft>
            </a:pPr>
            <a:r>
              <a:rPr lang="en-US" dirty="0"/>
              <a:t>💡 </a:t>
            </a:r>
            <a:r>
              <a:rPr lang="en-US" i="1" dirty="0"/>
              <a:t>The Protein Domain provides a scalable framework for integrating protein structure, function, and isoform diversity.</a:t>
            </a:r>
            <a:endParaRPr lang="en-US" dirty="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94483DF-06E1-114E-E4CD-B0A7853DA436}"/>
              </a:ext>
            </a:extLst>
          </p:cNvPr>
          <p:cNvGrpSpPr/>
          <p:nvPr/>
        </p:nvGrpSpPr>
        <p:grpSpPr>
          <a:xfrm>
            <a:off x="8237341" y="1008541"/>
            <a:ext cx="3666485" cy="1497918"/>
            <a:chOff x="6973806" y="1449275"/>
            <a:chExt cx="3666485" cy="1497918"/>
          </a:xfrm>
        </p:grpSpPr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D37A5DB5-0DC6-AD36-406E-1B0C100C1BAF}"/>
                </a:ext>
              </a:extLst>
            </p:cNvPr>
            <p:cNvSpPr>
              <a:spLocks/>
            </p:cNvSpPr>
            <p:nvPr/>
          </p:nvSpPr>
          <p:spPr>
            <a:xfrm>
              <a:off x="7172989" y="1449275"/>
              <a:ext cx="3467302" cy="1497918"/>
            </a:xfrm>
            <a:prstGeom prst="roundRect">
              <a:avLst>
                <a:gd name="adj" fmla="val 5501"/>
              </a:avLst>
            </a:prstGeom>
            <a:solidFill>
              <a:schemeClr val="accent3">
                <a:alpha val="1662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1600" dirty="0" err="1">
                <a:latin typeface="+mj-lt"/>
              </a:endParaRPr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4D906CA3-7C82-EF0C-9F8B-99FD24753D50}"/>
                </a:ext>
              </a:extLst>
            </p:cNvPr>
            <p:cNvGrpSpPr/>
            <p:nvPr/>
          </p:nvGrpSpPr>
          <p:grpSpPr>
            <a:xfrm>
              <a:off x="6973806" y="2235611"/>
              <a:ext cx="1401295" cy="474077"/>
              <a:chOff x="6185793" y="1039518"/>
              <a:chExt cx="1401295" cy="474077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EF34F73-B318-7E5D-7439-B06781E2A5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85793" y="1344318"/>
                <a:ext cx="1401295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lt"/>
                  </a:defRPr>
                </a:lvl1pPr>
              </a:lstStyle>
              <a:p>
                <a:pPr algn="ctr"/>
                <a:r>
                  <a:rPr lang="en-US" sz="1100" dirty="0"/>
                  <a:t>EntityNames</a:t>
                </a:r>
              </a:p>
            </p:txBody>
          </p:sp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77D4D486-CDB6-6EEC-5436-4512EFBFB2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670540" y="1039518"/>
                <a:ext cx="431800" cy="304800"/>
              </a:xfrm>
              <a:prstGeom prst="rect">
                <a:avLst/>
              </a:prstGeom>
            </p:spPr>
          </p:pic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244F089A-E822-C95F-EB76-4D6581D46966}"/>
                </a:ext>
              </a:extLst>
            </p:cNvPr>
            <p:cNvGrpSpPr/>
            <p:nvPr/>
          </p:nvGrpSpPr>
          <p:grpSpPr>
            <a:xfrm>
              <a:off x="7508492" y="1713290"/>
              <a:ext cx="1401295" cy="474077"/>
              <a:chOff x="6185793" y="1039518"/>
              <a:chExt cx="1401295" cy="474077"/>
            </a:xfrm>
          </p:grpSpPr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26D4F7E9-9EAA-3EC6-E71B-BBD23A8853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85793" y="1344318"/>
                <a:ext cx="1401295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lt"/>
                  </a:defRPr>
                </a:lvl1pPr>
              </a:lstStyle>
              <a:p>
                <a:pPr algn="ctr"/>
                <a:r>
                  <a:rPr lang="en-US" sz="1100" dirty="0"/>
                  <a:t>EntityGroup</a:t>
                </a:r>
              </a:p>
            </p:txBody>
          </p:sp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47231B8E-14D8-33EF-794F-BFD02AFA24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670540" y="1039518"/>
                <a:ext cx="431800" cy="304800"/>
              </a:xfrm>
              <a:prstGeom prst="rect">
                <a:avLst/>
              </a:prstGeom>
            </p:spPr>
          </p:pic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CACD585-642B-D78B-CF9B-E70D50AC67A0}"/>
                </a:ext>
              </a:extLst>
            </p:cNvPr>
            <p:cNvGrpSpPr/>
            <p:nvPr/>
          </p:nvGrpSpPr>
          <p:grpSpPr>
            <a:xfrm>
              <a:off x="7981889" y="2404888"/>
              <a:ext cx="1401295" cy="474077"/>
              <a:chOff x="6185793" y="1039518"/>
              <a:chExt cx="1401295" cy="474077"/>
            </a:xfrm>
          </p:grpSpPr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ABF1424-F721-6CD9-CD9F-335CBD783C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85793" y="1344318"/>
                <a:ext cx="1401295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lt"/>
                  </a:defRPr>
                </a:lvl1pPr>
              </a:lstStyle>
              <a:p>
                <a:pPr algn="ctr"/>
                <a:r>
                  <a:rPr lang="en-US" sz="1100" dirty="0"/>
                  <a:t>Entity</a:t>
                </a:r>
              </a:p>
            </p:txBody>
          </p:sp>
          <p:pic>
            <p:nvPicPr>
              <p:cNvPr id="106" name="Picture 105">
                <a:extLst>
                  <a:ext uri="{FF2B5EF4-FFF2-40B4-BE49-F238E27FC236}">
                    <a16:creationId xmlns:a16="http://schemas.microsoft.com/office/drawing/2014/main" id="{C880065F-979D-64E4-5573-28B6ED80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670540" y="1039518"/>
                <a:ext cx="431800" cy="304800"/>
              </a:xfrm>
              <a:prstGeom prst="rect">
                <a:avLst/>
              </a:prstGeom>
            </p:spPr>
          </p:pic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1FAEB5D2-6E2F-A474-8FF1-EEF36CCB5D37}"/>
                </a:ext>
              </a:extLst>
            </p:cNvPr>
            <p:cNvGrpSpPr/>
            <p:nvPr/>
          </p:nvGrpSpPr>
          <p:grpSpPr>
            <a:xfrm>
              <a:off x="9157406" y="2402006"/>
              <a:ext cx="1401295" cy="474077"/>
              <a:chOff x="6185793" y="1039518"/>
              <a:chExt cx="1401295" cy="474077"/>
            </a:xfrm>
          </p:grpSpPr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8F6A177-0BE8-B887-7F6F-A0A718D424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85793" y="1344318"/>
                <a:ext cx="1401295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lt"/>
                  </a:defRPr>
                </a:lvl1pPr>
              </a:lstStyle>
              <a:p>
                <a:pPr algn="ctr"/>
                <a:r>
                  <a:rPr lang="en-US" sz="1100" dirty="0"/>
                  <a:t>EntityRelationship</a:t>
                </a:r>
              </a:p>
            </p:txBody>
          </p:sp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A069F94F-B5CB-1314-B782-228C5A15DE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670540" y="1039518"/>
                <a:ext cx="431800" cy="304800"/>
              </a:xfrm>
              <a:prstGeom prst="rect">
                <a:avLst/>
              </a:prstGeom>
            </p:spPr>
          </p:pic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0687882B-F73C-5310-41CB-4F75A068412D}"/>
                </a:ext>
              </a:extLst>
            </p:cNvPr>
            <p:cNvGrpSpPr/>
            <p:nvPr/>
          </p:nvGrpSpPr>
          <p:grpSpPr>
            <a:xfrm>
              <a:off x="9157406" y="1653169"/>
              <a:ext cx="1401295" cy="474077"/>
              <a:chOff x="6185793" y="1039518"/>
              <a:chExt cx="1401295" cy="474077"/>
            </a:xfrm>
          </p:grpSpPr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78E2C861-BF9B-53E6-C663-999D4754CC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85793" y="1344318"/>
                <a:ext cx="1401295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lt"/>
                  </a:defRPr>
                </a:lvl1pPr>
              </a:lstStyle>
              <a:p>
                <a:pPr algn="ctr"/>
                <a:r>
                  <a:rPr lang="en-US" sz="1100" dirty="0"/>
                  <a:t>EntityRelationshipType</a:t>
                </a:r>
              </a:p>
            </p:txBody>
          </p:sp>
          <p:pic>
            <p:nvPicPr>
              <p:cNvPr id="112" name="Picture 111">
                <a:extLst>
                  <a:ext uri="{FF2B5EF4-FFF2-40B4-BE49-F238E27FC236}">
                    <a16:creationId xmlns:a16="http://schemas.microsoft.com/office/drawing/2014/main" id="{C6F5BFAE-5993-E50B-4BAC-07E964D801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670540" y="1039518"/>
                <a:ext cx="431800" cy="304800"/>
              </a:xfrm>
              <a:prstGeom prst="rect">
                <a:avLst/>
              </a:prstGeom>
            </p:spPr>
          </p:pic>
        </p:grpSp>
        <p:cxnSp>
          <p:nvCxnSpPr>
            <p:cNvPr id="123" name="Elbow Connector 122">
              <a:extLst>
                <a:ext uri="{FF2B5EF4-FFF2-40B4-BE49-F238E27FC236}">
                  <a16:creationId xmlns:a16="http://schemas.microsoft.com/office/drawing/2014/main" id="{14E4162D-E978-6E94-9AD5-EEFC46DE83D3}"/>
                </a:ext>
              </a:extLst>
            </p:cNvPr>
            <p:cNvCxnSpPr>
              <a:stCxn id="102" idx="3"/>
              <a:endCxn id="106" idx="0"/>
            </p:cNvCxnSpPr>
            <p:nvPr/>
          </p:nvCxnSpPr>
          <p:spPr>
            <a:xfrm>
              <a:off x="8425039" y="1865690"/>
              <a:ext cx="257497" cy="539198"/>
            </a:xfrm>
            <a:prstGeom prst="bentConnector2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4" name="Elbow Connector 123">
              <a:extLst>
                <a:ext uri="{FF2B5EF4-FFF2-40B4-BE49-F238E27FC236}">
                  <a16:creationId xmlns:a16="http://schemas.microsoft.com/office/drawing/2014/main" id="{2EE602FB-FD44-DD51-E836-D9471CD89853}"/>
                </a:ext>
              </a:extLst>
            </p:cNvPr>
            <p:cNvCxnSpPr>
              <a:cxnSpLocks/>
              <a:stCxn id="73" idx="3"/>
              <a:endCxn id="106" idx="1"/>
            </p:cNvCxnSpPr>
            <p:nvPr/>
          </p:nvCxnSpPr>
          <p:spPr>
            <a:xfrm>
              <a:off x="7890353" y="2388011"/>
              <a:ext cx="576283" cy="169277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7" name="Elbow Connector 126">
              <a:extLst>
                <a:ext uri="{FF2B5EF4-FFF2-40B4-BE49-F238E27FC236}">
                  <a16:creationId xmlns:a16="http://schemas.microsoft.com/office/drawing/2014/main" id="{F1703531-E468-634A-F7BD-BE2B9281AD0B}"/>
                </a:ext>
              </a:extLst>
            </p:cNvPr>
            <p:cNvCxnSpPr>
              <a:cxnSpLocks/>
              <a:stCxn id="111" idx="2"/>
              <a:endCxn id="109" idx="0"/>
            </p:cNvCxnSpPr>
            <p:nvPr/>
          </p:nvCxnSpPr>
          <p:spPr>
            <a:xfrm rot="5400000">
              <a:off x="9720674" y="2264626"/>
              <a:ext cx="274760" cy="1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1" name="Elbow Connector 130">
              <a:extLst>
                <a:ext uri="{FF2B5EF4-FFF2-40B4-BE49-F238E27FC236}">
                  <a16:creationId xmlns:a16="http://schemas.microsoft.com/office/drawing/2014/main" id="{6EAE5021-BEF9-9FE1-B0BC-42123AF34F2F}"/>
                </a:ext>
              </a:extLst>
            </p:cNvPr>
            <p:cNvCxnSpPr>
              <a:cxnSpLocks/>
              <a:stCxn id="106" idx="3"/>
              <a:endCxn id="109" idx="1"/>
            </p:cNvCxnSpPr>
            <p:nvPr/>
          </p:nvCxnSpPr>
          <p:spPr>
            <a:xfrm flipV="1">
              <a:off x="8898436" y="2554406"/>
              <a:ext cx="743717" cy="28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67E872A-063A-B053-2838-CF23E642CDA7}"/>
                </a:ext>
              </a:extLst>
            </p:cNvPr>
            <p:cNvSpPr txBox="1"/>
            <p:nvPr/>
          </p:nvSpPr>
          <p:spPr>
            <a:xfrm>
              <a:off x="7231928" y="1480380"/>
              <a:ext cx="88505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>
                      <a:lumMod val="75000"/>
                    </a:schemeClr>
                  </a:solidFill>
                  <a:latin typeface="+mj-lt"/>
                </a:rPr>
                <a:t>Entity Domain</a:t>
              </a:r>
            </a:p>
          </p:txBody>
        </p:sp>
      </p:grp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BD9F912-42B6-F81C-7B48-117BFCAE41AD}"/>
              </a:ext>
            </a:extLst>
          </p:cNvPr>
          <p:cNvSpPr/>
          <p:nvPr/>
        </p:nvSpPr>
        <p:spPr>
          <a:xfrm>
            <a:off x="5015886" y="4212680"/>
            <a:ext cx="152593" cy="1034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CB72DE85-E834-7680-9E79-BA2F6D2C9762}"/>
              </a:ext>
            </a:extLst>
          </p:cNvPr>
          <p:cNvSpPr/>
          <p:nvPr/>
        </p:nvSpPr>
        <p:spPr>
          <a:xfrm>
            <a:off x="7112248" y="5513308"/>
            <a:ext cx="152593" cy="1034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F25BC496-CAD8-48F9-5BD0-133D81CCCD3E}"/>
              </a:ext>
            </a:extLst>
          </p:cNvPr>
          <p:cNvSpPr/>
          <p:nvPr/>
        </p:nvSpPr>
        <p:spPr>
          <a:xfrm>
            <a:off x="7131840" y="6094964"/>
            <a:ext cx="152593" cy="1034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49901E90-649D-0EDE-1DE6-B8A1464FA20E}"/>
              </a:ext>
            </a:extLst>
          </p:cNvPr>
          <p:cNvGrpSpPr/>
          <p:nvPr/>
        </p:nvGrpSpPr>
        <p:grpSpPr>
          <a:xfrm>
            <a:off x="9239533" y="2988234"/>
            <a:ext cx="1401295" cy="474077"/>
            <a:chOff x="9203399" y="2264749"/>
            <a:chExt cx="1401295" cy="474077"/>
          </a:xfrm>
        </p:grpSpPr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55580E59-2B48-58DB-431B-B09C5FE0CD7B}"/>
                </a:ext>
              </a:extLst>
            </p:cNvPr>
            <p:cNvSpPr txBox="1">
              <a:spLocks/>
            </p:cNvSpPr>
            <p:nvPr/>
          </p:nvSpPr>
          <p:spPr>
            <a:xfrm>
              <a:off x="9203399" y="2569549"/>
              <a:ext cx="140129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defRPr>
              </a:lvl1pPr>
            </a:lstStyle>
            <a:p>
              <a:pPr algn="ctr"/>
              <a:r>
                <a:rPr lang="en-US" sz="1100" dirty="0"/>
                <a:t>ProteinEntity</a:t>
              </a:r>
            </a:p>
          </p:txBody>
        </p:sp>
        <p:pic>
          <p:nvPicPr>
            <p:cNvPr id="181" name="Picture 180">
              <a:extLst>
                <a:ext uri="{FF2B5EF4-FFF2-40B4-BE49-F238E27FC236}">
                  <a16:creationId xmlns:a16="http://schemas.microsoft.com/office/drawing/2014/main" id="{D4B52EAA-B485-A1D2-6E58-2A88033A4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88146" y="2264749"/>
              <a:ext cx="431800" cy="304800"/>
            </a:xfrm>
            <a:prstGeom prst="rect">
              <a:avLst/>
            </a:prstGeom>
          </p:spPr>
        </p:pic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18055FB6-8AFB-ED26-4164-B62CB7DBEB2C}"/>
              </a:ext>
            </a:extLst>
          </p:cNvPr>
          <p:cNvGrpSpPr/>
          <p:nvPr/>
        </p:nvGrpSpPr>
        <p:grpSpPr>
          <a:xfrm>
            <a:off x="10343134" y="3435819"/>
            <a:ext cx="1401295" cy="474077"/>
            <a:chOff x="9203399" y="2264749"/>
            <a:chExt cx="1401295" cy="474077"/>
          </a:xfrm>
        </p:grpSpPr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EBA00E7C-D0A4-45D8-2621-268FF9C4F6F7}"/>
                </a:ext>
              </a:extLst>
            </p:cNvPr>
            <p:cNvSpPr txBox="1">
              <a:spLocks/>
            </p:cNvSpPr>
            <p:nvPr/>
          </p:nvSpPr>
          <p:spPr>
            <a:xfrm>
              <a:off x="9203399" y="2569549"/>
              <a:ext cx="140129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defRPr>
              </a:lvl1pPr>
            </a:lstStyle>
            <a:p>
              <a:pPr algn="ctr"/>
              <a:r>
                <a:rPr lang="en-US" sz="1100" dirty="0"/>
                <a:t>ProteinMaster</a:t>
              </a:r>
            </a:p>
          </p:txBody>
        </p:sp>
        <p:pic>
          <p:nvPicPr>
            <p:cNvPr id="191" name="Picture 190">
              <a:extLst>
                <a:ext uri="{FF2B5EF4-FFF2-40B4-BE49-F238E27FC236}">
                  <a16:creationId xmlns:a16="http://schemas.microsoft.com/office/drawing/2014/main" id="{6CA42C7F-AEDF-895E-A7B6-E9B48B435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88146" y="2264749"/>
              <a:ext cx="431800" cy="304800"/>
            </a:xfrm>
            <a:prstGeom prst="rect">
              <a:avLst/>
            </a:prstGeom>
          </p:spPr>
        </p:pic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B922A33F-AB8D-2294-4629-39989DF4DFAF}"/>
              </a:ext>
            </a:extLst>
          </p:cNvPr>
          <p:cNvGrpSpPr/>
          <p:nvPr/>
        </p:nvGrpSpPr>
        <p:grpSpPr>
          <a:xfrm>
            <a:off x="9256774" y="3996636"/>
            <a:ext cx="1401295" cy="474077"/>
            <a:chOff x="9203399" y="2264749"/>
            <a:chExt cx="1401295" cy="474077"/>
          </a:xfrm>
        </p:grpSpPr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335CC12A-FF01-29FE-E446-872D7F7D4B68}"/>
                </a:ext>
              </a:extLst>
            </p:cNvPr>
            <p:cNvSpPr txBox="1">
              <a:spLocks/>
            </p:cNvSpPr>
            <p:nvPr/>
          </p:nvSpPr>
          <p:spPr>
            <a:xfrm>
              <a:off x="9203399" y="2569549"/>
              <a:ext cx="140129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defRPr>
              </a:lvl1pPr>
            </a:lstStyle>
            <a:p>
              <a:pPr algn="ctr"/>
              <a:r>
                <a:rPr lang="en-US" sz="1100" dirty="0"/>
                <a:t>ProteinPfamLink</a:t>
              </a:r>
            </a:p>
          </p:txBody>
        </p:sp>
        <p:pic>
          <p:nvPicPr>
            <p:cNvPr id="194" name="Picture 193">
              <a:extLst>
                <a:ext uri="{FF2B5EF4-FFF2-40B4-BE49-F238E27FC236}">
                  <a16:creationId xmlns:a16="http://schemas.microsoft.com/office/drawing/2014/main" id="{84B860DD-BC61-8669-D2BE-DE30BA7A0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88146" y="2264749"/>
              <a:ext cx="431800" cy="304800"/>
            </a:xfrm>
            <a:prstGeom prst="rect">
              <a:avLst/>
            </a:prstGeom>
          </p:spPr>
        </p:pic>
      </p:grpSp>
      <p:cxnSp>
        <p:nvCxnSpPr>
          <p:cNvPr id="198" name="Elbow Connector 197">
            <a:extLst>
              <a:ext uri="{FF2B5EF4-FFF2-40B4-BE49-F238E27FC236}">
                <a16:creationId xmlns:a16="http://schemas.microsoft.com/office/drawing/2014/main" id="{CAA8C648-7E47-B591-0AD0-4101DC6546C0}"/>
              </a:ext>
            </a:extLst>
          </p:cNvPr>
          <p:cNvCxnSpPr>
            <a:cxnSpLocks/>
            <a:stCxn id="105" idx="2"/>
            <a:endCxn id="181" idx="0"/>
          </p:cNvCxnSpPr>
          <p:nvPr/>
        </p:nvCxnSpPr>
        <p:spPr>
          <a:xfrm rot="5400000">
            <a:off x="9668125" y="2710286"/>
            <a:ext cx="550003" cy="589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7" name="Elbow Connector 206">
            <a:extLst>
              <a:ext uri="{FF2B5EF4-FFF2-40B4-BE49-F238E27FC236}">
                <a16:creationId xmlns:a16="http://schemas.microsoft.com/office/drawing/2014/main" id="{38C3449F-4F04-05C1-EBC1-CD7CA7E754DD}"/>
              </a:ext>
            </a:extLst>
          </p:cNvPr>
          <p:cNvCxnSpPr>
            <a:cxnSpLocks/>
            <a:stCxn id="181" idx="3"/>
            <a:endCxn id="191" idx="0"/>
          </p:cNvCxnSpPr>
          <p:nvPr/>
        </p:nvCxnSpPr>
        <p:spPr>
          <a:xfrm>
            <a:off x="10156080" y="3140634"/>
            <a:ext cx="887701" cy="295185"/>
          </a:xfrm>
          <a:prstGeom prst="bentConnector2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5" name="Elbow Connector 214">
            <a:extLst>
              <a:ext uri="{FF2B5EF4-FFF2-40B4-BE49-F238E27FC236}">
                <a16:creationId xmlns:a16="http://schemas.microsoft.com/office/drawing/2014/main" id="{F09B7AEC-D0C1-279A-8C8C-B58F891E30E0}"/>
              </a:ext>
            </a:extLst>
          </p:cNvPr>
          <p:cNvCxnSpPr>
            <a:cxnSpLocks/>
            <a:stCxn id="190" idx="2"/>
            <a:endCxn id="194" idx="3"/>
          </p:cNvCxnSpPr>
          <p:nvPr/>
        </p:nvCxnSpPr>
        <p:spPr>
          <a:xfrm rot="5400000">
            <a:off x="10488982" y="3594236"/>
            <a:ext cx="239140" cy="870461"/>
          </a:xfrm>
          <a:prstGeom prst="bentConnector2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F364964-0E6A-E466-78C7-009E25DD9333}"/>
              </a:ext>
            </a:extLst>
          </p:cNvPr>
          <p:cNvSpPr txBox="1"/>
          <p:nvPr/>
        </p:nvSpPr>
        <p:spPr>
          <a:xfrm>
            <a:off x="8495463" y="2668492"/>
            <a:ext cx="97847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200" dirty="0">
                <a:solidFill>
                  <a:srgbClr val="7030A0"/>
                </a:solidFill>
                <a:latin typeface="+mj-lt"/>
              </a:rPr>
              <a:t>Protein Domain</a:t>
            </a:r>
          </a:p>
        </p:txBody>
      </p: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15A77607-B786-27F7-E449-4AF6E34FD497}"/>
              </a:ext>
            </a:extLst>
          </p:cNvPr>
          <p:cNvGrpSpPr/>
          <p:nvPr/>
        </p:nvGrpSpPr>
        <p:grpSpPr>
          <a:xfrm>
            <a:off x="9256774" y="4866688"/>
            <a:ext cx="1401295" cy="474077"/>
            <a:chOff x="9203399" y="2264749"/>
            <a:chExt cx="1401295" cy="474077"/>
          </a:xfrm>
        </p:grpSpPr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9F430100-7DC8-FE9C-4C3A-56D68FE24499}"/>
                </a:ext>
              </a:extLst>
            </p:cNvPr>
            <p:cNvSpPr txBox="1">
              <a:spLocks/>
            </p:cNvSpPr>
            <p:nvPr/>
          </p:nvSpPr>
          <p:spPr>
            <a:xfrm>
              <a:off x="9203399" y="2569549"/>
              <a:ext cx="140129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defRPr>
              </a:lvl1pPr>
            </a:lstStyle>
            <a:p>
              <a:pPr algn="ctr"/>
              <a:r>
                <a:rPr lang="en-US" sz="1100" dirty="0"/>
                <a:t>ProteinPfam</a:t>
              </a:r>
            </a:p>
          </p:txBody>
        </p:sp>
        <p:pic>
          <p:nvPicPr>
            <p:cNvPr id="248" name="Picture 247">
              <a:extLst>
                <a:ext uri="{FF2B5EF4-FFF2-40B4-BE49-F238E27FC236}">
                  <a16:creationId xmlns:a16="http://schemas.microsoft.com/office/drawing/2014/main" id="{096BF9F5-82E9-262B-70C4-D3DAA2212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88146" y="2264749"/>
              <a:ext cx="431800" cy="304800"/>
            </a:xfrm>
            <a:prstGeom prst="rect">
              <a:avLst/>
            </a:prstGeom>
          </p:spPr>
        </p:pic>
      </p:grpSp>
      <p:cxnSp>
        <p:nvCxnSpPr>
          <p:cNvPr id="249" name="Elbow Connector 248">
            <a:extLst>
              <a:ext uri="{FF2B5EF4-FFF2-40B4-BE49-F238E27FC236}">
                <a16:creationId xmlns:a16="http://schemas.microsoft.com/office/drawing/2014/main" id="{03C8B8D5-E9EF-7F12-57D7-067FD7C877C3}"/>
              </a:ext>
            </a:extLst>
          </p:cNvPr>
          <p:cNvCxnSpPr>
            <a:cxnSpLocks/>
            <a:stCxn id="248" idx="0"/>
            <a:endCxn id="193" idx="2"/>
          </p:cNvCxnSpPr>
          <p:nvPr/>
        </p:nvCxnSpPr>
        <p:spPr>
          <a:xfrm rot="5400000" flipH="1" flipV="1">
            <a:off x="9759434" y="4668701"/>
            <a:ext cx="395975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977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7CCB9-10DA-B3F6-118F-71DB1E206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13C88B-221B-F79D-6C24-65EE8CEA68B1}"/>
              </a:ext>
            </a:extLst>
          </p:cNvPr>
          <p:cNvCxnSpPr>
            <a:cxnSpLocks/>
          </p:cNvCxnSpPr>
          <p:nvPr/>
        </p:nvCxnSpPr>
        <p:spPr>
          <a:xfrm>
            <a:off x="4160814" y="4818172"/>
            <a:ext cx="48639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D8DAA02-FEAC-280B-96AC-2860A9081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Numbers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FD506-8B82-3D03-7B94-026FC9568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CFB55-6011-39F3-0BAA-A799258A2D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11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7D4E30-F58E-84D7-F8E6-9FFEFC4D7E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Entities loaded into the database (LPC release):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572C17-4640-CBBA-4482-C24A520B4CA9}"/>
              </a:ext>
            </a:extLst>
          </p:cNvPr>
          <p:cNvSpPr txBox="1"/>
          <p:nvPr/>
        </p:nvSpPr>
        <p:spPr>
          <a:xfrm>
            <a:off x="684041" y="1704617"/>
            <a:ext cx="7260257" cy="503214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Master Data</a:t>
            </a:r>
            <a:endParaRPr lang="en-US"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Genes</a:t>
            </a:r>
            <a:r>
              <a:rPr lang="en-US" dirty="0"/>
              <a:t>: 194,649 (46k from HGNC + NCBI with genes without HUGO ID)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Variants (SNPs)</a:t>
            </a:r>
            <a:r>
              <a:rPr lang="en-US" dirty="0"/>
              <a:t>: 1,051,245,736 (no filter)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Proteins</a:t>
            </a:r>
            <a:r>
              <a:rPr lang="en-US" dirty="0"/>
              <a:t>: 53,260 (Isoforms + Canonicals)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Pathways</a:t>
            </a:r>
            <a:r>
              <a:rPr lang="en-US" dirty="0"/>
              <a:t>: 3,136 (KEGG + Reactome)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GO Terms</a:t>
            </a:r>
            <a:r>
              <a:rPr lang="en-US" dirty="0"/>
              <a:t>: 48,101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🔗 </a:t>
            </a:r>
            <a:r>
              <a:rPr lang="en-US" b="1" dirty="0"/>
              <a:t>Entity Relationships</a:t>
            </a:r>
            <a:r>
              <a:rPr lang="en-US" dirty="0"/>
              <a:t>: 475,824</a:t>
            </a:r>
          </a:p>
          <a:p>
            <a:pPr>
              <a:spcAft>
                <a:spcPts val="600"/>
              </a:spcAft>
            </a:pPr>
            <a:endParaRPr lang="en-US" sz="500" b="1" dirty="0"/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FF0000"/>
                </a:solidFill>
              </a:rPr>
              <a:t>Seeds &amp; Configurations:</a:t>
            </a:r>
            <a:endParaRPr lang="en-US" dirty="0">
              <a:solidFill>
                <a:srgbClr val="FF0000"/>
              </a:solidFill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Entity Groups: 14 </a:t>
            </a:r>
            <a:r>
              <a:rPr lang="en-US" sz="1400" i="1" dirty="0">
                <a:solidFill>
                  <a:srgbClr val="FF0000"/>
                </a:solidFill>
              </a:rPr>
              <a:t>(Need Review)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Entity Relationship Type: 6 </a:t>
            </a:r>
            <a:r>
              <a:rPr lang="en-US" sz="1400" i="1" dirty="0">
                <a:solidFill>
                  <a:srgbClr val="FF0000"/>
                </a:solidFill>
              </a:rPr>
              <a:t>(Need Review)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Assemblies: 50 </a:t>
            </a:r>
            <a:r>
              <a:rPr lang="en-US" sz="1400" i="1" dirty="0">
                <a:solidFill>
                  <a:srgbClr val="FF0000"/>
                </a:solidFill>
              </a:rPr>
              <a:t>(by Accession)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Source Systems: 8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Data Source: 31</a:t>
            </a:r>
          </a:p>
          <a:p>
            <a:pPr lvl="1">
              <a:spcAft>
                <a:spcPts val="600"/>
              </a:spcAft>
            </a:pPr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3D1ED1B-A438-391F-BE31-0819DEDA9969}"/>
              </a:ext>
            </a:extLst>
          </p:cNvPr>
          <p:cNvCxnSpPr>
            <a:cxnSpLocks/>
          </p:cNvCxnSpPr>
          <p:nvPr/>
        </p:nvCxnSpPr>
        <p:spPr>
          <a:xfrm>
            <a:off x="3292796" y="5858468"/>
            <a:ext cx="31477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4BD2D07-B5D4-5CB4-A09D-73997EBEC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473326"/>
              </p:ext>
            </p:extLst>
          </p:nvPr>
        </p:nvGraphicFramePr>
        <p:xfrm>
          <a:off x="6672090" y="3465244"/>
          <a:ext cx="1523938" cy="327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38">
                  <a:extLst>
                    <a:ext uri="{9D8B030D-6E8A-4147-A177-3AD203B41FA5}">
                      <a16:colId xmlns:a16="http://schemas.microsoft.com/office/drawing/2014/main" val="39911617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Source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058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NCBI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71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HGNC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681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Ensembl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84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Reactome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434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UniProt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468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EBI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655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657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KEGG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20145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ADE673A-D72E-5B96-0FC5-E9B3A9946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214927"/>
              </p:ext>
            </p:extLst>
          </p:nvPr>
        </p:nvGraphicFramePr>
        <p:xfrm>
          <a:off x="9084418" y="1240204"/>
          <a:ext cx="1523938" cy="549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38">
                  <a:extLst>
                    <a:ext uri="{9D8B030D-6E8A-4147-A177-3AD203B41FA5}">
                      <a16:colId xmlns:a16="http://schemas.microsoft.com/office/drawing/2014/main" val="39911617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Entity Groups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058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Variants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71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681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Proteins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84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Transcriptomics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434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Metabolomics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468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Disease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655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Pathways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657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Gene</a:t>
                      </a:r>
                      <a:r>
                        <a:rPr lang="en-US" sz="1400" dirty="0"/>
                        <a:t> 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Ontology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201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Chemicals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8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Phenotypes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690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Cell</a:t>
                      </a:r>
                      <a:r>
                        <a:rPr lang="en-US" sz="1400" dirty="0"/>
                        <a:t> </a:t>
                      </a:r>
                      <a:r>
                        <a:rPr lang="en-US" sz="14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Types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268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Microbiome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60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Clinical</a:t>
                      </a:r>
                      <a:r>
                        <a:rPr lang="en-US" sz="1400" dirty="0"/>
                        <a:t> </a:t>
                      </a:r>
                      <a:r>
                        <a:rPr lang="en-US" sz="14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Trials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521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Transcriptomics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544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990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68EA9-2376-3326-07D5-5B8DB7F54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9264D-EC22-2E6D-ECAF-372927E52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Hands-on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26AB1-C071-9F5E-9816-85ACA017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3FF961-0AE7-DBA7-A448-D581CB1016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12</a:t>
            </a:fld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175FAB-28C7-F855-C0BC-10B6BC30FD65}"/>
              </a:ext>
            </a:extLst>
          </p:cNvPr>
          <p:cNvSpPr txBox="1"/>
          <p:nvPr/>
        </p:nvSpPr>
        <p:spPr>
          <a:xfrm>
            <a:off x="719138" y="2536448"/>
            <a:ext cx="414700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Need help?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   🗄️ Biofilter Project Docs</a:t>
            </a:r>
          </a:p>
          <a:p>
            <a:pPr lvl="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 GitHub</a:t>
            </a:r>
          </a:p>
          <a:p>
            <a:pPr lvl="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 Confluence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🤖 </a:t>
            </a:r>
            <a:r>
              <a:rPr lang="en-US" b="1" dirty="0"/>
              <a:t>Biofilter3R GPT Assistant</a:t>
            </a:r>
          </a:p>
        </p:txBody>
      </p:sp>
      <p:pic>
        <p:nvPicPr>
          <p:cNvPr id="7174" name="Picture 6" descr="Garden tool flat cartoon set. Garden cart, flowers sprout in rubber boots,  wooden arrow pointer. Work equipment Rural gardening Construction equipment  collection. Hand drawn garden vector illustration Stock Vector Image &amp; Art -">
            <a:extLst>
              <a:ext uri="{FF2B5EF4-FFF2-40B4-BE49-F238E27FC236}">
                <a16:creationId xmlns:a16="http://schemas.microsoft.com/office/drawing/2014/main" id="{842003AD-F497-E334-3D8D-A1ED08AEB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016" y="434681"/>
            <a:ext cx="1925559" cy="844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68DE472-F8A6-602A-48C7-01221E7814EF}"/>
              </a:ext>
            </a:extLst>
          </p:cNvPr>
          <p:cNvSpPr/>
          <p:nvPr/>
        </p:nvSpPr>
        <p:spPr>
          <a:xfrm>
            <a:off x="1918474" y="1115112"/>
            <a:ext cx="3996503" cy="3780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1959048-D496-8E46-7337-3AF0FD5FE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885" y="1906892"/>
            <a:ext cx="5095518" cy="45173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4A2AC5-44AD-8174-7A07-FBAC5AEE95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342" y="1000800"/>
            <a:ext cx="4428144" cy="56940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6980F7A-4815-8E2A-6026-23CE915FE4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0000" y="1279218"/>
            <a:ext cx="6857371" cy="347020"/>
          </a:xfrm>
        </p:spPr>
        <p:txBody>
          <a:bodyPr/>
          <a:lstStyle/>
          <a:p>
            <a:r>
              <a:rPr lang="en-US" dirty="0"/>
              <a:t>Let’s Get Our Hands Dirty with the Query Interface</a:t>
            </a:r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568AE862-A493-30FF-F649-1E92BCEC93FE}"/>
              </a:ext>
            </a:extLst>
          </p:cNvPr>
          <p:cNvSpPr/>
          <p:nvPr/>
        </p:nvSpPr>
        <p:spPr>
          <a:xfrm>
            <a:off x="4391620" y="4098442"/>
            <a:ext cx="709779" cy="1342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8184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BE697-0AA6-6014-8454-69D09A47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25B41-BCE3-7257-1BE8-1F5FB6387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Hands-on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B1BCA-E9DC-693D-BBBF-34989A4A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22B7F-47CC-D82E-39FE-81BE414EA9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13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475F22-C908-35A7-A409-9975C5FA64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Access Biofilter3R on LPC (Quick Guide)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F0C75A-96D8-F9B0-5881-3B63F9B5B345}"/>
              </a:ext>
            </a:extLst>
          </p:cNvPr>
          <p:cNvSpPr txBox="1"/>
          <p:nvPr/>
        </p:nvSpPr>
        <p:spPr>
          <a:xfrm>
            <a:off x="719137" y="1737088"/>
            <a:ext cx="998472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1 — Connect to Penn VPN</a:t>
            </a:r>
            <a:br>
              <a:rPr lang="en-US" dirty="0"/>
            </a:br>
            <a:r>
              <a:rPr lang="en-US" dirty="0"/>
              <a:t>🔒 Required to access LPC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Step 2 — Open a terminal and connect LPC</a:t>
            </a:r>
            <a:endParaRPr lang="en-US" dirty="0"/>
          </a:p>
          <a:p>
            <a:pPr>
              <a:buNone/>
            </a:pPr>
            <a:r>
              <a:rPr lang="en-US" i="1" dirty="0">
                <a:solidFill>
                  <a:srgbClr val="8F9F33"/>
                </a:solidFill>
              </a:rPr>
              <a:t>$ ssh {</a:t>
            </a:r>
            <a:r>
              <a:rPr lang="en-US" i="1" dirty="0" err="1">
                <a:solidFill>
                  <a:srgbClr val="8F9F33"/>
                </a:solidFill>
              </a:rPr>
              <a:t>pennkey</a:t>
            </a:r>
            <a:r>
              <a:rPr lang="en-US" i="1" dirty="0">
                <a:solidFill>
                  <a:srgbClr val="8F9F33"/>
                </a:solidFill>
              </a:rPr>
              <a:t>}@</a:t>
            </a:r>
            <a:r>
              <a:rPr lang="en-US" i="1" dirty="0" err="1">
                <a:solidFill>
                  <a:srgbClr val="8F9F33"/>
                </a:solidFill>
              </a:rPr>
              <a:t>superman.pmacs.upenn.edu</a:t>
            </a:r>
            <a:endParaRPr lang="en-US" i="1" dirty="0">
              <a:solidFill>
                <a:srgbClr val="8F9F33"/>
              </a:solidFill>
            </a:endParaRPr>
          </a:p>
          <a:p>
            <a:pPr>
              <a:buNone/>
            </a:pPr>
            <a:br>
              <a:rPr lang="en-US" dirty="0"/>
            </a:br>
            <a:r>
              <a:rPr lang="en-US" b="1" dirty="0"/>
              <a:t>Step 3 — Start Jupyter on LPC</a:t>
            </a:r>
            <a:endParaRPr lang="en-US" dirty="0"/>
          </a:p>
          <a:p>
            <a:r>
              <a:rPr lang="en-US" i="1" dirty="0">
                <a:solidFill>
                  <a:srgbClr val="8F9F33"/>
                </a:solidFill>
              </a:rPr>
              <a:t>$ bash group/software/biofilter3R/notebooks/</a:t>
            </a:r>
            <a:r>
              <a:rPr lang="en-US" i="1" dirty="0" err="1">
                <a:solidFill>
                  <a:srgbClr val="8F9F33"/>
                </a:solidFill>
              </a:rPr>
              <a:t>start_jupyter_conda.sh</a:t>
            </a:r>
            <a:endParaRPr lang="en-US" i="1" dirty="0">
              <a:solidFill>
                <a:srgbClr val="8F9F33"/>
              </a:solidFill>
            </a:endParaRPr>
          </a:p>
          <a:p>
            <a:pPr>
              <a:buNone/>
            </a:pPr>
            <a:r>
              <a:rPr lang="en-US" dirty="0"/>
              <a:t>⚠️ Copy the URL with token shown in the terminal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Step 4 — Link local port to LPC Port</a:t>
            </a:r>
            <a:br>
              <a:rPr lang="en-US" dirty="0"/>
            </a:br>
            <a:r>
              <a:rPr lang="en-US" dirty="0"/>
              <a:t>Open other local terminal and type:</a:t>
            </a:r>
          </a:p>
          <a:p>
            <a:pPr>
              <a:buNone/>
            </a:pPr>
            <a:r>
              <a:rPr lang="en-US" i="1" dirty="0">
                <a:solidFill>
                  <a:srgbClr val="8F9F33"/>
                </a:solidFill>
              </a:rPr>
              <a:t>$ ssh -N -L 8{xxx}:localhost:8{xxx} {</a:t>
            </a:r>
            <a:r>
              <a:rPr lang="en-US" i="1" dirty="0" err="1">
                <a:solidFill>
                  <a:srgbClr val="8F9F33"/>
                </a:solidFill>
              </a:rPr>
              <a:t>pennkey</a:t>
            </a:r>
            <a:r>
              <a:rPr lang="en-US" i="1" dirty="0">
                <a:solidFill>
                  <a:srgbClr val="8F9F33"/>
                </a:solidFill>
              </a:rPr>
              <a:t>}@</a:t>
            </a:r>
            <a:r>
              <a:rPr lang="en-US" i="1" dirty="0" err="1">
                <a:solidFill>
                  <a:srgbClr val="8F9F33"/>
                </a:solidFill>
              </a:rPr>
              <a:t>superman.pmacs.upenn.edu</a:t>
            </a:r>
            <a:endParaRPr lang="en-US" i="1" dirty="0">
              <a:solidFill>
                <a:srgbClr val="8F9F33"/>
              </a:solidFill>
            </a:endParaRP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Step 5-  Open Browser</a:t>
            </a:r>
            <a:endParaRPr lang="en-US" dirty="0"/>
          </a:p>
          <a:p>
            <a:pPr>
              <a:buNone/>
            </a:pPr>
            <a:r>
              <a:rPr lang="en-US" dirty="0"/>
              <a:t>Then paste the copied URL in your browser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46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A13D4-7F38-D420-C2CE-B0CC414A4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20FF6-7BAC-2430-57B4-FC1B7BEB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Hands-on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B7E01-A9AE-ADF6-B0D5-83D6D270D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D1693-4C7D-6FE5-3D9A-F8BAC66874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14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4C61E1-CF6E-B14F-FE92-5A5B32ECBC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Query interface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9430E6-5126-66B5-0423-F53C89A608E1}"/>
              </a:ext>
            </a:extLst>
          </p:cNvPr>
          <p:cNvSpPr txBox="1"/>
          <p:nvPr/>
        </p:nvSpPr>
        <p:spPr>
          <a:xfrm>
            <a:off x="7083153" y="1761265"/>
            <a:ext cx="4905648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What is it?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Python class to explore Biofilter3R with SQLAlchemy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Designed for </a:t>
            </a:r>
            <a:r>
              <a:rPr lang="en-US" sz="1700" b="1" dirty="0"/>
              <a:t>advanced users</a:t>
            </a:r>
            <a:r>
              <a:rPr lang="en-US" sz="1700" dirty="0"/>
              <a:t> (developers, analysts, bioinformaticians)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Provides access to all models, filters, and exports as </a:t>
            </a:r>
            <a:r>
              <a:rPr lang="en-US" sz="1700" dirty="0" err="1"/>
              <a:t>DataFrames</a:t>
            </a:r>
            <a:endParaRPr lang="en-US" sz="1700" dirty="0"/>
          </a:p>
          <a:p>
            <a:pPr>
              <a:buNone/>
            </a:pPr>
            <a:endParaRPr lang="en-US" sz="800" dirty="0"/>
          </a:p>
          <a:p>
            <a:pPr>
              <a:spcAft>
                <a:spcPts val="600"/>
              </a:spcAft>
              <a:buNone/>
            </a:pPr>
            <a:r>
              <a:rPr lang="en-US" b="1" dirty="0"/>
              <a:t>Key Features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Easy access to all models (</a:t>
            </a:r>
            <a:r>
              <a:rPr lang="en-US" sz="1700" dirty="0" err="1">
                <a:latin typeface="Courier New" panose="02070309020205020404" pitchFamily="49" charset="0"/>
              </a:rPr>
              <a:t>q.get_model</a:t>
            </a:r>
            <a:r>
              <a:rPr lang="en-US" sz="1700" dirty="0">
                <a:latin typeface="Courier New" panose="02070309020205020404" pitchFamily="49" charset="0"/>
              </a:rPr>
              <a:t>("Gene")</a:t>
            </a:r>
            <a:r>
              <a:rPr lang="en-US" sz="1700" dirty="0"/>
              <a:t>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Helper functions (</a:t>
            </a:r>
            <a:r>
              <a:rPr lang="en-US" sz="1700" dirty="0" err="1">
                <a:latin typeface="Courier New" panose="02070309020205020404" pitchFamily="49" charset="0"/>
              </a:rPr>
              <a:t>query_model</a:t>
            </a:r>
            <a:r>
              <a:rPr lang="en-US" sz="1700" dirty="0"/>
              <a:t>, </a:t>
            </a:r>
            <a:r>
              <a:rPr lang="en-US" sz="1700" dirty="0" err="1">
                <a:latin typeface="Courier New" panose="02070309020205020404" pitchFamily="49" charset="0"/>
              </a:rPr>
              <a:t>describe_model</a:t>
            </a:r>
            <a:r>
              <a:rPr lang="en-US" sz="1700" dirty="0"/>
              <a:t>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Export results to Pandas </a:t>
            </a:r>
            <a:r>
              <a:rPr lang="en-US" sz="1700" dirty="0" err="1"/>
              <a:t>DataFrames</a:t>
            </a:r>
            <a:endParaRPr lang="en-US" sz="17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Supports raw SQL if needed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76ADA9-9B3D-88E2-7715-252C6F1B3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8" y="1840818"/>
            <a:ext cx="6275308" cy="434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871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C7867-3AD5-2ED0-8486-020E7E2FF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6A222-44F2-FB78-5E3F-F3EA74C30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Hands-on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6E5FF-15DE-1265-AB53-BB956503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7358B-45E4-B456-9A5A-01221CD5D3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15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B5FFC5-CF55-7C4C-5D98-7B7941B204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Query interface – Data Exploration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F0F0B3-CDA0-A8A3-311B-BCD92A4C5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46" y="1626238"/>
            <a:ext cx="5359400" cy="5232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8A9DB4-A1CF-8782-8639-5C4458E86D04}"/>
              </a:ext>
            </a:extLst>
          </p:cNvPr>
          <p:cNvSpPr txBox="1"/>
          <p:nvPr/>
        </p:nvSpPr>
        <p:spPr>
          <a:xfrm>
            <a:off x="6566467" y="1174157"/>
            <a:ext cx="514250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🎯 Goal of this Hands-on</a:t>
            </a:r>
          </a:p>
          <a:p>
            <a:r>
              <a:rPr lang="en-US" dirty="0"/>
              <a:t>Explore the </a:t>
            </a:r>
            <a:r>
              <a:rPr lang="en-US" b="1" dirty="0"/>
              <a:t>Biofilter3R database</a:t>
            </a:r>
            <a:r>
              <a:rPr lang="en-US" dirty="0"/>
              <a:t> through the Query Interface.</a:t>
            </a:r>
            <a:br>
              <a:rPr lang="en-US" dirty="0"/>
            </a:br>
            <a:r>
              <a:rPr lang="en-US" dirty="0"/>
              <a:t>The interface is powered by </a:t>
            </a:r>
            <a:r>
              <a:rPr lang="en-US" b="1" dirty="0"/>
              <a:t>SQLAlchemy</a:t>
            </a:r>
            <a:r>
              <a:rPr lang="en-US" dirty="0"/>
              <a:t>, so you can query models as Python objects and build your own analyses.</a:t>
            </a:r>
          </a:p>
          <a:p>
            <a:endParaRPr lang="en-US" dirty="0"/>
          </a:p>
          <a:p>
            <a:r>
              <a:rPr lang="en-US" b="1" dirty="0"/>
              <a:t>🧑‍💻 In this exercise you will: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List all models</a:t>
            </a:r>
            <a:r>
              <a:rPr lang="en-US" dirty="0"/>
              <a:t> (tables) available in the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Inspect fields &amp; metadata</a:t>
            </a:r>
            <a:r>
              <a:rPr lang="en-US" dirty="0"/>
              <a:t> for each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Query genes, variants, and assemblies</a:t>
            </a:r>
            <a:r>
              <a:rPr lang="en-US" dirty="0"/>
              <a:t> by identifiers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Jump between models</a:t>
            </a:r>
            <a:r>
              <a:rPr lang="en-US" dirty="0"/>
              <a:t> using ORM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Return results as </a:t>
            </a:r>
            <a:r>
              <a:rPr lang="en-US" b="1" dirty="0" err="1"/>
              <a:t>DataFrames</a:t>
            </a:r>
            <a:r>
              <a:rPr lang="en-US" dirty="0"/>
              <a:t> for analysis &amp; plotting</a:t>
            </a:r>
          </a:p>
          <a:p>
            <a:endParaRPr lang="en-US" dirty="0"/>
          </a:p>
          <a:p>
            <a:r>
              <a:rPr lang="en-US" dirty="0"/>
              <a:t>💡 </a:t>
            </a:r>
            <a:r>
              <a:rPr lang="en-US" i="1" dirty="0"/>
              <a:t>This is the “getting your hands dirty” moment — interact, explore, and discover how the schema connects data points.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228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63E60-2FB3-A7E5-47A8-36560BFC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CB6F-A5F6-0AFE-6D56-4C5016B07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Hands-on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AA364-663F-21B2-E338-DBD87B107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EC20AB-E4EB-25EC-3A8B-F8935A49F1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16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C08204B-1B31-AA3E-843E-BF3DA5AEBA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Query interface - Annotation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52A52D-46A6-BE5E-8C9F-A217460E5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8" y="1734153"/>
            <a:ext cx="4686300" cy="4597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623F9C-4A3C-1043-DB6A-3D4C64AAF4AA}"/>
              </a:ext>
            </a:extLst>
          </p:cNvPr>
          <p:cNvSpPr txBox="1"/>
          <p:nvPr/>
        </p:nvSpPr>
        <p:spPr>
          <a:xfrm>
            <a:off x="5801438" y="918691"/>
            <a:ext cx="6257677" cy="606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/>
              <a:t>🎯 Goal of this Hands-on</a:t>
            </a:r>
          </a:p>
          <a:p>
            <a:r>
              <a:rPr lang="en-US" dirty="0"/>
              <a:t>Learn how to perform </a:t>
            </a:r>
            <a:r>
              <a:rPr lang="en-US" b="1" dirty="0"/>
              <a:t>annotation queries</a:t>
            </a:r>
            <a:r>
              <a:rPr lang="en-US" dirty="0"/>
              <a:t>: starting from a Variant and retrieving its mapped Genes.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🧑‍💻 Steps in this exercise: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Get a Variant</a:t>
            </a:r>
            <a:r>
              <a:rPr lang="en-US" dirty="0"/>
              <a:t> by its ID (example: 171, rs171)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Retrieve Relationships</a:t>
            </a:r>
            <a:r>
              <a:rPr lang="en-US" dirty="0"/>
              <a:t> linking this Variant to Genes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Fetch Gene details</a:t>
            </a:r>
            <a:r>
              <a:rPr lang="en-US" dirty="0"/>
              <a:t> (HGNC, </a:t>
            </a:r>
            <a:r>
              <a:rPr lang="en-US" dirty="0" err="1"/>
              <a:t>Ensembl</a:t>
            </a:r>
            <a:r>
              <a:rPr lang="en-US" dirty="0"/>
              <a:t>, etc.) from those IDs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✅ Key Takeaways</a:t>
            </a:r>
          </a:p>
          <a:p>
            <a:r>
              <a:rPr lang="en-US" dirty="0"/>
              <a:t>Queries can be executed </a:t>
            </a:r>
            <a:r>
              <a:rPr lang="en-US" b="1" dirty="0"/>
              <a:t>incrementally</a:t>
            </a:r>
            <a:r>
              <a:rPr lang="en-US" dirty="0"/>
              <a:t> (step-by-step)</a:t>
            </a:r>
          </a:p>
          <a:p>
            <a:r>
              <a:rPr lang="en-US" dirty="0"/>
              <a:t>Each step produces </a:t>
            </a:r>
            <a:r>
              <a:rPr lang="en-US" b="1" dirty="0"/>
              <a:t>intermediate </a:t>
            </a:r>
            <a:r>
              <a:rPr lang="en-US" b="1" dirty="0" err="1"/>
              <a:t>DataFrames</a:t>
            </a:r>
            <a:r>
              <a:rPr lang="en-US" dirty="0"/>
              <a:t> for inspection</a:t>
            </a:r>
          </a:p>
          <a:p>
            <a:r>
              <a:rPr lang="en-US" dirty="0"/>
              <a:t>Demonstrates how </a:t>
            </a:r>
            <a:r>
              <a:rPr lang="en-US" b="1" dirty="0"/>
              <a:t>Variant ↔ Gene mapping</a:t>
            </a:r>
            <a:r>
              <a:rPr lang="en-US" dirty="0"/>
              <a:t> is resolved in Biofilter3R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💡 </a:t>
            </a:r>
            <a:r>
              <a:rPr lang="en-US" i="1" dirty="0"/>
              <a:t>This workflow is the foundation for annotation pipelines: start with variants, walk through relationships, and collect gene-level information.</a:t>
            </a:r>
            <a:endParaRPr lang="en-US" dirty="0"/>
          </a:p>
          <a:p>
            <a:endParaRPr lang="en-US" sz="1600" dirty="0" err="1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7267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59FB2-2126-596C-FF6A-F2D210158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B5CF-3377-CD6A-0FD9-F2BC71007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Hands-on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AED56-22CB-DE7E-62BF-765378A58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C42E1-61A2-3793-3114-535CBAA02F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17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3A9760-CBC4-5841-6E76-34158BA16A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Query interface - Filtering</a:t>
            </a: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D86B2FF-B24A-8760-9587-DCB82220F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7" y="2033104"/>
            <a:ext cx="5570653" cy="27774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213FB5-CCF0-232C-74C1-1092CEBEA1A7}"/>
              </a:ext>
            </a:extLst>
          </p:cNvPr>
          <p:cNvSpPr txBox="1"/>
          <p:nvPr/>
        </p:nvSpPr>
        <p:spPr>
          <a:xfrm>
            <a:off x="6535972" y="1176794"/>
            <a:ext cx="547143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🎯 Goal of this Hands-on</a:t>
            </a:r>
          </a:p>
          <a:p>
            <a:pPr>
              <a:buNone/>
            </a:pPr>
            <a:r>
              <a:rPr lang="en-US" dirty="0"/>
              <a:t>Filtering is a key operation when we want to </a:t>
            </a:r>
            <a:r>
              <a:rPr lang="en-US" b="1" dirty="0"/>
              <a:t>narrow down the universe of variants</a:t>
            </a:r>
            <a:r>
              <a:rPr lang="en-US" dirty="0"/>
              <a:t> to a subset of interest.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🧑‍💻 Steps in this exercise: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Loaded model</a:t>
            </a:r>
            <a:r>
              <a:rPr lang="en-US" dirty="0"/>
              <a:t>: we start from the Variant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Applied criteria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Chromosome equal to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Position between 10,000 and 20,000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Result limit</a:t>
            </a:r>
            <a:r>
              <a:rPr lang="en-US" dirty="0"/>
              <a:t>: we return only the </a:t>
            </a:r>
            <a:r>
              <a:rPr lang="en-US" b="1" dirty="0"/>
              <a:t>first 15 records</a:t>
            </a:r>
            <a:r>
              <a:rPr lang="en-US" dirty="0"/>
              <a:t> to keep exploration simple.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Output</a:t>
            </a:r>
            <a:r>
              <a:rPr lang="en-US" dirty="0"/>
              <a:t>: a </a:t>
            </a:r>
            <a:r>
              <a:rPr lang="en-US" b="1" dirty="0" err="1"/>
              <a:t>DataFrame</a:t>
            </a:r>
            <a:r>
              <a:rPr lang="en-US" dirty="0"/>
              <a:t> with the filtered variants, including their coordinates and attributes.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💡 This pattern can be expanded to multiple chromosomes, larger position ranges, or even combined with joins to other models (e.g., genes, assemblies).</a:t>
            </a:r>
          </a:p>
        </p:txBody>
      </p:sp>
    </p:spTree>
    <p:extLst>
      <p:ext uri="{BB962C8B-B14F-4D97-AF65-F5344CB8AC3E}">
        <p14:creationId xmlns:p14="http://schemas.microsoft.com/office/powerpoint/2010/main" val="3935937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BFA26-8478-CAF5-DA03-A8D5D77A7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BB36F-6E9B-2C37-AEFA-1D69417E9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Hands-on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672AC-D290-A351-A016-BD5A2150A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EA8D75-15D5-D896-3A14-B9F8148239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18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D50C539-11BE-6C02-A58A-E23FEF472E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Report interface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83B569-F612-34A2-5894-1CE538ADF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8" y="1626238"/>
            <a:ext cx="5376862" cy="33761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2212E5-6C18-8379-6354-60536FEA9D49}"/>
              </a:ext>
            </a:extLst>
          </p:cNvPr>
          <p:cNvSpPr txBox="1"/>
          <p:nvPr/>
        </p:nvSpPr>
        <p:spPr>
          <a:xfrm>
            <a:off x="6221047" y="1693087"/>
            <a:ext cx="5759938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What is it?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High-level interface for </a:t>
            </a:r>
            <a:r>
              <a:rPr lang="en-US" sz="1700" b="1" dirty="0"/>
              <a:t>predefined queries</a:t>
            </a:r>
            <a:endParaRPr lang="en-US" sz="17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Designed for </a:t>
            </a:r>
            <a:r>
              <a:rPr lang="en-US" sz="1700" b="1" dirty="0"/>
              <a:t>general users</a:t>
            </a:r>
            <a:r>
              <a:rPr lang="en-US" sz="1700" dirty="0"/>
              <a:t> (no need for SQLAlchemy knowledge)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Input = simple parameters → Output = ready-to-use results</a:t>
            </a:r>
          </a:p>
          <a:p>
            <a:pPr>
              <a:spcAft>
                <a:spcPts val="600"/>
              </a:spcAft>
              <a:buNone/>
            </a:pPr>
            <a:endParaRPr lang="en-US" sz="300" b="1" dirty="0"/>
          </a:p>
          <a:p>
            <a:pPr>
              <a:spcAft>
                <a:spcPts val="600"/>
              </a:spcAft>
              <a:buNone/>
            </a:pPr>
            <a:r>
              <a:rPr lang="en-US" b="1" dirty="0"/>
              <a:t>Current Status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Experimental in </a:t>
            </a:r>
            <a:r>
              <a:rPr lang="en-US" sz="1700" b="1" dirty="0"/>
              <a:t>v3.0.0</a:t>
            </a:r>
            <a:endParaRPr lang="en-US" sz="17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First example: </a:t>
            </a:r>
            <a:r>
              <a:rPr lang="en-US" sz="1700" dirty="0" err="1">
                <a:latin typeface="Courier New" panose="02070309020205020404" pitchFamily="49" charset="0"/>
              </a:rPr>
              <a:t>report_entity_filter</a:t>
            </a:r>
            <a:endParaRPr lang="en-US" sz="17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More reports planned for </a:t>
            </a:r>
            <a:r>
              <a:rPr lang="en-US" sz="1700" b="1" dirty="0"/>
              <a:t>Annotation, Filtering, and Modeling</a:t>
            </a:r>
            <a:endParaRPr lang="en-US" sz="17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246BAF-3606-B5B7-2EE1-C92C0663F7F1}"/>
              </a:ext>
            </a:extLst>
          </p:cNvPr>
          <p:cNvSpPr txBox="1"/>
          <p:nvPr/>
        </p:nvSpPr>
        <p:spPr>
          <a:xfrm>
            <a:off x="633108" y="5255447"/>
            <a:ext cx="11175877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dirty="0"/>
              <a:t>⚠️ </a:t>
            </a:r>
            <a:r>
              <a:rPr lang="en-US" sz="1700" i="1" dirty="0"/>
              <a:t>Note: The Report Interface is under development. Features may change in future versions.</a:t>
            </a:r>
          </a:p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sz="1700" dirty="0"/>
              <a:t>💡 </a:t>
            </a:r>
            <a:r>
              <a:rPr lang="en-US" sz="1700" i="1" dirty="0"/>
              <a:t>The </a:t>
            </a:r>
            <a:r>
              <a:rPr lang="en-US" sz="1700" i="1" dirty="0" err="1">
                <a:latin typeface="Courier New" panose="02070309020205020404" pitchFamily="49" charset="0"/>
              </a:rPr>
              <a:t>run_report</a:t>
            </a:r>
            <a:r>
              <a:rPr lang="en-US" sz="1700" i="1" dirty="0"/>
              <a:t> method will serve as the foundation for building advanced queries to support </a:t>
            </a:r>
            <a:r>
              <a:rPr lang="en-US" sz="1700" b="1" i="1" dirty="0"/>
              <a:t>Annotations</a:t>
            </a:r>
            <a:r>
              <a:rPr lang="en-US" sz="1700" i="1" dirty="0"/>
              <a:t>, </a:t>
            </a:r>
            <a:r>
              <a:rPr lang="en-US" sz="1700" b="1" i="1" dirty="0"/>
              <a:t>Filtering</a:t>
            </a:r>
            <a:r>
              <a:rPr lang="en-US" sz="1700" i="1" dirty="0"/>
              <a:t>, and </a:t>
            </a:r>
            <a:r>
              <a:rPr lang="en-US" sz="1700" b="1" i="1" dirty="0"/>
              <a:t>Modeling</a:t>
            </a:r>
            <a:r>
              <a:rPr lang="en-US" sz="1700" i="1" dirty="0"/>
              <a:t> in upcoming releases.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955831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523F-3384-58AB-3100-53BE0B51D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7E295-499D-7147-3AD6-163B55007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Biofilter v3.0.0 vs v3.1.0 (in progress)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78665-BA5A-3FA4-302F-21347B52B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F9F14-9892-65D7-8C79-2BB77F12B2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19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FC7BCA-CEDD-6E98-F864-8A30758437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Highlights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4C9E76-4C83-BFE3-4FD2-4AB80C244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448883"/>
              </p:ext>
            </p:extLst>
          </p:nvPr>
        </p:nvGraphicFramePr>
        <p:xfrm>
          <a:off x="719138" y="1703754"/>
          <a:ext cx="10750550" cy="4523661"/>
        </p:xfrm>
        <a:graphic>
          <a:graphicData uri="http://schemas.openxmlformats.org/drawingml/2006/table">
            <a:tbl>
              <a:tblPr/>
              <a:tblGrid>
                <a:gridCol w="4696924">
                  <a:extLst>
                    <a:ext uri="{9D8B030D-6E8A-4147-A177-3AD203B41FA5}">
                      <a16:colId xmlns:a16="http://schemas.microsoft.com/office/drawing/2014/main" val="115689140"/>
                    </a:ext>
                  </a:extLst>
                </a:gridCol>
                <a:gridCol w="6053626">
                  <a:extLst>
                    <a:ext uri="{9D8B030D-6E8A-4147-A177-3AD203B41FA5}">
                      <a16:colId xmlns:a16="http://schemas.microsoft.com/office/drawing/2014/main" val="2670634926"/>
                    </a:ext>
                  </a:extLst>
                </a:gridCol>
              </a:tblGrid>
              <a:tr h="502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v3.0.0 (LPC Release)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v3.1.0 (In Development)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164630"/>
                  </a:ext>
                </a:extLst>
              </a:tr>
              <a:tr h="502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🧬 </a:t>
                      </a:r>
                      <a:r>
                        <a:rPr lang="en-US" sz="1400" b="1" dirty="0"/>
                        <a:t>Entities</a:t>
                      </a:r>
                      <a:r>
                        <a:rPr lang="en-US" sz="1400" dirty="0"/>
                        <a:t> as core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🧬 </a:t>
                      </a:r>
                      <a:r>
                        <a:rPr lang="en-US" sz="1400" b="1"/>
                        <a:t>Variants promoted to Entities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16187"/>
                  </a:ext>
                </a:extLst>
              </a:tr>
              <a:tr h="502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📦 ETL framework (extract → transform → load)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📦 </a:t>
                      </a:r>
                      <a:r>
                        <a:rPr lang="en-US" sz="1400" b="1" dirty="0" err="1"/>
                        <a:t>ETLPackage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dirty="0"/>
                        <a:t>→ replaces </a:t>
                      </a:r>
                      <a:r>
                        <a:rPr lang="en-US" sz="1400" dirty="0" err="1"/>
                        <a:t>ETLProcess</a:t>
                      </a:r>
                      <a:r>
                        <a:rPr lang="en-US" sz="1400" dirty="0"/>
                        <a:t> &amp; </a:t>
                      </a:r>
                      <a:r>
                        <a:rPr lang="en-US" sz="1400" dirty="0" err="1"/>
                        <a:t>ETLLog</a:t>
                      </a:r>
                      <a:r>
                        <a:rPr lang="en-US" sz="1400" dirty="0"/>
                        <a:t>, better tracking of ingestion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2989"/>
                  </a:ext>
                </a:extLst>
              </a:tr>
              <a:tr h="502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🧾 EntityName for aliases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🧾 </a:t>
                      </a:r>
                      <a:r>
                        <a:rPr lang="en-US" sz="1400" b="1"/>
                        <a:t>EntityAlias</a:t>
                      </a:r>
                      <a:r>
                        <a:rPr lang="en-US" sz="1400"/>
                        <a:t> with alias type &amp; 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321832"/>
                  </a:ext>
                </a:extLst>
              </a:tr>
              <a:tr h="502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🗂️ Genes, Proteins, Pathways, Variants (SNPs) integrated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🧭 </a:t>
                      </a:r>
                      <a:r>
                        <a:rPr lang="en-US" sz="1400" b="1" dirty="0"/>
                        <a:t>Multi-assembly support</a:t>
                      </a:r>
                      <a:r>
                        <a:rPr lang="en-US" sz="1400" dirty="0"/>
                        <a:t> (GRCh37 + GRCh38 positions)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305207"/>
                  </a:ext>
                </a:extLst>
              </a:tr>
              <a:tr h="502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🧹 Initial curation: conflict flags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🧹 </a:t>
                      </a:r>
                      <a:r>
                        <a:rPr lang="en-US" sz="1400" b="1" dirty="0"/>
                        <a:t>Variant merge &amp; aliasing</a:t>
                      </a:r>
                      <a:r>
                        <a:rPr lang="en-US" sz="1400" dirty="0"/>
                        <a:t> (deprecated </a:t>
                      </a:r>
                      <a:r>
                        <a:rPr lang="en-US" sz="1400" dirty="0" err="1"/>
                        <a:t>rsIDs</a:t>
                      </a:r>
                      <a:r>
                        <a:rPr lang="en-US" sz="1400" dirty="0"/>
                        <a:t> tracked)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130760"/>
                  </a:ext>
                </a:extLst>
              </a:tr>
              <a:tr h="502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☁️ HPC-ready, modular schema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⚡ Database </a:t>
                      </a:r>
                      <a:r>
                        <a:rPr lang="en-US" sz="1400" b="1" dirty="0"/>
                        <a:t>indexing &amp; FK integration</a:t>
                      </a:r>
                      <a:r>
                        <a:rPr lang="en-US" sz="1400" dirty="0"/>
                        <a:t> for performance &amp; integrity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28722"/>
                  </a:ext>
                </a:extLst>
              </a:tr>
              <a:tr h="502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📊 Early Report interface (prototype)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📊 Reports expanded for </a:t>
                      </a:r>
                      <a:r>
                        <a:rPr lang="en-US" sz="1400" b="1" dirty="0"/>
                        <a:t>Annotation, Filtering, Modeling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699904"/>
                  </a:ext>
                </a:extLst>
              </a:tr>
              <a:tr h="502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✅ Stable for testing in LPC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🌐 New domains: </a:t>
                      </a:r>
                      <a:r>
                        <a:rPr lang="en-US" sz="1400" b="1" dirty="0"/>
                        <a:t>Diseases &amp; Chemicals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639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353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7DE21-4BDB-D278-4375-59DED2F88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9BFC4-3CA7-7800-1C28-27632445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Why is Different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8E567-F598-A3EC-D7DB-9721F8B90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2E1F6-10B1-4D7B-BE80-99F0D0E42C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20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5D5C7F-9111-4D4A-D976-BECF3C7488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We can be the bridge across all standards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E00976-1C1A-4762-5360-322362ED5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8" y="2418415"/>
            <a:ext cx="5840046" cy="28842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DD09A8-A01A-3170-0044-1EA23D7654C0}"/>
              </a:ext>
            </a:extLst>
          </p:cNvPr>
          <p:cNvSpPr txBox="1"/>
          <p:nvPr/>
        </p:nvSpPr>
        <p:spPr>
          <a:xfrm>
            <a:off x="6697785" y="2418415"/>
            <a:ext cx="5236308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Acts as a </a:t>
            </a:r>
            <a:r>
              <a:rPr lang="en-US" b="1" dirty="0"/>
              <a:t>bilingual system</a:t>
            </a:r>
            <a:r>
              <a:rPr lang="en-US" dirty="0"/>
              <a:t> — able to read and unify different standards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greater granularity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Proteins at </a:t>
            </a:r>
            <a:r>
              <a:rPr lang="en-US" b="1" dirty="0"/>
              <a:t>canonical</a:t>
            </a:r>
            <a:r>
              <a:rPr lang="en-US" dirty="0"/>
              <a:t> and </a:t>
            </a:r>
            <a:r>
              <a:rPr lang="en-US" b="1" dirty="0"/>
              <a:t>isoform</a:t>
            </a:r>
            <a:r>
              <a:rPr lang="en-US" dirty="0"/>
              <a:t> levels (vs only groups before)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Genes with multiple IDs &amp; aliases unified under Entities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Connects </a:t>
            </a:r>
            <a:r>
              <a:rPr lang="en-US" b="1" dirty="0"/>
              <a:t>any </a:t>
            </a:r>
            <a:r>
              <a:rPr lang="en-US" b="1" dirty="0" err="1"/>
              <a:t>omic</a:t>
            </a:r>
            <a:r>
              <a:rPr lang="en-US" b="1" dirty="0"/>
              <a:t> data</a:t>
            </a:r>
            <a:r>
              <a:rPr lang="en-US" dirty="0"/>
              <a:t> (genes, variants, proteins, pathways, …)</a:t>
            </a:r>
          </a:p>
        </p:txBody>
      </p:sp>
    </p:spTree>
    <p:extLst>
      <p:ext uri="{BB962C8B-B14F-4D97-AF65-F5344CB8AC3E}">
        <p14:creationId xmlns:p14="http://schemas.microsoft.com/office/powerpoint/2010/main" val="782628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A5AD1-B8DF-6291-D09F-0B236E7D3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1A2D8-4614-5C54-D525-07E9A95E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200" y="2340396"/>
            <a:ext cx="10749600" cy="2177208"/>
          </a:xfrm>
        </p:spPr>
        <p:txBody>
          <a:bodyPr/>
          <a:lstStyle/>
          <a:p>
            <a:r>
              <a:rPr lang="en-US" dirty="0"/>
              <a:t>DOCS</a:t>
            </a:r>
            <a:br>
              <a:rPr lang="en-US" dirty="0"/>
            </a:br>
            <a:r>
              <a:rPr lang="en-US" dirty="0"/>
              <a:t>V 3.0.1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06C8B-8D1C-7D0A-77D1-E21253E5B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02526-C099-C14C-B885-D5340A804096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DD8594-34EC-B89E-595A-6547F4825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48EB2-ABBB-452B-B43B-31E8A7DFB90B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49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A8A0F0-973D-DF40-893B-7E79CDC675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C569F0-C586-7242-AA84-18137DD81364}" type="datetime4">
              <a:rPr lang="en-US" smtClean="0"/>
              <a:pPr/>
              <a:t>November 24, 2025</a:t>
            </a:fld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14FF7-8CF4-474E-BE16-8C37F288A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C00F76-A9D2-234B-AF7A-A63A510089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4573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7D695-F57E-11B1-4CF5-84B5F013C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1B87E-2493-C696-610E-56B71B39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11E5B"/>
                </a:solidFill>
              </a:rPr>
              <a:t>Agenda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012B6-7194-5AAA-8CD7-214E773F4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5AD48B-8651-A452-CE3C-E323CFD430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23</a:t>
            </a:fld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D0874B-C637-672D-9847-539BD12ABF0A}"/>
              </a:ext>
            </a:extLst>
          </p:cNvPr>
          <p:cNvSpPr txBox="1"/>
          <p:nvPr/>
        </p:nvSpPr>
        <p:spPr>
          <a:xfrm>
            <a:off x="125511" y="6384192"/>
            <a:ext cx="8153891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Introduction</a:t>
            </a:r>
            <a:endParaRPr lang="en-US" dirty="0"/>
          </a:p>
          <a:p>
            <a:pPr lvl="1"/>
            <a:r>
              <a:rPr lang="en-US" sz="1400" dirty="0"/>
              <a:t>What is Biofilter3R?</a:t>
            </a:r>
          </a:p>
          <a:p>
            <a:pPr lvl="1"/>
            <a:r>
              <a:rPr lang="en-US" sz="1400" dirty="0"/>
              <a:t>Differences from Biofilter v2 / LOKI</a:t>
            </a:r>
          </a:p>
          <a:p>
            <a:pPr lvl="1"/>
            <a:endParaRPr lang="en-US" sz="1400" dirty="0"/>
          </a:p>
          <a:p>
            <a:r>
              <a:rPr lang="en-US" b="1" dirty="0"/>
              <a:t>System Overview</a:t>
            </a:r>
            <a:endParaRPr lang="en-US" dirty="0"/>
          </a:p>
          <a:p>
            <a:pPr lvl="1"/>
            <a:r>
              <a:rPr lang="en-US" sz="1400" dirty="0"/>
              <a:t>Architecture (cloud-ready, container-ready, HPC)</a:t>
            </a:r>
          </a:p>
          <a:p>
            <a:pPr lvl="1"/>
            <a:r>
              <a:rPr lang="en-US" sz="1400" dirty="0"/>
              <a:t>Data ingestion (ETL phases: Extract → Transform → Load)</a:t>
            </a:r>
          </a:p>
          <a:p>
            <a:pPr lvl="1"/>
            <a:r>
              <a:rPr lang="en-US" sz="1400" dirty="0"/>
              <a:t>Data layers: raw, processed (Parquet), curated (DB)</a:t>
            </a:r>
          </a:p>
          <a:p>
            <a:pPr lvl="1"/>
            <a:endParaRPr lang="en-US" sz="1400" dirty="0"/>
          </a:p>
          <a:p>
            <a:r>
              <a:rPr lang="en-US" b="1" dirty="0"/>
              <a:t>Database Schema (v3.0.0)</a:t>
            </a:r>
            <a:endParaRPr lang="en-US" dirty="0"/>
          </a:p>
          <a:p>
            <a:pPr lvl="1"/>
            <a:r>
              <a:rPr lang="en-US" sz="1400" dirty="0"/>
              <a:t>Core models: Entity, Gene, Protein, Pathway, Variant</a:t>
            </a:r>
          </a:p>
          <a:p>
            <a:pPr lvl="1"/>
            <a:r>
              <a:rPr lang="en-US" sz="1400" dirty="0"/>
              <a:t>Supporting models: Config, GO, Curation, ETL</a:t>
            </a:r>
          </a:p>
          <a:p>
            <a:pPr lvl="1"/>
            <a:endParaRPr lang="en-US" sz="1400" dirty="0"/>
          </a:p>
          <a:p>
            <a:r>
              <a:rPr lang="en-US" b="1" dirty="0"/>
              <a:t>Hands-On in LPC</a:t>
            </a:r>
            <a:endParaRPr lang="en-US" dirty="0"/>
          </a:p>
          <a:p>
            <a:pPr lvl="1"/>
            <a:r>
              <a:rPr lang="en-US" sz="1400" dirty="0"/>
              <a:t>Access via Jupyter</a:t>
            </a:r>
          </a:p>
          <a:p>
            <a:pPr lvl="1"/>
            <a:r>
              <a:rPr lang="en-US" sz="1400" dirty="0"/>
              <a:t>Query Interface (examples)</a:t>
            </a:r>
          </a:p>
          <a:p>
            <a:pPr lvl="1"/>
            <a:r>
              <a:rPr lang="en-US" sz="1400" dirty="0"/>
              <a:t>Report Interface (prototype)</a:t>
            </a:r>
          </a:p>
          <a:p>
            <a:pPr lvl="1"/>
            <a:endParaRPr lang="en-US" sz="1400" dirty="0"/>
          </a:p>
          <a:p>
            <a:r>
              <a:rPr lang="en-US" b="1" dirty="0"/>
              <a:t>Numbers &amp; Stats</a:t>
            </a:r>
            <a:endParaRPr lang="en-US" dirty="0"/>
          </a:p>
          <a:p>
            <a:pPr lvl="1"/>
            <a:r>
              <a:rPr lang="en-US" sz="1400" dirty="0"/>
              <a:t>Record counts per domain</a:t>
            </a:r>
          </a:p>
          <a:p>
            <a:pPr lvl="1"/>
            <a:r>
              <a:rPr lang="en-US" sz="1400" dirty="0"/>
              <a:t>Variant distribution</a:t>
            </a:r>
          </a:p>
          <a:p>
            <a:pPr lvl="1"/>
            <a:endParaRPr lang="en-US" sz="1400" dirty="0"/>
          </a:p>
          <a:p>
            <a:r>
              <a:rPr lang="en-US" b="1" dirty="0"/>
              <a:t>Roadmap to v3.1.0</a:t>
            </a:r>
            <a:endParaRPr lang="en-US" dirty="0"/>
          </a:p>
          <a:p>
            <a:pPr lvl="1"/>
            <a:r>
              <a:rPr lang="en-US" sz="1400" dirty="0"/>
              <a:t>Variants as Entities</a:t>
            </a:r>
          </a:p>
          <a:p>
            <a:pPr lvl="1"/>
            <a:r>
              <a:rPr lang="en-US" sz="1400" dirty="0" err="1"/>
              <a:t>ETLPackage</a:t>
            </a:r>
            <a:r>
              <a:rPr lang="en-US" sz="1400" dirty="0"/>
              <a:t> redesign</a:t>
            </a:r>
          </a:p>
          <a:p>
            <a:pPr lvl="1"/>
            <a:r>
              <a:rPr lang="en-US" sz="1400" dirty="0" err="1"/>
              <a:t>EntityAlias</a:t>
            </a:r>
            <a:r>
              <a:rPr lang="en-US" sz="1400" dirty="0"/>
              <a:t> improvements</a:t>
            </a:r>
          </a:p>
          <a:p>
            <a:pPr lvl="1"/>
            <a:r>
              <a:rPr lang="en-US" sz="1400" dirty="0"/>
              <a:t>New domains (Diseases, Chemicals)</a:t>
            </a:r>
          </a:p>
          <a:p>
            <a:pPr lvl="1"/>
            <a:endParaRPr lang="en-US" sz="1400" dirty="0"/>
          </a:p>
          <a:p>
            <a:r>
              <a:rPr lang="en-US" b="1" dirty="0"/>
              <a:t>Q&amp;A / Discussion</a:t>
            </a:r>
            <a:endParaRPr lang="en-US" dirty="0"/>
          </a:p>
        </p:txBody>
      </p:sp>
      <p:pic>
        <p:nvPicPr>
          <p:cNvPr id="10" name="Graphic 9" descr="Clock with solid fill">
            <a:extLst>
              <a:ext uri="{FF2B5EF4-FFF2-40B4-BE49-F238E27FC236}">
                <a16:creationId xmlns:a16="http://schemas.microsoft.com/office/drawing/2014/main" id="{1FEE23AF-CA13-025F-9D5F-AE8FAE0A9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469" y="2220358"/>
            <a:ext cx="3086986" cy="30869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367785-78F2-DD40-8E34-082071E2855A}"/>
              </a:ext>
            </a:extLst>
          </p:cNvPr>
          <p:cNvSpPr txBox="1"/>
          <p:nvPr/>
        </p:nvSpPr>
        <p:spPr>
          <a:xfrm>
            <a:off x="4743346" y="347531"/>
            <a:ext cx="4513028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Introduction</a:t>
            </a:r>
            <a:endParaRPr lang="en-US" dirty="0"/>
          </a:p>
          <a:p>
            <a:pPr lvl="1"/>
            <a:r>
              <a:rPr lang="en-US" sz="1400" dirty="0"/>
              <a:t>What is Biofilter3R?</a:t>
            </a:r>
          </a:p>
          <a:p>
            <a:pPr lvl="1"/>
            <a:r>
              <a:rPr lang="en-US" sz="1400" dirty="0"/>
              <a:t>Differences from Biofilter v2 / LOKI</a:t>
            </a:r>
          </a:p>
          <a:p>
            <a:pPr lvl="1"/>
            <a:endParaRPr lang="en-US" sz="1400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Database Schema (v3.0.0)</a:t>
            </a:r>
            <a:endParaRPr lang="en-US" dirty="0"/>
          </a:p>
          <a:p>
            <a:pPr lvl="1"/>
            <a:r>
              <a:rPr lang="en-US" sz="1400" dirty="0"/>
              <a:t>Core models: Entity and Omics Domains</a:t>
            </a:r>
          </a:p>
          <a:p>
            <a:pPr lvl="1"/>
            <a:r>
              <a:rPr lang="en-US" sz="1400" dirty="0"/>
              <a:t>Supporting models: Config, Curation, ETL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r>
              <a:rPr lang="en-US" b="1" dirty="0"/>
              <a:t>Numbers &amp; Stats</a:t>
            </a:r>
            <a:endParaRPr lang="en-US" dirty="0"/>
          </a:p>
          <a:p>
            <a:pPr lvl="1"/>
            <a:r>
              <a:rPr lang="en-US" sz="1400" dirty="0"/>
              <a:t>Record counts per domain</a:t>
            </a:r>
          </a:p>
          <a:p>
            <a:pPr lvl="1"/>
            <a:r>
              <a:rPr lang="en-US" sz="1400" dirty="0"/>
              <a:t>Variant distribution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r>
              <a:rPr lang="en-US" b="1" dirty="0"/>
              <a:t>Q&amp;A / Discussion</a:t>
            </a:r>
            <a:endParaRPr lang="en-US" dirty="0"/>
          </a:p>
          <a:p>
            <a:pPr lvl="1"/>
            <a:endParaRPr lang="en-US" sz="1400" b="1" dirty="0"/>
          </a:p>
          <a:p>
            <a:pPr lvl="1"/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2A068-EA53-092B-3893-6EF67F4D706F}"/>
              </a:ext>
            </a:extLst>
          </p:cNvPr>
          <p:cNvSpPr txBox="1"/>
          <p:nvPr/>
        </p:nvSpPr>
        <p:spPr>
          <a:xfrm>
            <a:off x="5799185" y="1283990"/>
            <a:ext cx="4768209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System Overview</a:t>
            </a:r>
            <a:endParaRPr lang="en-US" dirty="0"/>
          </a:p>
          <a:p>
            <a:pPr lvl="1"/>
            <a:r>
              <a:rPr lang="en-US" sz="1400" dirty="0"/>
              <a:t>Architecture (cloud-ready, container-ready, HPC)</a:t>
            </a:r>
          </a:p>
          <a:p>
            <a:pPr lvl="1"/>
            <a:r>
              <a:rPr lang="en-US" sz="1400" dirty="0"/>
              <a:t>Data ingestion (ETL phases: Extract → Transform → Load)</a:t>
            </a:r>
          </a:p>
          <a:p>
            <a:pPr lvl="1"/>
            <a:r>
              <a:rPr lang="en-US" sz="1400" dirty="0"/>
              <a:t>Data layers: raw, processed (Parquet), curated (DB)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r>
              <a:rPr lang="en-US" b="1" dirty="0"/>
              <a:t>Hands-On in LPC</a:t>
            </a:r>
            <a:endParaRPr lang="en-US" dirty="0"/>
          </a:p>
          <a:p>
            <a:pPr lvl="1"/>
            <a:r>
              <a:rPr lang="en-US" sz="1400" dirty="0"/>
              <a:t>Access via Jupyter</a:t>
            </a:r>
          </a:p>
          <a:p>
            <a:pPr lvl="1"/>
            <a:r>
              <a:rPr lang="en-US" sz="1400" dirty="0"/>
              <a:t>Query Interface (examples)</a:t>
            </a:r>
          </a:p>
          <a:p>
            <a:pPr lvl="1"/>
            <a:r>
              <a:rPr lang="en-US" sz="1400" dirty="0"/>
              <a:t>Report Interface (prototype)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r>
              <a:rPr lang="en-US" b="1" dirty="0"/>
              <a:t>Roadmap to v3.1.0</a:t>
            </a:r>
            <a:endParaRPr lang="en-US" dirty="0"/>
          </a:p>
          <a:p>
            <a:pPr lvl="1"/>
            <a:r>
              <a:rPr lang="en-US" sz="1400" dirty="0"/>
              <a:t>Variants as Entities</a:t>
            </a:r>
          </a:p>
          <a:p>
            <a:pPr lvl="1"/>
            <a:r>
              <a:rPr lang="en-US" sz="1400" dirty="0" err="1"/>
              <a:t>ETLPackage</a:t>
            </a:r>
            <a:r>
              <a:rPr lang="en-US" sz="1400" dirty="0"/>
              <a:t> redesign</a:t>
            </a:r>
          </a:p>
          <a:p>
            <a:pPr lvl="1"/>
            <a:r>
              <a:rPr lang="en-US" sz="1400" dirty="0" err="1"/>
              <a:t>EntityAlias</a:t>
            </a:r>
            <a:r>
              <a:rPr lang="en-US" sz="1400" dirty="0"/>
              <a:t> improvements</a:t>
            </a:r>
          </a:p>
          <a:p>
            <a:pPr lvl="1"/>
            <a:r>
              <a:rPr lang="en-US" sz="1400" dirty="0"/>
              <a:t>New domains (Diseases, Chemicals)</a:t>
            </a:r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531642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4D168-FF6E-E96D-F925-58E29BF85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AE4D3-ACC0-8573-1016-545E11403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4488656" cy="561600"/>
          </a:xfrm>
        </p:spPr>
        <p:txBody>
          <a:bodyPr/>
          <a:lstStyle/>
          <a:p>
            <a:r>
              <a:rPr lang="en-US" sz="2800" b="1" dirty="0">
                <a:solidFill>
                  <a:srgbClr val="011E5B"/>
                </a:solidFill>
              </a:rPr>
              <a:t>System Architecture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BF44C-C41D-6353-B3CE-82A95839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00913-3F70-138C-61BE-9F83147ED4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24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7105E9-A709-7DFE-5FB3-6C445A5D9D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Key Characteristics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4C1F7B-F3CB-1F85-BE8B-DDF81C101A39}"/>
              </a:ext>
            </a:extLst>
          </p:cNvPr>
          <p:cNvSpPr txBox="1"/>
          <p:nvPr/>
        </p:nvSpPr>
        <p:spPr>
          <a:xfrm>
            <a:off x="1366674" y="1975403"/>
            <a:ext cx="7030533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buNone/>
            </a:pPr>
            <a:r>
              <a:rPr lang="en-US" b="1" dirty="0"/>
              <a:t>Cloud &amp; HPC-ready</a:t>
            </a:r>
            <a:r>
              <a:rPr lang="en-US" dirty="0"/>
              <a:t> — decoupled software and data</a:t>
            </a:r>
          </a:p>
          <a:p>
            <a:pPr>
              <a:spcAft>
                <a:spcPts val="2400"/>
              </a:spcAft>
              <a:buNone/>
            </a:pPr>
            <a:r>
              <a:rPr lang="en-US" b="1" dirty="0"/>
              <a:t>ETL Pipeline</a:t>
            </a:r>
            <a:r>
              <a:rPr lang="en-US" dirty="0"/>
              <a:t> — Extract → Transform → Load (modular, traceable)</a:t>
            </a:r>
          </a:p>
          <a:p>
            <a:pPr>
              <a:spcAft>
                <a:spcPts val="600"/>
              </a:spcAft>
              <a:buNone/>
            </a:pPr>
            <a:r>
              <a:rPr lang="en-US" b="1" dirty="0"/>
              <a:t>Data Layers</a:t>
            </a:r>
            <a:endParaRPr lang="en-US" dirty="0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Raw (original source files)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Processed (standardized Parquet)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dirty="0"/>
              <a:t> Curated (relational DB)</a:t>
            </a:r>
          </a:p>
          <a:p>
            <a:pPr>
              <a:spcAft>
                <a:spcPts val="2400"/>
              </a:spcAft>
              <a:buNone/>
            </a:pPr>
            <a:r>
              <a:rPr lang="en-US" b="1" dirty="0"/>
              <a:t>Entity-centric Schema</a:t>
            </a:r>
            <a:r>
              <a:rPr lang="en-US" dirty="0"/>
              <a:t> — all omics data unified under the </a:t>
            </a:r>
            <a:r>
              <a:rPr lang="en-US" dirty="0">
                <a:latin typeface="Courier New" panose="02070309020205020404" pitchFamily="49" charset="0"/>
              </a:rPr>
              <a:t>Entity</a:t>
            </a:r>
            <a:r>
              <a:rPr lang="en-US" dirty="0"/>
              <a:t> model</a:t>
            </a:r>
          </a:p>
          <a:p>
            <a:pPr>
              <a:spcAft>
                <a:spcPts val="2400"/>
              </a:spcAft>
              <a:buNone/>
            </a:pPr>
            <a:r>
              <a:rPr lang="en-US" b="1" dirty="0"/>
              <a:t>Provenance &amp; Logging</a:t>
            </a:r>
            <a:r>
              <a:rPr lang="en-US" dirty="0"/>
              <a:t> — ingestion tracked by ETL models</a:t>
            </a:r>
          </a:p>
        </p:txBody>
      </p:sp>
      <p:pic>
        <p:nvPicPr>
          <p:cNvPr id="9" name="Graphic 8" descr="Workflow with solid fill">
            <a:extLst>
              <a:ext uri="{FF2B5EF4-FFF2-40B4-BE49-F238E27FC236}">
                <a16:creationId xmlns:a16="http://schemas.microsoft.com/office/drawing/2014/main" id="{B08BAF0E-7E1B-0104-AC99-3A71A1CAF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034" y="1869925"/>
            <a:ext cx="548640" cy="548640"/>
          </a:xfrm>
          <a:prstGeom prst="rect">
            <a:avLst/>
          </a:prstGeom>
        </p:spPr>
      </p:pic>
      <p:pic>
        <p:nvPicPr>
          <p:cNvPr id="11" name="Graphic 10" descr="Cloud with solid fill">
            <a:extLst>
              <a:ext uri="{FF2B5EF4-FFF2-40B4-BE49-F238E27FC236}">
                <a16:creationId xmlns:a16="http://schemas.microsoft.com/office/drawing/2014/main" id="{85D189E3-F909-3FA7-EA0D-5CD644E09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8034" y="2465483"/>
            <a:ext cx="548640" cy="548640"/>
          </a:xfrm>
          <a:prstGeom prst="rect">
            <a:avLst/>
          </a:prstGeom>
        </p:spPr>
      </p:pic>
      <p:pic>
        <p:nvPicPr>
          <p:cNvPr id="13" name="Graphic 12" descr="Folder with solid fill">
            <a:extLst>
              <a:ext uri="{FF2B5EF4-FFF2-40B4-BE49-F238E27FC236}">
                <a16:creationId xmlns:a16="http://schemas.microsoft.com/office/drawing/2014/main" id="{EE43E180-5C09-FA91-5B32-4027E1552C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8034" y="3033019"/>
            <a:ext cx="548640" cy="548640"/>
          </a:xfrm>
          <a:prstGeom prst="rect">
            <a:avLst/>
          </a:prstGeom>
        </p:spPr>
      </p:pic>
      <p:pic>
        <p:nvPicPr>
          <p:cNvPr id="15" name="Graphic 14" descr="DNA with solid fill">
            <a:extLst>
              <a:ext uri="{FF2B5EF4-FFF2-40B4-BE49-F238E27FC236}">
                <a16:creationId xmlns:a16="http://schemas.microsoft.com/office/drawing/2014/main" id="{D2F19782-5960-64E2-65BF-15265FA9E4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8034" y="4664418"/>
            <a:ext cx="548640" cy="548640"/>
          </a:xfrm>
          <a:prstGeom prst="rect">
            <a:avLst/>
          </a:prstGeom>
        </p:spPr>
      </p:pic>
      <p:pic>
        <p:nvPicPr>
          <p:cNvPr id="17" name="Graphic 16" descr="Test tubes with solid fill">
            <a:extLst>
              <a:ext uri="{FF2B5EF4-FFF2-40B4-BE49-F238E27FC236}">
                <a16:creationId xmlns:a16="http://schemas.microsoft.com/office/drawing/2014/main" id="{CA5257AE-1FCD-4DD4-F009-61AFF8678F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8034" y="5267064"/>
            <a:ext cx="548640" cy="54864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6149968-335A-9EF2-DC0C-B3DC7ABE31E1}"/>
              </a:ext>
            </a:extLst>
          </p:cNvPr>
          <p:cNvSpPr/>
          <p:nvPr/>
        </p:nvSpPr>
        <p:spPr>
          <a:xfrm>
            <a:off x="8908154" y="808447"/>
            <a:ext cx="730102" cy="212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dirty="0">
                <a:latin typeface="+mj-lt"/>
              </a:rPr>
              <a:t>HGNC</a:t>
            </a:r>
            <a:endParaRPr lang="en-US" sz="1600" dirty="0"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C3DE35-17A2-64B0-D1A6-4E418AF17124}"/>
              </a:ext>
            </a:extLst>
          </p:cNvPr>
          <p:cNvSpPr/>
          <p:nvPr/>
        </p:nvSpPr>
        <p:spPr>
          <a:xfrm>
            <a:off x="9726861" y="808447"/>
            <a:ext cx="730102" cy="212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dirty="0">
                <a:latin typeface="+mj-lt"/>
              </a:rPr>
              <a:t>UniProt</a:t>
            </a:r>
            <a:endParaRPr lang="en-US" sz="1600" dirty="0"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23CE1E-4EB8-6BED-1D3E-95304ACEA4C6}"/>
              </a:ext>
            </a:extLst>
          </p:cNvPr>
          <p:cNvSpPr/>
          <p:nvPr/>
        </p:nvSpPr>
        <p:spPr>
          <a:xfrm>
            <a:off x="10545568" y="808447"/>
            <a:ext cx="730102" cy="212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dirty="0">
                <a:latin typeface="+mj-lt"/>
              </a:rPr>
              <a:t>dbSNP</a:t>
            </a:r>
            <a:endParaRPr lang="en-US" sz="1600" dirty="0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C99173-B130-69F6-A7B5-06CF1FFBF963}"/>
              </a:ext>
            </a:extLst>
          </p:cNvPr>
          <p:cNvSpPr/>
          <p:nvPr/>
        </p:nvSpPr>
        <p:spPr>
          <a:xfrm>
            <a:off x="8908154" y="2255620"/>
            <a:ext cx="730102" cy="212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dirty="0">
                <a:latin typeface="+mj-lt"/>
              </a:rPr>
              <a:t>Extract</a:t>
            </a:r>
            <a:endParaRPr lang="en-US" sz="1600" dirty="0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0AA4D7-6CB2-EE97-70DD-63A1B2161C44}"/>
              </a:ext>
            </a:extLst>
          </p:cNvPr>
          <p:cNvSpPr/>
          <p:nvPr/>
        </p:nvSpPr>
        <p:spPr>
          <a:xfrm>
            <a:off x="9726861" y="2255620"/>
            <a:ext cx="730102" cy="212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050" dirty="0">
                <a:latin typeface="+mj-lt"/>
              </a:rPr>
              <a:t>Transform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D8C0BC-BA9E-9252-C610-1D4E76969834}"/>
              </a:ext>
            </a:extLst>
          </p:cNvPr>
          <p:cNvSpPr/>
          <p:nvPr/>
        </p:nvSpPr>
        <p:spPr>
          <a:xfrm>
            <a:off x="10545568" y="2255620"/>
            <a:ext cx="730102" cy="212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dirty="0">
                <a:latin typeface="+mj-lt"/>
              </a:rPr>
              <a:t>Load</a:t>
            </a:r>
            <a:endParaRPr lang="en-US" sz="1600" dirty="0">
              <a:latin typeface="+mj-lt"/>
            </a:endParaRPr>
          </a:p>
        </p:txBody>
      </p:sp>
      <p:pic>
        <p:nvPicPr>
          <p:cNvPr id="25" name="Graphic 24" descr="Folder with solid fill">
            <a:extLst>
              <a:ext uri="{FF2B5EF4-FFF2-40B4-BE49-F238E27FC236}">
                <a16:creationId xmlns:a16="http://schemas.microsoft.com/office/drawing/2014/main" id="{011E98A0-6291-B172-D621-B55BFF879F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98885" y="2995323"/>
            <a:ext cx="548640" cy="548640"/>
          </a:xfrm>
          <a:prstGeom prst="rect">
            <a:avLst/>
          </a:prstGeom>
        </p:spPr>
      </p:pic>
      <p:pic>
        <p:nvPicPr>
          <p:cNvPr id="26" name="Graphic 25" descr="Folder with solid fill">
            <a:extLst>
              <a:ext uri="{FF2B5EF4-FFF2-40B4-BE49-F238E27FC236}">
                <a16:creationId xmlns:a16="http://schemas.microsoft.com/office/drawing/2014/main" id="{EC0FBF51-41AF-AAB1-2870-DC1897D003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21845" y="2995323"/>
            <a:ext cx="548640" cy="548640"/>
          </a:xfrm>
          <a:prstGeom prst="rect">
            <a:avLst/>
          </a:prstGeom>
        </p:spPr>
      </p:pic>
      <p:pic>
        <p:nvPicPr>
          <p:cNvPr id="28" name="Graphic 27" descr="Database with solid fill">
            <a:extLst>
              <a:ext uri="{FF2B5EF4-FFF2-40B4-BE49-F238E27FC236}">
                <a16:creationId xmlns:a16="http://schemas.microsoft.com/office/drawing/2014/main" id="{66C61984-4C34-0621-F61B-713D77CFE18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644805" y="2995323"/>
            <a:ext cx="548640" cy="548640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72A82B5-432D-29F4-E169-74E2E6BA4CE6}"/>
              </a:ext>
            </a:extLst>
          </p:cNvPr>
          <p:cNvCxnSpPr>
            <a:stCxn id="22" idx="2"/>
            <a:endCxn id="25" idx="0"/>
          </p:cNvCxnSpPr>
          <p:nvPr/>
        </p:nvCxnSpPr>
        <p:spPr>
          <a:xfrm>
            <a:off x="9273205" y="2468271"/>
            <a:ext cx="0" cy="527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55F8574-FE9B-0A2F-25C5-BC0DE3E35AE5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>
          <a:xfrm>
            <a:off x="10091912" y="2468271"/>
            <a:ext cx="4253" cy="527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1002CB2-1DF9-4DB3-56C2-78A80252A8A2}"/>
              </a:ext>
            </a:extLst>
          </p:cNvPr>
          <p:cNvCxnSpPr>
            <a:cxnSpLocks/>
            <a:stCxn id="24" idx="2"/>
            <a:endCxn id="28" idx="0"/>
          </p:cNvCxnSpPr>
          <p:nvPr/>
        </p:nvCxnSpPr>
        <p:spPr>
          <a:xfrm>
            <a:off x="10910619" y="2468271"/>
            <a:ext cx="8506" cy="527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8E2E44C-EC3C-2011-2FB4-D611A3428A1A}"/>
              </a:ext>
            </a:extLst>
          </p:cNvPr>
          <p:cNvSpPr txBox="1"/>
          <p:nvPr/>
        </p:nvSpPr>
        <p:spPr>
          <a:xfrm>
            <a:off x="9126007" y="3483829"/>
            <a:ext cx="33823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/>
              <a:t>Raw</a:t>
            </a:r>
          </a:p>
          <a:p>
            <a:pPr algn="ctr"/>
            <a:r>
              <a:rPr lang="en-US" sz="1200" dirty="0"/>
              <a:t>(files)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335DEB-B3DD-16A1-151E-5594B1FDAB30}"/>
              </a:ext>
            </a:extLst>
          </p:cNvPr>
          <p:cNvSpPr txBox="1"/>
          <p:nvPr/>
        </p:nvSpPr>
        <p:spPr>
          <a:xfrm>
            <a:off x="9800846" y="3483829"/>
            <a:ext cx="62228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/>
              <a:t>Processed</a:t>
            </a:r>
          </a:p>
          <a:p>
            <a:pPr algn="ctr"/>
            <a:r>
              <a:rPr lang="en-US" sz="1200" dirty="0"/>
              <a:t>(Parquet)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44650B-3EDB-6A34-ED59-8AC0D42E01E2}"/>
              </a:ext>
            </a:extLst>
          </p:cNvPr>
          <p:cNvSpPr txBox="1"/>
          <p:nvPr/>
        </p:nvSpPr>
        <p:spPr>
          <a:xfrm>
            <a:off x="10687697" y="3483829"/>
            <a:ext cx="53540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/>
              <a:t>Curated</a:t>
            </a:r>
          </a:p>
          <a:p>
            <a:pPr algn="ctr"/>
            <a:r>
              <a:rPr lang="en-US" sz="1200" dirty="0"/>
              <a:t>(SQL DB</a:t>
            </a:r>
            <a:r>
              <a:rPr lang="en-US" sz="1100" dirty="0">
                <a:solidFill>
                  <a:schemeClr val="accent1"/>
                </a:solidFill>
                <a:latin typeface="+mj-lt"/>
              </a:rPr>
              <a:t>)</a:t>
            </a:r>
          </a:p>
        </p:txBody>
      </p:sp>
      <p:pic>
        <p:nvPicPr>
          <p:cNvPr id="44" name="Graphic 43" descr="Magnifying glass with solid fill">
            <a:extLst>
              <a:ext uri="{FF2B5EF4-FFF2-40B4-BE49-F238E27FC236}">
                <a16:creationId xmlns:a16="http://schemas.microsoft.com/office/drawing/2014/main" id="{303109DC-1265-D190-5C94-FE9D5ACF383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89499" y="5273857"/>
            <a:ext cx="548640" cy="548640"/>
          </a:xfrm>
          <a:prstGeom prst="rect">
            <a:avLst/>
          </a:prstGeom>
        </p:spPr>
      </p:pic>
      <p:pic>
        <p:nvPicPr>
          <p:cNvPr id="46" name="Graphic 45" descr="Document with solid fill">
            <a:extLst>
              <a:ext uri="{FF2B5EF4-FFF2-40B4-BE49-F238E27FC236}">
                <a16:creationId xmlns:a16="http://schemas.microsoft.com/office/drawing/2014/main" id="{776EA186-E2D5-EBEF-DD40-00FBD09B1F6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825326" y="5273857"/>
            <a:ext cx="548640" cy="54864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4AF5F12C-F44A-B897-F767-A68EAB9D3F3B}"/>
              </a:ext>
            </a:extLst>
          </p:cNvPr>
          <p:cNvSpPr txBox="1"/>
          <p:nvPr/>
        </p:nvSpPr>
        <p:spPr>
          <a:xfrm>
            <a:off x="10347604" y="5822497"/>
            <a:ext cx="1550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Report Interface</a:t>
            </a:r>
          </a:p>
          <a:p>
            <a:pPr algn="ctr"/>
            <a:r>
              <a:rPr lang="en-US" sz="1200" dirty="0"/>
              <a:t>(ready-to-use reports)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2F0CFA60-9FB2-E177-3057-5CD36EAE0DAE}"/>
              </a:ext>
            </a:extLst>
          </p:cNvPr>
          <p:cNvSpPr/>
          <p:nvPr/>
        </p:nvSpPr>
        <p:spPr>
          <a:xfrm>
            <a:off x="9597655" y="4307933"/>
            <a:ext cx="1210984" cy="5741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dirty="0"/>
              <a:t>Biofilter3R Core</a:t>
            </a:r>
          </a:p>
          <a:p>
            <a:pPr algn="ctr"/>
            <a:r>
              <a:rPr lang="en-US" sz="1200" dirty="0"/>
              <a:t>(Entity-Centric)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19E323D-57C4-ADE9-9644-2AFDA2554CF8}"/>
              </a:ext>
            </a:extLst>
          </p:cNvPr>
          <p:cNvSpPr txBox="1"/>
          <p:nvPr/>
        </p:nvSpPr>
        <p:spPr>
          <a:xfrm>
            <a:off x="8435727" y="5822497"/>
            <a:ext cx="1656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 Query Interface</a:t>
            </a:r>
          </a:p>
          <a:p>
            <a:pPr algn="ctr"/>
            <a:r>
              <a:rPr lang="en-US" sz="1200" dirty="0"/>
              <a:t>(advanced exploration)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EF504414-1FE1-895E-0D1E-D6F78B3FD684}"/>
              </a:ext>
            </a:extLst>
          </p:cNvPr>
          <p:cNvCxnSpPr>
            <a:stCxn id="51" idx="1"/>
            <a:endCxn id="44" idx="0"/>
          </p:cNvCxnSpPr>
          <p:nvPr/>
        </p:nvCxnSpPr>
        <p:spPr>
          <a:xfrm rot="10800000" flipV="1">
            <a:off x="9263819" y="4594985"/>
            <a:ext cx="333836" cy="6788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5952528B-4853-6ADE-44AE-C973D76CE54F}"/>
              </a:ext>
            </a:extLst>
          </p:cNvPr>
          <p:cNvCxnSpPr>
            <a:cxnSpLocks/>
            <a:stCxn id="51" idx="3"/>
            <a:endCxn id="46" idx="0"/>
          </p:cNvCxnSpPr>
          <p:nvPr/>
        </p:nvCxnSpPr>
        <p:spPr>
          <a:xfrm>
            <a:off x="10808639" y="4594985"/>
            <a:ext cx="291007" cy="6788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8DF3FA6B-B9A0-A970-1347-5CC078766554}"/>
              </a:ext>
            </a:extLst>
          </p:cNvPr>
          <p:cNvCxnSpPr>
            <a:cxnSpLocks/>
            <a:stCxn id="42" idx="2"/>
            <a:endCxn id="51" idx="0"/>
          </p:cNvCxnSpPr>
          <p:nvPr/>
        </p:nvCxnSpPr>
        <p:spPr>
          <a:xfrm rot="5400000">
            <a:off x="10351887" y="3704421"/>
            <a:ext cx="454772" cy="7522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Box with solid fill">
            <a:extLst>
              <a:ext uri="{FF2B5EF4-FFF2-40B4-BE49-F238E27FC236}">
                <a16:creationId xmlns:a16="http://schemas.microsoft.com/office/drawing/2014/main" id="{8273EBE0-790E-040E-C672-07C386076A9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067465" y="1274951"/>
            <a:ext cx="411480" cy="41148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42B8E72C-7739-01F0-AE72-346ED6A9EB31}"/>
              </a:ext>
            </a:extLst>
          </p:cNvPr>
          <p:cNvSpPr txBox="1"/>
          <p:nvPr/>
        </p:nvSpPr>
        <p:spPr>
          <a:xfrm>
            <a:off x="8779867" y="1950921"/>
            <a:ext cx="10305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ETL Pipeline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238F15B-71C6-E4ED-F88A-7A348130A9F3}"/>
              </a:ext>
            </a:extLst>
          </p:cNvPr>
          <p:cNvSpPr txBox="1"/>
          <p:nvPr/>
        </p:nvSpPr>
        <p:spPr>
          <a:xfrm>
            <a:off x="8771389" y="532483"/>
            <a:ext cx="10474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 Data Sources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E73A437-0F2F-961C-B207-C7487F4ABC8B}"/>
              </a:ext>
            </a:extLst>
          </p:cNvPr>
          <p:cNvGrpSpPr/>
          <p:nvPr/>
        </p:nvGrpSpPr>
        <p:grpSpPr>
          <a:xfrm>
            <a:off x="9663686" y="1958726"/>
            <a:ext cx="1541421" cy="274320"/>
            <a:chOff x="9663686" y="1958726"/>
            <a:chExt cx="1541421" cy="274320"/>
          </a:xfrm>
        </p:grpSpPr>
        <p:pic>
          <p:nvPicPr>
            <p:cNvPr id="71" name="Graphic 70" descr="Chevron arrows with solid fill">
              <a:extLst>
                <a:ext uri="{FF2B5EF4-FFF2-40B4-BE49-F238E27FC236}">
                  <a16:creationId xmlns:a16="http://schemas.microsoft.com/office/drawing/2014/main" id="{1A0FD179-E5B4-AFF4-7C35-33EC0AAD3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663686" y="1958726"/>
              <a:ext cx="274320" cy="274320"/>
            </a:xfrm>
            <a:prstGeom prst="rect">
              <a:avLst/>
            </a:prstGeom>
          </p:spPr>
        </p:pic>
        <p:pic>
          <p:nvPicPr>
            <p:cNvPr id="73" name="Graphic 72" descr="Chevron arrows with solid fill">
              <a:extLst>
                <a:ext uri="{FF2B5EF4-FFF2-40B4-BE49-F238E27FC236}">
                  <a16:creationId xmlns:a16="http://schemas.microsoft.com/office/drawing/2014/main" id="{9F5A2757-55DB-DE98-7178-53B50967B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875285" y="1958726"/>
              <a:ext cx="274320" cy="274320"/>
            </a:xfrm>
            <a:prstGeom prst="rect">
              <a:avLst/>
            </a:prstGeom>
          </p:spPr>
        </p:pic>
        <p:pic>
          <p:nvPicPr>
            <p:cNvPr id="74" name="Graphic 73" descr="Chevron arrows with solid fill">
              <a:extLst>
                <a:ext uri="{FF2B5EF4-FFF2-40B4-BE49-F238E27FC236}">
                  <a16:creationId xmlns:a16="http://schemas.microsoft.com/office/drawing/2014/main" id="{E6D0E33D-CFA4-BDB0-1AC0-FE1DC7BC0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086053" y="1958726"/>
              <a:ext cx="274320" cy="274320"/>
            </a:xfrm>
            <a:prstGeom prst="rect">
              <a:avLst/>
            </a:prstGeom>
          </p:spPr>
        </p:pic>
        <p:pic>
          <p:nvPicPr>
            <p:cNvPr id="75" name="Graphic 74" descr="Chevron arrows with solid fill">
              <a:extLst>
                <a:ext uri="{FF2B5EF4-FFF2-40B4-BE49-F238E27FC236}">
                  <a16:creationId xmlns:a16="http://schemas.microsoft.com/office/drawing/2014/main" id="{D0F7956A-E8A6-E290-8E12-28058C330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297652" y="1958726"/>
              <a:ext cx="274320" cy="274320"/>
            </a:xfrm>
            <a:prstGeom prst="rect">
              <a:avLst/>
            </a:prstGeom>
          </p:spPr>
        </p:pic>
        <p:pic>
          <p:nvPicPr>
            <p:cNvPr id="76" name="Graphic 75" descr="Chevron arrows with solid fill">
              <a:extLst>
                <a:ext uri="{FF2B5EF4-FFF2-40B4-BE49-F238E27FC236}">
                  <a16:creationId xmlns:a16="http://schemas.microsoft.com/office/drawing/2014/main" id="{2BE5C8D0-F021-A199-3CFD-F27F0DF07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508420" y="1958726"/>
              <a:ext cx="274320" cy="274320"/>
            </a:xfrm>
            <a:prstGeom prst="rect">
              <a:avLst/>
            </a:prstGeom>
          </p:spPr>
        </p:pic>
        <p:pic>
          <p:nvPicPr>
            <p:cNvPr id="77" name="Graphic 76" descr="Chevron arrows with solid fill">
              <a:extLst>
                <a:ext uri="{FF2B5EF4-FFF2-40B4-BE49-F238E27FC236}">
                  <a16:creationId xmlns:a16="http://schemas.microsoft.com/office/drawing/2014/main" id="{28F0E3A6-E662-2A0A-A2A8-C4A1412EB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720019" y="1958726"/>
              <a:ext cx="274320" cy="274320"/>
            </a:xfrm>
            <a:prstGeom prst="rect">
              <a:avLst/>
            </a:prstGeom>
          </p:spPr>
        </p:pic>
        <p:pic>
          <p:nvPicPr>
            <p:cNvPr id="78" name="Graphic 77" descr="Chevron arrows with solid fill">
              <a:extLst>
                <a:ext uri="{FF2B5EF4-FFF2-40B4-BE49-F238E27FC236}">
                  <a16:creationId xmlns:a16="http://schemas.microsoft.com/office/drawing/2014/main" id="{DA29C80C-ADAD-2C6B-C933-71D65078C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930787" y="1958726"/>
              <a:ext cx="274320" cy="274320"/>
            </a:xfrm>
            <a:prstGeom prst="rect">
              <a:avLst/>
            </a:prstGeom>
          </p:spPr>
        </p:pic>
      </p:grp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898A12B-E461-E881-7D5A-22D6B8A191AC}"/>
              </a:ext>
            </a:extLst>
          </p:cNvPr>
          <p:cNvCxnSpPr>
            <a:cxnSpLocks/>
            <a:stCxn id="19" idx="2"/>
            <a:endCxn id="62" idx="0"/>
          </p:cNvCxnSpPr>
          <p:nvPr/>
        </p:nvCxnSpPr>
        <p:spPr>
          <a:xfrm>
            <a:off x="9273205" y="1021098"/>
            <a:ext cx="0" cy="253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4A1631B-5410-FADD-93E3-3C680E48FE47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9273205" y="1686431"/>
            <a:ext cx="0" cy="239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Graphic 93" descr="Box with solid fill">
            <a:extLst>
              <a:ext uri="{FF2B5EF4-FFF2-40B4-BE49-F238E27FC236}">
                <a16:creationId xmlns:a16="http://schemas.microsoft.com/office/drawing/2014/main" id="{ED0DF6F2-C35C-A38E-7413-EE8ABBD7158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909386" y="1274951"/>
            <a:ext cx="411480" cy="411480"/>
          </a:xfrm>
          <a:prstGeom prst="rect">
            <a:avLst/>
          </a:prstGeom>
        </p:spPr>
      </p:pic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1E5669B-5D66-48B5-398F-D3A3611A2AF5}"/>
              </a:ext>
            </a:extLst>
          </p:cNvPr>
          <p:cNvCxnSpPr>
            <a:cxnSpLocks/>
            <a:endCxn id="94" idx="0"/>
          </p:cNvCxnSpPr>
          <p:nvPr/>
        </p:nvCxnSpPr>
        <p:spPr>
          <a:xfrm>
            <a:off x="10115126" y="1021098"/>
            <a:ext cx="0" cy="253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7A5AF54-6374-AB05-1014-3A1C233F4B7A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10115126" y="1686431"/>
            <a:ext cx="0" cy="239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Graphic 96" descr="Box with solid fill">
            <a:extLst>
              <a:ext uri="{FF2B5EF4-FFF2-40B4-BE49-F238E27FC236}">
                <a16:creationId xmlns:a16="http://schemas.microsoft.com/office/drawing/2014/main" id="{8CB06856-0F32-9EBF-9DAC-8510D6F827D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709131" y="1274951"/>
            <a:ext cx="411480" cy="411480"/>
          </a:xfrm>
          <a:prstGeom prst="rect">
            <a:avLst/>
          </a:prstGeom>
        </p:spPr>
      </p:pic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4B4ACA6-7E98-AA9D-05FF-217EFBF9ECE4}"/>
              </a:ext>
            </a:extLst>
          </p:cNvPr>
          <p:cNvCxnSpPr>
            <a:cxnSpLocks/>
            <a:endCxn id="97" idx="0"/>
          </p:cNvCxnSpPr>
          <p:nvPr/>
        </p:nvCxnSpPr>
        <p:spPr>
          <a:xfrm>
            <a:off x="10914871" y="1021098"/>
            <a:ext cx="0" cy="253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F8CE318-45E3-6080-CF1A-E3B3E154A114}"/>
              </a:ext>
            </a:extLst>
          </p:cNvPr>
          <p:cNvCxnSpPr>
            <a:cxnSpLocks/>
            <a:stCxn id="97" idx="2"/>
          </p:cNvCxnSpPr>
          <p:nvPr/>
        </p:nvCxnSpPr>
        <p:spPr>
          <a:xfrm>
            <a:off x="10914871" y="1686431"/>
            <a:ext cx="0" cy="239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E4FA2243-5896-EEA7-218A-6AE2B603916B}"/>
              </a:ext>
            </a:extLst>
          </p:cNvPr>
          <p:cNvSpPr txBox="1"/>
          <p:nvPr/>
        </p:nvSpPr>
        <p:spPr>
          <a:xfrm>
            <a:off x="11245642" y="714328"/>
            <a:ext cx="3484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3563727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8B97E-E19C-ED8A-277C-78D46823E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EB5B-95B6-B875-0238-70189C2DE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4488656" cy="561600"/>
          </a:xfrm>
        </p:spPr>
        <p:txBody>
          <a:bodyPr/>
          <a:lstStyle/>
          <a:p>
            <a:r>
              <a:rPr lang="en-US" sz="2800" b="1" dirty="0">
                <a:solidFill>
                  <a:srgbClr val="011E5B"/>
                </a:solidFill>
              </a:rPr>
              <a:t>System Architecture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9BDA8-BC5F-AEAD-19BA-59F3FBDDE1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138" y="6439469"/>
            <a:ext cx="1161270" cy="180000"/>
          </a:xfrm>
        </p:spPr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77A3B0-031D-FAD5-F11B-AF7E126716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25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73D35E-0FAD-A5F6-CFB4-BAFA4B3169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0000" y="1279218"/>
            <a:ext cx="4069410" cy="347020"/>
          </a:xfrm>
        </p:spPr>
        <p:txBody>
          <a:bodyPr/>
          <a:lstStyle/>
          <a:p>
            <a:r>
              <a:rPr lang="en-US" dirty="0"/>
              <a:t>Cloud Deployment</a:t>
            </a:r>
          </a:p>
        </p:txBody>
      </p:sp>
      <p:pic>
        <p:nvPicPr>
          <p:cNvPr id="5122" name="Picture 2" descr="Solutions to common issues with Docker Hub | Packagecloud Blog">
            <a:extLst>
              <a:ext uri="{FF2B5EF4-FFF2-40B4-BE49-F238E27FC236}">
                <a16:creationId xmlns:a16="http://schemas.microsoft.com/office/drawing/2014/main" id="{D74679EB-E1D0-F7F0-2C3D-DB43F602F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892" y="912633"/>
            <a:ext cx="2536308" cy="142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1ADEC56-7048-BF1F-A89E-AB64EAFFB29C}"/>
              </a:ext>
            </a:extLst>
          </p:cNvPr>
          <p:cNvSpPr txBox="1"/>
          <p:nvPr/>
        </p:nvSpPr>
        <p:spPr>
          <a:xfrm>
            <a:off x="9700445" y="4037211"/>
            <a:ext cx="2306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Amazon RDS Database</a:t>
            </a:r>
          </a:p>
          <a:p>
            <a:pPr algn="ctr"/>
            <a:r>
              <a:rPr lang="en-US" sz="1800" dirty="0"/>
              <a:t>(PostgreSQL)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318B2FA-9FC5-7CC6-818E-722AF7E4A0CF}"/>
              </a:ext>
            </a:extLst>
          </p:cNvPr>
          <p:cNvSpPr txBox="1"/>
          <p:nvPr/>
        </p:nvSpPr>
        <p:spPr>
          <a:xfrm>
            <a:off x="5807169" y="4038814"/>
            <a:ext cx="22541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Google Cloud Computer Engine</a:t>
            </a:r>
          </a:p>
          <a:p>
            <a:pPr algn="ctr"/>
            <a:r>
              <a:rPr lang="en-US" sz="1800" dirty="0"/>
              <a:t>(Biofilter Container)</a:t>
            </a:r>
          </a:p>
        </p:txBody>
      </p:sp>
      <p:pic>
        <p:nvPicPr>
          <p:cNvPr id="5124" name="Picture 4" descr="Project Jupyter - Wikipedia">
            <a:extLst>
              <a:ext uri="{FF2B5EF4-FFF2-40B4-BE49-F238E27FC236}">
                <a16:creationId xmlns:a16="http://schemas.microsoft.com/office/drawing/2014/main" id="{F9627E70-0059-5588-2B42-D84A67409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941" y="5295098"/>
            <a:ext cx="708850" cy="821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Google Cloud - Apps on Google Play">
            <a:extLst>
              <a:ext uri="{FF2B5EF4-FFF2-40B4-BE49-F238E27FC236}">
                <a16:creationId xmlns:a16="http://schemas.microsoft.com/office/drawing/2014/main" id="{6C12B03D-9156-FFB3-D66A-DFCF02444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923" y="2465732"/>
            <a:ext cx="1805172" cy="180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How Kentik Helps Assess AWS Visibility | Kentik Blog">
            <a:extLst>
              <a:ext uri="{FF2B5EF4-FFF2-40B4-BE49-F238E27FC236}">
                <a16:creationId xmlns:a16="http://schemas.microsoft.com/office/drawing/2014/main" id="{C4C0E1FE-074E-B055-3495-6B6E66C7D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6080" y="2477686"/>
            <a:ext cx="2475526" cy="1604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6ADBDF8-0D4E-DFC4-C1B3-A99897C3A43F}"/>
              </a:ext>
            </a:extLst>
          </p:cNvPr>
          <p:cNvSpPr txBox="1"/>
          <p:nvPr/>
        </p:nvSpPr>
        <p:spPr>
          <a:xfrm>
            <a:off x="8028706" y="2703999"/>
            <a:ext cx="1550752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db_uri = "postgresql://user:password@biofilter-db.c9xyzabc123.us-east-1.rds.amazonaws.com:5432/biofilter"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7CFF5F5-E438-BF28-8E03-7F7AE1B42A42}"/>
              </a:ext>
            </a:extLst>
          </p:cNvPr>
          <p:cNvCxnSpPr>
            <a:cxnSpLocks/>
          </p:cNvCxnSpPr>
          <p:nvPr/>
        </p:nvCxnSpPr>
        <p:spPr>
          <a:xfrm>
            <a:off x="8011171" y="3475375"/>
            <a:ext cx="1604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B118CBEF-D92A-F81A-764E-E6A3E5344394}"/>
              </a:ext>
            </a:extLst>
          </p:cNvPr>
          <p:cNvCxnSpPr>
            <a:cxnSpLocks/>
            <a:stCxn id="64" idx="4"/>
            <a:endCxn id="5126" idx="0"/>
          </p:cNvCxnSpPr>
          <p:nvPr/>
        </p:nvCxnSpPr>
        <p:spPr>
          <a:xfrm rot="16200000" flipH="1">
            <a:off x="6583977" y="2160199"/>
            <a:ext cx="611063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8EDD0082-7760-D4ED-6D67-E3EEC8096498}"/>
              </a:ext>
            </a:extLst>
          </p:cNvPr>
          <p:cNvSpPr/>
          <p:nvPr/>
        </p:nvSpPr>
        <p:spPr>
          <a:xfrm rot="10800000" flipV="1">
            <a:off x="6568019" y="1808950"/>
            <a:ext cx="642979" cy="4571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F33FFBA6-2532-8E6C-9996-AA4040DB7D98}"/>
              </a:ext>
            </a:extLst>
          </p:cNvPr>
          <p:cNvCxnSpPr>
            <a:cxnSpLocks/>
            <a:stCxn id="49" idx="2"/>
            <a:endCxn id="5124" idx="0"/>
          </p:cNvCxnSpPr>
          <p:nvPr/>
        </p:nvCxnSpPr>
        <p:spPr>
          <a:xfrm rot="16200000" flipH="1">
            <a:off x="7114816" y="4781548"/>
            <a:ext cx="332954" cy="6941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30" name="Picture 10" descr="Just-in-time access to AWS RDS - Apono">
            <a:extLst>
              <a:ext uri="{FF2B5EF4-FFF2-40B4-BE49-F238E27FC236}">
                <a16:creationId xmlns:a16="http://schemas.microsoft.com/office/drawing/2014/main" id="{2AAA52F7-C374-BDBA-7189-F3E6F87B8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982" y="3201300"/>
            <a:ext cx="685911" cy="685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Terra | Science at Scale">
            <a:extLst>
              <a:ext uri="{FF2B5EF4-FFF2-40B4-BE49-F238E27FC236}">
                <a16:creationId xmlns:a16="http://schemas.microsoft.com/office/drawing/2014/main" id="{1E728E67-A142-2B63-0571-828C568FE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633" y="3279757"/>
            <a:ext cx="506157" cy="560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Process Running Icons - Free SVG &amp; PNG Process Running Images - Noun Project">
            <a:extLst>
              <a:ext uri="{FF2B5EF4-FFF2-40B4-BE49-F238E27FC236}">
                <a16:creationId xmlns:a16="http://schemas.microsoft.com/office/drawing/2014/main" id="{9E0406BA-A141-90CF-3CA0-D5ECB0E73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995" y="5296208"/>
            <a:ext cx="772612" cy="772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5DB72D94-1D60-1AF8-5887-7E17A81B7075}"/>
              </a:ext>
            </a:extLst>
          </p:cNvPr>
          <p:cNvCxnSpPr>
            <a:cxnSpLocks/>
            <a:stCxn id="49" idx="2"/>
            <a:endCxn id="5134" idx="0"/>
          </p:cNvCxnSpPr>
          <p:nvPr/>
        </p:nvCxnSpPr>
        <p:spPr>
          <a:xfrm rot="5400000">
            <a:off x="6389729" y="4751716"/>
            <a:ext cx="334064" cy="7549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6517807F-399B-AE24-7160-3748AE924F68}"/>
              </a:ext>
            </a:extLst>
          </p:cNvPr>
          <p:cNvSpPr txBox="1"/>
          <p:nvPr/>
        </p:nvSpPr>
        <p:spPr>
          <a:xfrm>
            <a:off x="5824876" y="6116953"/>
            <a:ext cx="70885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Batch Mode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8952490-6864-AEE9-7D52-B34CDBFC182F}"/>
              </a:ext>
            </a:extLst>
          </p:cNvPr>
          <p:cNvSpPr txBox="1"/>
          <p:nvPr/>
        </p:nvSpPr>
        <p:spPr>
          <a:xfrm>
            <a:off x="7128709" y="6120854"/>
            <a:ext cx="999313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/>
              <a:t>Interacting</a:t>
            </a:r>
          </a:p>
          <a:p>
            <a:pPr algn="ctr"/>
            <a:r>
              <a:rPr lang="en-US" dirty="0"/>
              <a:t>Mode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D116DA63-3348-5868-95CB-466FA6E79ED6}"/>
              </a:ext>
            </a:extLst>
          </p:cNvPr>
          <p:cNvCxnSpPr>
            <a:cxnSpLocks/>
          </p:cNvCxnSpPr>
          <p:nvPr/>
        </p:nvCxnSpPr>
        <p:spPr>
          <a:xfrm flipH="1">
            <a:off x="8011171" y="3621380"/>
            <a:ext cx="156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09272E82-1A7B-1F43-AEF3-AF0C15570C20}"/>
              </a:ext>
            </a:extLst>
          </p:cNvPr>
          <p:cNvSpPr txBox="1"/>
          <p:nvPr/>
        </p:nvSpPr>
        <p:spPr>
          <a:xfrm>
            <a:off x="730289" y="2421679"/>
            <a:ext cx="5040258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Biofilter3R flexibility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Runs inside a </a:t>
            </a:r>
            <a:r>
              <a:rPr lang="en-US" sz="1600" b="1" dirty="0"/>
              <a:t>container</a:t>
            </a:r>
            <a:r>
              <a:rPr lang="en-US" sz="1600" dirty="0"/>
              <a:t> (Docker/Singularity)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Can connect to </a:t>
            </a:r>
            <a:r>
              <a:rPr lang="en-US" sz="1600" b="1" dirty="0"/>
              <a:t>any database endpoint</a:t>
            </a:r>
            <a:r>
              <a:rPr lang="en-US" sz="1600" dirty="0"/>
              <a:t> (PostgreSQL, MariaDB, SQLite)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Cloud-ready</a:t>
            </a:r>
            <a:r>
              <a:rPr lang="en-US" sz="1600" dirty="0"/>
              <a:t>: DB hosted on services like </a:t>
            </a:r>
            <a:r>
              <a:rPr lang="en-US" sz="1600" b="1" dirty="0"/>
              <a:t>Amazon RDS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HPC-ready</a:t>
            </a:r>
            <a:r>
              <a:rPr lang="en-US" sz="1600" dirty="0"/>
              <a:t>: container can run on Anvil/Terra nodes</a:t>
            </a:r>
          </a:p>
          <a:p>
            <a:pPr>
              <a:spcAft>
                <a:spcPts val="600"/>
              </a:spcAft>
              <a:buNone/>
            </a:pPr>
            <a:endParaRPr lang="en-US" sz="600" dirty="0"/>
          </a:p>
          <a:p>
            <a:pPr>
              <a:spcAft>
                <a:spcPts val="600"/>
              </a:spcAft>
              <a:buNone/>
            </a:pPr>
            <a:endParaRPr lang="en-US" sz="600" dirty="0"/>
          </a:p>
          <a:p>
            <a:pPr>
              <a:spcAft>
                <a:spcPts val="600"/>
              </a:spcAft>
              <a:buNone/>
            </a:pPr>
            <a:r>
              <a:rPr lang="en-US" dirty="0"/>
              <a:t>💡 </a:t>
            </a:r>
            <a:r>
              <a:rPr lang="en-US" i="1" dirty="0"/>
              <a:t>Decoupled design = run anywhere, connect anywhere.</a:t>
            </a:r>
            <a:endParaRPr lang="en-US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5FB76ED-D7E9-E67E-91F3-4D1D6510D19A}"/>
              </a:ext>
            </a:extLst>
          </p:cNvPr>
          <p:cNvSpPr txBox="1"/>
          <p:nvPr/>
        </p:nvSpPr>
        <p:spPr>
          <a:xfrm>
            <a:off x="6066719" y="883909"/>
            <a:ext cx="212397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b="1" dirty="0">
                <a:solidFill>
                  <a:schemeClr val="tx2"/>
                </a:solidFill>
              </a:rPr>
              <a:t>Deployment Template</a:t>
            </a:r>
          </a:p>
        </p:txBody>
      </p:sp>
    </p:spTree>
    <p:extLst>
      <p:ext uri="{BB962C8B-B14F-4D97-AF65-F5344CB8AC3E}">
        <p14:creationId xmlns:p14="http://schemas.microsoft.com/office/powerpoint/2010/main" val="6774088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D20A5-03BB-15B7-D69D-B2A260A48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AF929-CA11-CDAA-A60B-1CC0C1F64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Strategic Focus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BADD5-432F-9DC5-B113-6D5E74703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860737-0BE2-5F58-B893-A56492AC2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26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B42738-37F7-18D8-AF4B-56CEEE33FA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i="1" dirty="0"/>
              <a:t>Building the foundation today ensures consistent tomorrow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3E73B51-CD06-102F-5C8F-922E4B084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890078"/>
              </p:ext>
            </p:extLst>
          </p:nvPr>
        </p:nvGraphicFramePr>
        <p:xfrm>
          <a:off x="979661" y="1995115"/>
          <a:ext cx="10750550" cy="3209931"/>
        </p:xfrm>
        <a:graphic>
          <a:graphicData uri="http://schemas.openxmlformats.org/drawingml/2006/table">
            <a:tbl>
              <a:tblPr/>
              <a:tblGrid>
                <a:gridCol w="5375275">
                  <a:extLst>
                    <a:ext uri="{9D8B030D-6E8A-4147-A177-3AD203B41FA5}">
                      <a16:colId xmlns:a16="http://schemas.microsoft.com/office/drawing/2014/main" val="1658501010"/>
                    </a:ext>
                  </a:extLst>
                </a:gridCol>
                <a:gridCol w="5375275">
                  <a:extLst>
                    <a:ext uri="{9D8B030D-6E8A-4147-A177-3AD203B41FA5}">
                      <a16:colId xmlns:a16="http://schemas.microsoft.com/office/drawing/2014/main" val="1307475010"/>
                    </a:ext>
                  </a:extLst>
                </a:gridCol>
              </a:tblGrid>
              <a:tr h="508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Today: Foundation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Tomorrow: Applications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778480"/>
                  </a:ext>
                </a:extLst>
              </a:tr>
              <a:tr h="469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🗄️ Reliable &amp; expandable </a:t>
                      </a:r>
                      <a:r>
                        <a:rPr lang="en-US" b="1" dirty="0"/>
                        <a:t>database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🧬 </a:t>
                      </a:r>
                      <a:r>
                        <a:rPr lang="en-US" b="1"/>
                        <a:t>Annotation</a:t>
                      </a:r>
                      <a:r>
                        <a:rPr lang="en-US"/>
                        <a:t> – enriched biological 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79089"/>
                  </a:ext>
                </a:extLst>
              </a:tr>
              <a:tr h="469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🔍 Efficient </a:t>
                      </a:r>
                      <a:r>
                        <a:rPr lang="en-US" b="1" dirty="0"/>
                        <a:t>query strategies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🔎 </a:t>
                      </a:r>
                      <a:r>
                        <a:rPr lang="en-US" b="1" dirty="0"/>
                        <a:t>Filtering</a:t>
                      </a:r>
                      <a:r>
                        <a:rPr lang="en-US" dirty="0"/>
                        <a:t> – targeted variant/gene selection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69091"/>
                  </a:ext>
                </a:extLst>
              </a:tr>
              <a:tr h="939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⚙️ Research on </a:t>
                      </a:r>
                      <a:r>
                        <a:rPr lang="en-US" b="1" dirty="0"/>
                        <a:t>best practices</a:t>
                      </a:r>
                      <a:r>
                        <a:rPr lang="en-US" dirty="0"/>
                        <a:t> for ingestion, transformation,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📊 </a:t>
                      </a:r>
                      <a:r>
                        <a:rPr lang="en-US" b="1" dirty="0"/>
                        <a:t>Modeling</a:t>
                      </a:r>
                      <a:r>
                        <a:rPr lang="en-US" dirty="0"/>
                        <a:t> – omics interactions powered by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EntityRelationship</a:t>
                      </a:r>
                      <a:r>
                        <a:rPr lang="en-US" dirty="0"/>
                        <a:t>, enabling discovery of connections from simple input lists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642461"/>
                  </a:ext>
                </a:extLst>
              </a:tr>
              <a:tr h="821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📈 Improved </a:t>
                      </a:r>
                      <a:r>
                        <a:rPr lang="en-US" b="1" dirty="0"/>
                        <a:t>granularity</a:t>
                      </a:r>
                      <a:r>
                        <a:rPr lang="en-US" dirty="0"/>
                        <a:t> (e.g., canonical vs isoform proteins, multi-assembly support)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🌐 System ready for </a:t>
                      </a:r>
                      <a:r>
                        <a:rPr lang="en-US" b="1" dirty="0"/>
                        <a:t>scalable analyses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66224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168311E4-0178-00B1-889A-AE5141424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893" y="5430114"/>
            <a:ext cx="1096479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💡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By strengthening the foundation today, we ensure Biofilter3R can grow into a powerful platform for Annotation, Filtering, and Modeling.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CD77CA-1E86-5302-73E4-987839D51DBD}"/>
              </a:ext>
            </a:extLst>
          </p:cNvPr>
          <p:cNvCxnSpPr/>
          <p:nvPr/>
        </p:nvCxnSpPr>
        <p:spPr>
          <a:xfrm>
            <a:off x="4376615" y="2743200"/>
            <a:ext cx="1930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5834B3-B75B-F783-CE07-F7264A606E55}"/>
              </a:ext>
            </a:extLst>
          </p:cNvPr>
          <p:cNvCxnSpPr>
            <a:cxnSpLocks/>
          </p:cNvCxnSpPr>
          <p:nvPr/>
        </p:nvCxnSpPr>
        <p:spPr>
          <a:xfrm>
            <a:off x="3747477" y="3216030"/>
            <a:ext cx="25595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2E06E5-C63B-F8A6-4379-557709CAAEFC}"/>
              </a:ext>
            </a:extLst>
          </p:cNvPr>
          <p:cNvCxnSpPr>
            <a:cxnSpLocks/>
          </p:cNvCxnSpPr>
          <p:nvPr/>
        </p:nvCxnSpPr>
        <p:spPr>
          <a:xfrm>
            <a:off x="5158154" y="3888154"/>
            <a:ext cx="11488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BD7F75-B193-B811-F197-FCF65530FBC1}"/>
              </a:ext>
            </a:extLst>
          </p:cNvPr>
          <p:cNvCxnSpPr>
            <a:cxnSpLocks/>
          </p:cNvCxnSpPr>
          <p:nvPr/>
        </p:nvCxnSpPr>
        <p:spPr>
          <a:xfrm>
            <a:off x="5892800" y="4783015"/>
            <a:ext cx="4142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8395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4472C-80EC-AB66-4E3C-C07BAB109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9207C2-FCF8-A0FC-DD11-2669135A7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114" y="143764"/>
            <a:ext cx="3144860" cy="64757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3119C-E269-8AB7-0ADC-7809606FC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Numbers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64BA6-C1CE-F247-783B-6BA0ACE32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206684-57AF-D11E-7ED7-9B61E8E2D7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27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DA9F85-EEFD-2B8B-81BB-3BDC9D4C36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Entities loaded into the database (LPC release):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07D0CF-E3A2-85DF-967D-9EF19E59216F}"/>
              </a:ext>
            </a:extLst>
          </p:cNvPr>
          <p:cNvSpPr txBox="1"/>
          <p:nvPr/>
        </p:nvSpPr>
        <p:spPr>
          <a:xfrm>
            <a:off x="684041" y="1704617"/>
            <a:ext cx="7260257" cy="503214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Master Data</a:t>
            </a:r>
            <a:endParaRPr lang="en-US"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Genes</a:t>
            </a:r>
            <a:r>
              <a:rPr lang="en-US" dirty="0"/>
              <a:t>: 194,649 (46k from HGNC + NCBI with genes without HUGO ID)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Variants (SNPs)</a:t>
            </a:r>
            <a:r>
              <a:rPr lang="en-US" dirty="0"/>
              <a:t>: 1,051,245,736 (no filter)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Proteins</a:t>
            </a:r>
            <a:r>
              <a:rPr lang="en-US" dirty="0"/>
              <a:t>: 53,260 (Isoforms + Canonicals)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Pathways</a:t>
            </a:r>
            <a:r>
              <a:rPr lang="en-US" dirty="0"/>
              <a:t>: 3,136 (KEGG + Reactome)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GO Terms</a:t>
            </a:r>
            <a:r>
              <a:rPr lang="en-US" dirty="0"/>
              <a:t>: 48,101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🔗 </a:t>
            </a:r>
            <a:r>
              <a:rPr lang="en-US" b="1" dirty="0"/>
              <a:t>Entity Relationships</a:t>
            </a:r>
            <a:r>
              <a:rPr lang="en-US" dirty="0"/>
              <a:t>: 475,824</a:t>
            </a:r>
          </a:p>
          <a:p>
            <a:pPr>
              <a:spcAft>
                <a:spcPts val="600"/>
              </a:spcAft>
            </a:pPr>
            <a:endParaRPr lang="en-US" sz="500" b="1" dirty="0"/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FF0000"/>
                </a:solidFill>
              </a:rPr>
              <a:t>Seeds &amp; Configurations:</a:t>
            </a:r>
            <a:endParaRPr lang="en-US" dirty="0">
              <a:solidFill>
                <a:srgbClr val="FF0000"/>
              </a:solidFill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Entity Groups: 14 </a:t>
            </a:r>
            <a:r>
              <a:rPr lang="en-US" sz="1400" i="1" dirty="0">
                <a:solidFill>
                  <a:srgbClr val="FF0000"/>
                </a:solidFill>
              </a:rPr>
              <a:t>(Need Review)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Entity Relationship Type: 6 </a:t>
            </a:r>
            <a:r>
              <a:rPr lang="en-US" sz="1400" i="1" dirty="0">
                <a:solidFill>
                  <a:srgbClr val="FF0000"/>
                </a:solidFill>
              </a:rPr>
              <a:t>(Need Review)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Assemblies: 50 </a:t>
            </a:r>
            <a:r>
              <a:rPr lang="en-US" sz="1400" i="1" dirty="0">
                <a:solidFill>
                  <a:srgbClr val="FF0000"/>
                </a:solidFill>
              </a:rPr>
              <a:t>(by Accession)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Source Systems: 8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Data Source: 31</a:t>
            </a:r>
          </a:p>
          <a:p>
            <a:pPr lvl="1">
              <a:spcAft>
                <a:spcPts val="600"/>
              </a:spcAft>
            </a:pP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0DDE16-817F-9CB1-63E1-F77F55007C11}"/>
              </a:ext>
            </a:extLst>
          </p:cNvPr>
          <p:cNvCxnSpPr>
            <a:cxnSpLocks/>
          </p:cNvCxnSpPr>
          <p:nvPr/>
        </p:nvCxnSpPr>
        <p:spPr>
          <a:xfrm>
            <a:off x="5351392" y="2562961"/>
            <a:ext cx="36842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D6DE2E8B-DF8C-DD92-FA13-951D5FDED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062" y="3187930"/>
            <a:ext cx="3619574" cy="3355926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1B9FD52-78F1-5C3D-FD26-F4425181C5B0}"/>
              </a:ext>
            </a:extLst>
          </p:cNvPr>
          <p:cNvCxnSpPr>
            <a:cxnSpLocks/>
          </p:cNvCxnSpPr>
          <p:nvPr/>
        </p:nvCxnSpPr>
        <p:spPr>
          <a:xfrm>
            <a:off x="4220308" y="3942204"/>
            <a:ext cx="11310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5873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DD729-6017-E836-0DD0-40195C16A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8EFD9-2992-B791-4FA8-FAED5445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200" y="2340396"/>
            <a:ext cx="10749600" cy="2177208"/>
          </a:xfrm>
        </p:spPr>
        <p:txBody>
          <a:bodyPr/>
          <a:lstStyle/>
          <a:p>
            <a:r>
              <a:rPr lang="en-US" dirty="0"/>
              <a:t>PMACS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76B29-7AC6-683A-2F1F-195763F4C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02526-C099-C14C-B885-D5340A804096}" type="datetime1">
              <a:rPr lang="en-GB" smtClean="0"/>
              <a:t>24/11/2025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F4442-4C6F-ED63-006D-ED783102F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48EB2-ABBB-452B-B43B-31E8A7DFB90B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8978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8CDEC-30EB-6028-573B-05ADC1992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583C9-872B-5FFF-EDD8-12BC82ECF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4488656" cy="561600"/>
          </a:xfrm>
        </p:spPr>
        <p:txBody>
          <a:bodyPr/>
          <a:lstStyle/>
          <a:p>
            <a:r>
              <a:rPr lang="en-US" sz="2800" b="1" dirty="0">
                <a:solidFill>
                  <a:srgbClr val="011E5B"/>
                </a:solidFill>
              </a:rPr>
              <a:t>System Architecture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C7D20-EC66-2A42-BA18-AE847949D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C4F38-C58C-CBBA-6A85-6C86F9DD85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29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9FF3EC-AC6E-D469-53F2-89FD015B3E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Key Characteristics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8E0F04-C070-3A66-1111-2528802422B9}"/>
              </a:ext>
            </a:extLst>
          </p:cNvPr>
          <p:cNvSpPr txBox="1"/>
          <p:nvPr/>
        </p:nvSpPr>
        <p:spPr>
          <a:xfrm>
            <a:off x="1366674" y="1975403"/>
            <a:ext cx="7030533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buNone/>
            </a:pPr>
            <a:r>
              <a:rPr lang="en-US" b="1" dirty="0"/>
              <a:t>Cloud &amp; HPC-ready</a:t>
            </a:r>
            <a:r>
              <a:rPr lang="en-US" dirty="0"/>
              <a:t> — decoupled software and data</a:t>
            </a:r>
          </a:p>
          <a:p>
            <a:pPr>
              <a:spcAft>
                <a:spcPts val="2400"/>
              </a:spcAft>
              <a:buNone/>
            </a:pPr>
            <a:r>
              <a:rPr lang="en-US" b="1" dirty="0"/>
              <a:t>ETL Pipeline</a:t>
            </a:r>
            <a:r>
              <a:rPr lang="en-US" dirty="0"/>
              <a:t> — Extract → Transform → Load (modular, traceable)</a:t>
            </a:r>
          </a:p>
          <a:p>
            <a:pPr>
              <a:spcAft>
                <a:spcPts val="600"/>
              </a:spcAft>
              <a:buNone/>
            </a:pPr>
            <a:r>
              <a:rPr lang="en-US" b="1" dirty="0"/>
              <a:t>Data Layers</a:t>
            </a:r>
            <a:endParaRPr lang="en-US" dirty="0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Raw (original source files)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Processed (standardized Parquet)</a:t>
            </a:r>
          </a:p>
          <a:p>
            <a:pPr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dirty="0"/>
              <a:t> Curated (relational DB)</a:t>
            </a:r>
          </a:p>
          <a:p>
            <a:pPr>
              <a:spcAft>
                <a:spcPts val="2400"/>
              </a:spcAft>
              <a:buNone/>
            </a:pPr>
            <a:r>
              <a:rPr lang="en-US" b="1" dirty="0"/>
              <a:t>Entity-centric Schema</a:t>
            </a:r>
            <a:r>
              <a:rPr lang="en-US" dirty="0"/>
              <a:t> — all omics data unified under the </a:t>
            </a:r>
            <a:r>
              <a:rPr lang="en-US" dirty="0">
                <a:latin typeface="Courier New" panose="02070309020205020404" pitchFamily="49" charset="0"/>
              </a:rPr>
              <a:t>Entity</a:t>
            </a:r>
            <a:r>
              <a:rPr lang="en-US" dirty="0"/>
              <a:t> model</a:t>
            </a:r>
          </a:p>
          <a:p>
            <a:pPr>
              <a:spcAft>
                <a:spcPts val="2400"/>
              </a:spcAft>
              <a:buNone/>
            </a:pPr>
            <a:r>
              <a:rPr lang="en-US" b="1" dirty="0"/>
              <a:t>Provenance &amp; Logging</a:t>
            </a:r>
            <a:r>
              <a:rPr lang="en-US" dirty="0"/>
              <a:t> — ingestion tracked by ETL models</a:t>
            </a:r>
          </a:p>
        </p:txBody>
      </p:sp>
      <p:pic>
        <p:nvPicPr>
          <p:cNvPr id="9" name="Graphic 8" descr="Workflow with solid fill">
            <a:extLst>
              <a:ext uri="{FF2B5EF4-FFF2-40B4-BE49-F238E27FC236}">
                <a16:creationId xmlns:a16="http://schemas.microsoft.com/office/drawing/2014/main" id="{13EDDCE2-19F8-2081-46FF-2E5EB7F53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034" y="1869925"/>
            <a:ext cx="548640" cy="548640"/>
          </a:xfrm>
          <a:prstGeom prst="rect">
            <a:avLst/>
          </a:prstGeom>
        </p:spPr>
      </p:pic>
      <p:pic>
        <p:nvPicPr>
          <p:cNvPr id="11" name="Graphic 10" descr="Cloud with solid fill">
            <a:extLst>
              <a:ext uri="{FF2B5EF4-FFF2-40B4-BE49-F238E27FC236}">
                <a16:creationId xmlns:a16="http://schemas.microsoft.com/office/drawing/2014/main" id="{9CC4F0CD-7BAB-1982-D18B-3A3FDE1C3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8034" y="2465483"/>
            <a:ext cx="548640" cy="548640"/>
          </a:xfrm>
          <a:prstGeom prst="rect">
            <a:avLst/>
          </a:prstGeom>
        </p:spPr>
      </p:pic>
      <p:pic>
        <p:nvPicPr>
          <p:cNvPr id="13" name="Graphic 12" descr="Folder with solid fill">
            <a:extLst>
              <a:ext uri="{FF2B5EF4-FFF2-40B4-BE49-F238E27FC236}">
                <a16:creationId xmlns:a16="http://schemas.microsoft.com/office/drawing/2014/main" id="{02AF6362-6D6F-9BF3-71AA-90435E9F0F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8034" y="3033019"/>
            <a:ext cx="548640" cy="548640"/>
          </a:xfrm>
          <a:prstGeom prst="rect">
            <a:avLst/>
          </a:prstGeom>
        </p:spPr>
      </p:pic>
      <p:pic>
        <p:nvPicPr>
          <p:cNvPr id="15" name="Graphic 14" descr="DNA with solid fill">
            <a:extLst>
              <a:ext uri="{FF2B5EF4-FFF2-40B4-BE49-F238E27FC236}">
                <a16:creationId xmlns:a16="http://schemas.microsoft.com/office/drawing/2014/main" id="{5719DAF1-266A-52F1-2C4F-5F1BCE5A98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8034" y="4664418"/>
            <a:ext cx="548640" cy="548640"/>
          </a:xfrm>
          <a:prstGeom prst="rect">
            <a:avLst/>
          </a:prstGeom>
        </p:spPr>
      </p:pic>
      <p:pic>
        <p:nvPicPr>
          <p:cNvPr id="17" name="Graphic 16" descr="Test tubes with solid fill">
            <a:extLst>
              <a:ext uri="{FF2B5EF4-FFF2-40B4-BE49-F238E27FC236}">
                <a16:creationId xmlns:a16="http://schemas.microsoft.com/office/drawing/2014/main" id="{BA094F4D-098E-FBE6-6D6B-8E312069AF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8034" y="5267064"/>
            <a:ext cx="548640" cy="54864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CEAE1E7-B9D7-BF59-48FF-B57D398C1B4C}"/>
              </a:ext>
            </a:extLst>
          </p:cNvPr>
          <p:cNvSpPr/>
          <p:nvPr/>
        </p:nvSpPr>
        <p:spPr>
          <a:xfrm>
            <a:off x="8908154" y="808447"/>
            <a:ext cx="730102" cy="212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dirty="0">
                <a:latin typeface="+mj-lt"/>
              </a:rPr>
              <a:t>HGNC</a:t>
            </a:r>
            <a:endParaRPr lang="en-US" sz="1600" dirty="0"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0CD7EC-D945-3173-0931-52F5E57F0902}"/>
              </a:ext>
            </a:extLst>
          </p:cNvPr>
          <p:cNvSpPr/>
          <p:nvPr/>
        </p:nvSpPr>
        <p:spPr>
          <a:xfrm>
            <a:off x="9726861" y="808447"/>
            <a:ext cx="730102" cy="212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dirty="0">
                <a:latin typeface="+mj-lt"/>
              </a:rPr>
              <a:t>UniProt</a:t>
            </a:r>
            <a:endParaRPr lang="en-US" sz="1600" dirty="0"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626C35-76AE-8B3E-46FD-62E5B47F37C7}"/>
              </a:ext>
            </a:extLst>
          </p:cNvPr>
          <p:cNvSpPr/>
          <p:nvPr/>
        </p:nvSpPr>
        <p:spPr>
          <a:xfrm>
            <a:off x="10545568" y="808447"/>
            <a:ext cx="730102" cy="212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dirty="0">
                <a:latin typeface="+mj-lt"/>
              </a:rPr>
              <a:t>dbSNP</a:t>
            </a:r>
            <a:endParaRPr lang="en-US" sz="1600" dirty="0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1E60F4-53DD-508C-C5B1-7970CF3C9F5B}"/>
              </a:ext>
            </a:extLst>
          </p:cNvPr>
          <p:cNvSpPr/>
          <p:nvPr/>
        </p:nvSpPr>
        <p:spPr>
          <a:xfrm>
            <a:off x="8908154" y="2255620"/>
            <a:ext cx="730102" cy="212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dirty="0">
                <a:latin typeface="+mj-lt"/>
              </a:rPr>
              <a:t>Extract</a:t>
            </a:r>
            <a:endParaRPr lang="en-US" sz="1600" dirty="0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4ACD2A-2DDD-7B89-3797-6B22310992E0}"/>
              </a:ext>
            </a:extLst>
          </p:cNvPr>
          <p:cNvSpPr/>
          <p:nvPr/>
        </p:nvSpPr>
        <p:spPr>
          <a:xfrm>
            <a:off x="9726861" y="2255620"/>
            <a:ext cx="730102" cy="212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050" dirty="0">
                <a:latin typeface="+mj-lt"/>
              </a:rPr>
              <a:t>Transform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23A958-27A0-581F-064B-1679216C3614}"/>
              </a:ext>
            </a:extLst>
          </p:cNvPr>
          <p:cNvSpPr/>
          <p:nvPr/>
        </p:nvSpPr>
        <p:spPr>
          <a:xfrm>
            <a:off x="10545568" y="2255620"/>
            <a:ext cx="730102" cy="212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dirty="0">
                <a:latin typeface="+mj-lt"/>
              </a:rPr>
              <a:t>Load</a:t>
            </a:r>
            <a:endParaRPr lang="en-US" sz="1600" dirty="0">
              <a:latin typeface="+mj-lt"/>
            </a:endParaRPr>
          </a:p>
        </p:txBody>
      </p:sp>
      <p:pic>
        <p:nvPicPr>
          <p:cNvPr id="25" name="Graphic 24" descr="Folder with solid fill">
            <a:extLst>
              <a:ext uri="{FF2B5EF4-FFF2-40B4-BE49-F238E27FC236}">
                <a16:creationId xmlns:a16="http://schemas.microsoft.com/office/drawing/2014/main" id="{7702F6C4-D995-C10C-2B20-78F8D0BF17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98885" y="2995323"/>
            <a:ext cx="548640" cy="548640"/>
          </a:xfrm>
          <a:prstGeom prst="rect">
            <a:avLst/>
          </a:prstGeom>
        </p:spPr>
      </p:pic>
      <p:pic>
        <p:nvPicPr>
          <p:cNvPr id="26" name="Graphic 25" descr="Folder with solid fill">
            <a:extLst>
              <a:ext uri="{FF2B5EF4-FFF2-40B4-BE49-F238E27FC236}">
                <a16:creationId xmlns:a16="http://schemas.microsoft.com/office/drawing/2014/main" id="{9760A567-FF60-9FCA-16E3-92D01C528E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21845" y="2995323"/>
            <a:ext cx="548640" cy="548640"/>
          </a:xfrm>
          <a:prstGeom prst="rect">
            <a:avLst/>
          </a:prstGeom>
        </p:spPr>
      </p:pic>
      <p:pic>
        <p:nvPicPr>
          <p:cNvPr id="28" name="Graphic 27" descr="Database with solid fill">
            <a:extLst>
              <a:ext uri="{FF2B5EF4-FFF2-40B4-BE49-F238E27FC236}">
                <a16:creationId xmlns:a16="http://schemas.microsoft.com/office/drawing/2014/main" id="{6F7EFFBF-1177-0D72-9DA0-F025A1C475A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644805" y="2995323"/>
            <a:ext cx="548640" cy="548640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DFC8A99-2BE4-E2E9-EF95-10DB5EF74FDF}"/>
              </a:ext>
            </a:extLst>
          </p:cNvPr>
          <p:cNvCxnSpPr>
            <a:stCxn id="22" idx="2"/>
            <a:endCxn id="25" idx="0"/>
          </p:cNvCxnSpPr>
          <p:nvPr/>
        </p:nvCxnSpPr>
        <p:spPr>
          <a:xfrm>
            <a:off x="9273205" y="2468271"/>
            <a:ext cx="0" cy="527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B0DD2C2-288C-71D7-269E-530C3EDE43C0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>
          <a:xfrm>
            <a:off x="10091912" y="2468271"/>
            <a:ext cx="4253" cy="527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BD144A3-12AF-9786-C15B-1A9AC7614CA8}"/>
              </a:ext>
            </a:extLst>
          </p:cNvPr>
          <p:cNvCxnSpPr>
            <a:cxnSpLocks/>
            <a:stCxn id="24" idx="2"/>
            <a:endCxn id="28" idx="0"/>
          </p:cNvCxnSpPr>
          <p:nvPr/>
        </p:nvCxnSpPr>
        <p:spPr>
          <a:xfrm>
            <a:off x="10910619" y="2468271"/>
            <a:ext cx="8506" cy="527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D2DB07D-3677-C4A9-42D5-EFAE6D99C13A}"/>
              </a:ext>
            </a:extLst>
          </p:cNvPr>
          <p:cNvSpPr txBox="1"/>
          <p:nvPr/>
        </p:nvSpPr>
        <p:spPr>
          <a:xfrm>
            <a:off x="9126007" y="3483829"/>
            <a:ext cx="33823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/>
              <a:t>Raw</a:t>
            </a:r>
          </a:p>
          <a:p>
            <a:pPr algn="ctr"/>
            <a:r>
              <a:rPr lang="en-US" sz="1200" dirty="0"/>
              <a:t>(files)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6874F9-D11D-7076-230A-41F6F56EFE14}"/>
              </a:ext>
            </a:extLst>
          </p:cNvPr>
          <p:cNvSpPr txBox="1"/>
          <p:nvPr/>
        </p:nvSpPr>
        <p:spPr>
          <a:xfrm>
            <a:off x="9800846" y="3483829"/>
            <a:ext cx="62228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/>
              <a:t>Processed</a:t>
            </a:r>
          </a:p>
          <a:p>
            <a:pPr algn="ctr"/>
            <a:r>
              <a:rPr lang="en-US" sz="1200" dirty="0"/>
              <a:t>(Parquet)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0CAE5F-BF74-4F30-744D-B838AAA57B88}"/>
              </a:ext>
            </a:extLst>
          </p:cNvPr>
          <p:cNvSpPr txBox="1"/>
          <p:nvPr/>
        </p:nvSpPr>
        <p:spPr>
          <a:xfrm>
            <a:off x="10687697" y="3483829"/>
            <a:ext cx="53540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/>
              <a:t>Curated</a:t>
            </a:r>
          </a:p>
          <a:p>
            <a:pPr algn="ctr"/>
            <a:r>
              <a:rPr lang="en-US" sz="1200" dirty="0"/>
              <a:t>(SQL DB</a:t>
            </a:r>
            <a:r>
              <a:rPr lang="en-US" sz="1100" dirty="0">
                <a:solidFill>
                  <a:schemeClr val="accent1"/>
                </a:solidFill>
                <a:latin typeface="+mj-lt"/>
              </a:rPr>
              <a:t>)</a:t>
            </a:r>
          </a:p>
        </p:txBody>
      </p:sp>
      <p:pic>
        <p:nvPicPr>
          <p:cNvPr id="44" name="Graphic 43" descr="Magnifying glass with solid fill">
            <a:extLst>
              <a:ext uri="{FF2B5EF4-FFF2-40B4-BE49-F238E27FC236}">
                <a16:creationId xmlns:a16="http://schemas.microsoft.com/office/drawing/2014/main" id="{3575FB8F-54E9-E885-B4AB-B53D2B35DBE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89499" y="5273857"/>
            <a:ext cx="548640" cy="548640"/>
          </a:xfrm>
          <a:prstGeom prst="rect">
            <a:avLst/>
          </a:prstGeom>
        </p:spPr>
      </p:pic>
      <p:pic>
        <p:nvPicPr>
          <p:cNvPr id="46" name="Graphic 45" descr="Document with solid fill">
            <a:extLst>
              <a:ext uri="{FF2B5EF4-FFF2-40B4-BE49-F238E27FC236}">
                <a16:creationId xmlns:a16="http://schemas.microsoft.com/office/drawing/2014/main" id="{3DB88EEA-77A3-605C-7775-8F6638E9DE8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825326" y="5273857"/>
            <a:ext cx="548640" cy="54864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F28E6C78-AE09-E14B-11B2-1B158FB72A11}"/>
              </a:ext>
            </a:extLst>
          </p:cNvPr>
          <p:cNvSpPr txBox="1"/>
          <p:nvPr/>
        </p:nvSpPr>
        <p:spPr>
          <a:xfrm>
            <a:off x="10347604" y="5822497"/>
            <a:ext cx="1550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Report Interface</a:t>
            </a:r>
          </a:p>
          <a:p>
            <a:pPr algn="ctr"/>
            <a:r>
              <a:rPr lang="en-US" sz="1200" dirty="0"/>
              <a:t>(ready-to-use reports)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A2FD3907-9D48-1E35-BC80-E5EE0E4B35B9}"/>
              </a:ext>
            </a:extLst>
          </p:cNvPr>
          <p:cNvSpPr/>
          <p:nvPr/>
        </p:nvSpPr>
        <p:spPr>
          <a:xfrm>
            <a:off x="9597655" y="4307933"/>
            <a:ext cx="1210984" cy="5741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dirty="0"/>
              <a:t>Biofilter3R Core</a:t>
            </a:r>
          </a:p>
          <a:p>
            <a:pPr algn="ctr"/>
            <a:r>
              <a:rPr lang="en-US" sz="1200" dirty="0"/>
              <a:t>(Entity-Centric)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AF9942-6174-2E80-64B3-9A8B29D7994D}"/>
              </a:ext>
            </a:extLst>
          </p:cNvPr>
          <p:cNvSpPr txBox="1"/>
          <p:nvPr/>
        </p:nvSpPr>
        <p:spPr>
          <a:xfrm>
            <a:off x="8435727" y="5822497"/>
            <a:ext cx="1656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 Query Interface</a:t>
            </a:r>
          </a:p>
          <a:p>
            <a:pPr algn="ctr"/>
            <a:r>
              <a:rPr lang="en-US" sz="1200" dirty="0"/>
              <a:t>(advanced exploration)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0D8C405F-FC05-5EBC-4C28-197187F8510F}"/>
              </a:ext>
            </a:extLst>
          </p:cNvPr>
          <p:cNvCxnSpPr>
            <a:stCxn id="51" idx="1"/>
            <a:endCxn id="44" idx="0"/>
          </p:cNvCxnSpPr>
          <p:nvPr/>
        </p:nvCxnSpPr>
        <p:spPr>
          <a:xfrm rot="10800000" flipV="1">
            <a:off x="9263819" y="4594985"/>
            <a:ext cx="333836" cy="6788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AA7C2AD7-649F-2CB7-C67E-E82C550BAEF1}"/>
              </a:ext>
            </a:extLst>
          </p:cNvPr>
          <p:cNvCxnSpPr>
            <a:cxnSpLocks/>
            <a:stCxn id="51" idx="3"/>
            <a:endCxn id="46" idx="0"/>
          </p:cNvCxnSpPr>
          <p:nvPr/>
        </p:nvCxnSpPr>
        <p:spPr>
          <a:xfrm>
            <a:off x="10808639" y="4594985"/>
            <a:ext cx="291007" cy="6788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5157870B-C1BE-2946-13F1-290C4350617C}"/>
              </a:ext>
            </a:extLst>
          </p:cNvPr>
          <p:cNvCxnSpPr>
            <a:cxnSpLocks/>
            <a:stCxn id="42" idx="2"/>
            <a:endCxn id="51" idx="0"/>
          </p:cNvCxnSpPr>
          <p:nvPr/>
        </p:nvCxnSpPr>
        <p:spPr>
          <a:xfrm rot="5400000">
            <a:off x="10351887" y="3704421"/>
            <a:ext cx="454772" cy="7522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Box with solid fill">
            <a:extLst>
              <a:ext uri="{FF2B5EF4-FFF2-40B4-BE49-F238E27FC236}">
                <a16:creationId xmlns:a16="http://schemas.microsoft.com/office/drawing/2014/main" id="{D9FE7230-D9C4-F2C0-A383-7867026C06B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067465" y="1274951"/>
            <a:ext cx="411480" cy="41148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D6D086F4-8FBF-D298-4B60-05D5CAE7D242}"/>
              </a:ext>
            </a:extLst>
          </p:cNvPr>
          <p:cNvSpPr txBox="1"/>
          <p:nvPr/>
        </p:nvSpPr>
        <p:spPr>
          <a:xfrm>
            <a:off x="8779867" y="1950921"/>
            <a:ext cx="10305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ETL Pipeline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AF80AB-A5AF-9357-7515-20874EF8157C}"/>
              </a:ext>
            </a:extLst>
          </p:cNvPr>
          <p:cNvSpPr txBox="1"/>
          <p:nvPr/>
        </p:nvSpPr>
        <p:spPr>
          <a:xfrm>
            <a:off x="8771389" y="532483"/>
            <a:ext cx="10474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 Data Sources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55CF95D-3B68-0F06-3BAC-8A06405D418A}"/>
              </a:ext>
            </a:extLst>
          </p:cNvPr>
          <p:cNvGrpSpPr/>
          <p:nvPr/>
        </p:nvGrpSpPr>
        <p:grpSpPr>
          <a:xfrm>
            <a:off x="9663686" y="1958726"/>
            <a:ext cx="1541421" cy="274320"/>
            <a:chOff x="9663686" y="1958726"/>
            <a:chExt cx="1541421" cy="274320"/>
          </a:xfrm>
        </p:grpSpPr>
        <p:pic>
          <p:nvPicPr>
            <p:cNvPr id="71" name="Graphic 70" descr="Chevron arrows with solid fill">
              <a:extLst>
                <a:ext uri="{FF2B5EF4-FFF2-40B4-BE49-F238E27FC236}">
                  <a16:creationId xmlns:a16="http://schemas.microsoft.com/office/drawing/2014/main" id="{2B9A4637-E7D4-7534-13A1-8C386885E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663686" y="1958726"/>
              <a:ext cx="274320" cy="274320"/>
            </a:xfrm>
            <a:prstGeom prst="rect">
              <a:avLst/>
            </a:prstGeom>
          </p:spPr>
        </p:pic>
        <p:pic>
          <p:nvPicPr>
            <p:cNvPr id="73" name="Graphic 72" descr="Chevron arrows with solid fill">
              <a:extLst>
                <a:ext uri="{FF2B5EF4-FFF2-40B4-BE49-F238E27FC236}">
                  <a16:creationId xmlns:a16="http://schemas.microsoft.com/office/drawing/2014/main" id="{4FDEC2DE-27E6-FD8D-797D-39596C744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875285" y="1958726"/>
              <a:ext cx="274320" cy="274320"/>
            </a:xfrm>
            <a:prstGeom prst="rect">
              <a:avLst/>
            </a:prstGeom>
          </p:spPr>
        </p:pic>
        <p:pic>
          <p:nvPicPr>
            <p:cNvPr id="74" name="Graphic 73" descr="Chevron arrows with solid fill">
              <a:extLst>
                <a:ext uri="{FF2B5EF4-FFF2-40B4-BE49-F238E27FC236}">
                  <a16:creationId xmlns:a16="http://schemas.microsoft.com/office/drawing/2014/main" id="{A60A5BFA-9E58-1295-F428-CEC2FAAB8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086053" y="1958726"/>
              <a:ext cx="274320" cy="274320"/>
            </a:xfrm>
            <a:prstGeom prst="rect">
              <a:avLst/>
            </a:prstGeom>
          </p:spPr>
        </p:pic>
        <p:pic>
          <p:nvPicPr>
            <p:cNvPr id="75" name="Graphic 74" descr="Chevron arrows with solid fill">
              <a:extLst>
                <a:ext uri="{FF2B5EF4-FFF2-40B4-BE49-F238E27FC236}">
                  <a16:creationId xmlns:a16="http://schemas.microsoft.com/office/drawing/2014/main" id="{79D8B716-7D38-668B-B03C-6CF504844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297652" y="1958726"/>
              <a:ext cx="274320" cy="274320"/>
            </a:xfrm>
            <a:prstGeom prst="rect">
              <a:avLst/>
            </a:prstGeom>
          </p:spPr>
        </p:pic>
        <p:pic>
          <p:nvPicPr>
            <p:cNvPr id="76" name="Graphic 75" descr="Chevron arrows with solid fill">
              <a:extLst>
                <a:ext uri="{FF2B5EF4-FFF2-40B4-BE49-F238E27FC236}">
                  <a16:creationId xmlns:a16="http://schemas.microsoft.com/office/drawing/2014/main" id="{0E0EE269-4BBA-C8B7-B945-40E6CE922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508420" y="1958726"/>
              <a:ext cx="274320" cy="274320"/>
            </a:xfrm>
            <a:prstGeom prst="rect">
              <a:avLst/>
            </a:prstGeom>
          </p:spPr>
        </p:pic>
        <p:pic>
          <p:nvPicPr>
            <p:cNvPr id="77" name="Graphic 76" descr="Chevron arrows with solid fill">
              <a:extLst>
                <a:ext uri="{FF2B5EF4-FFF2-40B4-BE49-F238E27FC236}">
                  <a16:creationId xmlns:a16="http://schemas.microsoft.com/office/drawing/2014/main" id="{30AC9649-6FB6-403D-3D2D-50A3E64B8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720019" y="1958726"/>
              <a:ext cx="274320" cy="274320"/>
            </a:xfrm>
            <a:prstGeom prst="rect">
              <a:avLst/>
            </a:prstGeom>
          </p:spPr>
        </p:pic>
        <p:pic>
          <p:nvPicPr>
            <p:cNvPr id="78" name="Graphic 77" descr="Chevron arrows with solid fill">
              <a:extLst>
                <a:ext uri="{FF2B5EF4-FFF2-40B4-BE49-F238E27FC236}">
                  <a16:creationId xmlns:a16="http://schemas.microsoft.com/office/drawing/2014/main" id="{9CF8652A-4594-9602-CDF4-45935E527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930787" y="1958726"/>
              <a:ext cx="274320" cy="274320"/>
            </a:xfrm>
            <a:prstGeom prst="rect">
              <a:avLst/>
            </a:prstGeom>
          </p:spPr>
        </p:pic>
      </p:grp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4C05C1F-BBCD-3C01-0A9B-AA63CA854630}"/>
              </a:ext>
            </a:extLst>
          </p:cNvPr>
          <p:cNvCxnSpPr>
            <a:cxnSpLocks/>
            <a:stCxn id="19" idx="2"/>
            <a:endCxn id="62" idx="0"/>
          </p:cNvCxnSpPr>
          <p:nvPr/>
        </p:nvCxnSpPr>
        <p:spPr>
          <a:xfrm>
            <a:off x="9273205" y="1021098"/>
            <a:ext cx="0" cy="253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E249144-D91A-1151-7846-CAE080C5A458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9273205" y="1686431"/>
            <a:ext cx="0" cy="239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Graphic 93" descr="Box with solid fill">
            <a:extLst>
              <a:ext uri="{FF2B5EF4-FFF2-40B4-BE49-F238E27FC236}">
                <a16:creationId xmlns:a16="http://schemas.microsoft.com/office/drawing/2014/main" id="{3458BFE6-D931-81FF-DA4F-C5ED9B19180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909386" y="1274951"/>
            <a:ext cx="411480" cy="411480"/>
          </a:xfrm>
          <a:prstGeom prst="rect">
            <a:avLst/>
          </a:prstGeom>
        </p:spPr>
      </p:pic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05A5C3E-E61C-6307-B498-41565454111F}"/>
              </a:ext>
            </a:extLst>
          </p:cNvPr>
          <p:cNvCxnSpPr>
            <a:cxnSpLocks/>
            <a:endCxn id="94" idx="0"/>
          </p:cNvCxnSpPr>
          <p:nvPr/>
        </p:nvCxnSpPr>
        <p:spPr>
          <a:xfrm>
            <a:off x="10115126" y="1021098"/>
            <a:ext cx="0" cy="253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8CC9025-66AF-8FF6-F006-0786F0D7103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10115126" y="1686431"/>
            <a:ext cx="0" cy="239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Graphic 96" descr="Box with solid fill">
            <a:extLst>
              <a:ext uri="{FF2B5EF4-FFF2-40B4-BE49-F238E27FC236}">
                <a16:creationId xmlns:a16="http://schemas.microsoft.com/office/drawing/2014/main" id="{62EC0210-45D9-AB3C-BACE-578F9FC808B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709131" y="1274951"/>
            <a:ext cx="411480" cy="411480"/>
          </a:xfrm>
          <a:prstGeom prst="rect">
            <a:avLst/>
          </a:prstGeom>
        </p:spPr>
      </p:pic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E7243D37-EED2-E2C6-D176-35DEA963CBC4}"/>
              </a:ext>
            </a:extLst>
          </p:cNvPr>
          <p:cNvCxnSpPr>
            <a:cxnSpLocks/>
            <a:endCxn id="97" idx="0"/>
          </p:cNvCxnSpPr>
          <p:nvPr/>
        </p:nvCxnSpPr>
        <p:spPr>
          <a:xfrm>
            <a:off x="10914871" y="1021098"/>
            <a:ext cx="0" cy="253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71F4A71-F74F-90DE-438C-026DFE59D16A}"/>
              </a:ext>
            </a:extLst>
          </p:cNvPr>
          <p:cNvCxnSpPr>
            <a:cxnSpLocks/>
            <a:stCxn id="97" idx="2"/>
          </p:cNvCxnSpPr>
          <p:nvPr/>
        </p:nvCxnSpPr>
        <p:spPr>
          <a:xfrm>
            <a:off x="10914871" y="1686431"/>
            <a:ext cx="0" cy="239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124ADB0B-5016-98AB-82CA-46E59F3E489B}"/>
              </a:ext>
            </a:extLst>
          </p:cNvPr>
          <p:cNvSpPr txBox="1"/>
          <p:nvPr/>
        </p:nvSpPr>
        <p:spPr>
          <a:xfrm>
            <a:off x="11245642" y="714328"/>
            <a:ext cx="3484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34287792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CD4F2-25B7-777C-3C72-09737ABD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0E9DD-3E28-FDF6-9BB3-337958DF9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720000"/>
            <a:ext cx="4488656" cy="561600"/>
          </a:xfrm>
        </p:spPr>
        <p:txBody>
          <a:bodyPr/>
          <a:lstStyle/>
          <a:p>
            <a:r>
              <a:rPr lang="en-US" sz="2800" b="1" dirty="0">
                <a:solidFill>
                  <a:srgbClr val="011E5B"/>
                </a:solidFill>
              </a:rPr>
              <a:t>System Architecture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F7F67-AF16-D033-BC52-5CE73BB062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138" y="6439469"/>
            <a:ext cx="1161270" cy="180000"/>
          </a:xfrm>
        </p:spPr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CBD394-6604-24EA-3B82-946CC3A36C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30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A31AB2-EE6E-6606-DA1D-B18E4470BD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0000" y="1279218"/>
            <a:ext cx="4069410" cy="347020"/>
          </a:xfrm>
        </p:spPr>
        <p:txBody>
          <a:bodyPr/>
          <a:lstStyle/>
          <a:p>
            <a:r>
              <a:rPr lang="en-US" dirty="0"/>
              <a:t>Cloud Deployment</a:t>
            </a:r>
          </a:p>
        </p:txBody>
      </p:sp>
      <p:pic>
        <p:nvPicPr>
          <p:cNvPr id="5122" name="Picture 2" descr="Solutions to common issues with Docker Hub | Packagecloud Blog">
            <a:extLst>
              <a:ext uri="{FF2B5EF4-FFF2-40B4-BE49-F238E27FC236}">
                <a16:creationId xmlns:a16="http://schemas.microsoft.com/office/drawing/2014/main" id="{A26ADEB5-9030-352C-26EA-6E7A8053A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892" y="912633"/>
            <a:ext cx="2536308" cy="142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ECE35980-4DB3-F2CF-CC6C-98DCD195DA5C}"/>
              </a:ext>
            </a:extLst>
          </p:cNvPr>
          <p:cNvSpPr txBox="1"/>
          <p:nvPr/>
        </p:nvSpPr>
        <p:spPr>
          <a:xfrm>
            <a:off x="9700445" y="4037211"/>
            <a:ext cx="2306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Amazon RDS Database</a:t>
            </a:r>
          </a:p>
          <a:p>
            <a:pPr algn="ctr"/>
            <a:r>
              <a:rPr lang="en-US" sz="1800" dirty="0"/>
              <a:t>(PostgreSQL)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F90498-12C4-A9B5-C3F5-E567EB4F8CB2}"/>
              </a:ext>
            </a:extLst>
          </p:cNvPr>
          <p:cNvSpPr txBox="1"/>
          <p:nvPr/>
        </p:nvSpPr>
        <p:spPr>
          <a:xfrm>
            <a:off x="5807169" y="4038814"/>
            <a:ext cx="22541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Google Cloud Computer Engine</a:t>
            </a:r>
          </a:p>
          <a:p>
            <a:pPr algn="ctr"/>
            <a:r>
              <a:rPr lang="en-US" sz="1800" dirty="0"/>
              <a:t>(Biofilter Container)</a:t>
            </a:r>
          </a:p>
        </p:txBody>
      </p:sp>
      <p:pic>
        <p:nvPicPr>
          <p:cNvPr id="5124" name="Picture 4" descr="Project Jupyter - Wikipedia">
            <a:extLst>
              <a:ext uri="{FF2B5EF4-FFF2-40B4-BE49-F238E27FC236}">
                <a16:creationId xmlns:a16="http://schemas.microsoft.com/office/drawing/2014/main" id="{98260877-85D2-A8B2-8372-DF1FB465D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941" y="5295098"/>
            <a:ext cx="708850" cy="821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Google Cloud - Apps on Google Play">
            <a:extLst>
              <a:ext uri="{FF2B5EF4-FFF2-40B4-BE49-F238E27FC236}">
                <a16:creationId xmlns:a16="http://schemas.microsoft.com/office/drawing/2014/main" id="{DAD938D4-11AF-ACAF-D489-349D16A07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923" y="2465732"/>
            <a:ext cx="1805172" cy="180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How Kentik Helps Assess AWS Visibility | Kentik Blog">
            <a:extLst>
              <a:ext uri="{FF2B5EF4-FFF2-40B4-BE49-F238E27FC236}">
                <a16:creationId xmlns:a16="http://schemas.microsoft.com/office/drawing/2014/main" id="{CB09703D-DB16-7A2E-BE02-74B890B4F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6080" y="2477686"/>
            <a:ext cx="2475526" cy="1604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8500111-6D1B-770F-E73A-7F935B065F43}"/>
              </a:ext>
            </a:extLst>
          </p:cNvPr>
          <p:cNvSpPr txBox="1"/>
          <p:nvPr/>
        </p:nvSpPr>
        <p:spPr>
          <a:xfrm>
            <a:off x="8028706" y="2703999"/>
            <a:ext cx="1550752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db_uri = "postgresql://user:password@biofilter-db.c9xyzabc123.us-east-1.rds.amazonaws.com:5432/biofilter"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8E2B75D-9020-CCCB-685E-0319E93520AD}"/>
              </a:ext>
            </a:extLst>
          </p:cNvPr>
          <p:cNvCxnSpPr>
            <a:cxnSpLocks/>
          </p:cNvCxnSpPr>
          <p:nvPr/>
        </p:nvCxnSpPr>
        <p:spPr>
          <a:xfrm>
            <a:off x="8011171" y="3475375"/>
            <a:ext cx="1604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3AF1BF51-44D1-5CB6-E097-D17AAEC197CE}"/>
              </a:ext>
            </a:extLst>
          </p:cNvPr>
          <p:cNvCxnSpPr>
            <a:cxnSpLocks/>
            <a:stCxn id="64" idx="4"/>
            <a:endCxn id="5126" idx="0"/>
          </p:cNvCxnSpPr>
          <p:nvPr/>
        </p:nvCxnSpPr>
        <p:spPr>
          <a:xfrm rot="16200000" flipH="1">
            <a:off x="6583977" y="2160199"/>
            <a:ext cx="611063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83204E22-8C92-29D7-F4E7-A00D085492A1}"/>
              </a:ext>
            </a:extLst>
          </p:cNvPr>
          <p:cNvSpPr/>
          <p:nvPr/>
        </p:nvSpPr>
        <p:spPr>
          <a:xfrm rot="10800000" flipV="1">
            <a:off x="6568019" y="1808950"/>
            <a:ext cx="642979" cy="4571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F867ACC7-05CF-AEA3-5080-1606E5332175}"/>
              </a:ext>
            </a:extLst>
          </p:cNvPr>
          <p:cNvCxnSpPr>
            <a:cxnSpLocks/>
            <a:stCxn id="49" idx="2"/>
            <a:endCxn id="5124" idx="0"/>
          </p:cNvCxnSpPr>
          <p:nvPr/>
        </p:nvCxnSpPr>
        <p:spPr>
          <a:xfrm rot="16200000" flipH="1">
            <a:off x="7114816" y="4781548"/>
            <a:ext cx="332954" cy="6941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30" name="Picture 10" descr="Just-in-time access to AWS RDS - Apono">
            <a:extLst>
              <a:ext uri="{FF2B5EF4-FFF2-40B4-BE49-F238E27FC236}">
                <a16:creationId xmlns:a16="http://schemas.microsoft.com/office/drawing/2014/main" id="{0E216C1A-050D-1F23-B011-393B7DBD0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982" y="3201300"/>
            <a:ext cx="685911" cy="685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Terra | Science at Scale">
            <a:extLst>
              <a:ext uri="{FF2B5EF4-FFF2-40B4-BE49-F238E27FC236}">
                <a16:creationId xmlns:a16="http://schemas.microsoft.com/office/drawing/2014/main" id="{02F9CC43-2D18-5B94-FB8A-BA7C6D170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633" y="3279757"/>
            <a:ext cx="506157" cy="560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Process Running Icons - Free SVG &amp; PNG Process Running Images - Noun Project">
            <a:extLst>
              <a:ext uri="{FF2B5EF4-FFF2-40B4-BE49-F238E27FC236}">
                <a16:creationId xmlns:a16="http://schemas.microsoft.com/office/drawing/2014/main" id="{A1CABDBD-2E19-F536-20F8-2A734C332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995" y="5296208"/>
            <a:ext cx="772612" cy="772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EEA04980-E862-F0D4-4D90-1DDAE4F17EAA}"/>
              </a:ext>
            </a:extLst>
          </p:cNvPr>
          <p:cNvCxnSpPr>
            <a:cxnSpLocks/>
            <a:stCxn id="49" idx="2"/>
            <a:endCxn id="5134" idx="0"/>
          </p:cNvCxnSpPr>
          <p:nvPr/>
        </p:nvCxnSpPr>
        <p:spPr>
          <a:xfrm rot="5400000">
            <a:off x="6389729" y="4751716"/>
            <a:ext cx="334064" cy="7549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8F442290-2DB3-B7C6-A8BC-D50ED96F3C15}"/>
              </a:ext>
            </a:extLst>
          </p:cNvPr>
          <p:cNvSpPr txBox="1"/>
          <p:nvPr/>
        </p:nvSpPr>
        <p:spPr>
          <a:xfrm>
            <a:off x="5824876" y="6116953"/>
            <a:ext cx="70885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Batch Mode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126BEC7-1D59-96C1-69B1-43766388C71D}"/>
              </a:ext>
            </a:extLst>
          </p:cNvPr>
          <p:cNvSpPr txBox="1"/>
          <p:nvPr/>
        </p:nvSpPr>
        <p:spPr>
          <a:xfrm>
            <a:off x="7128709" y="6120854"/>
            <a:ext cx="999313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/>
              <a:t>Interacting</a:t>
            </a:r>
          </a:p>
          <a:p>
            <a:pPr algn="ctr"/>
            <a:r>
              <a:rPr lang="en-US" dirty="0"/>
              <a:t>Mode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528E94FB-D333-F6A4-CBDA-3F54D03B6689}"/>
              </a:ext>
            </a:extLst>
          </p:cNvPr>
          <p:cNvCxnSpPr>
            <a:cxnSpLocks/>
          </p:cNvCxnSpPr>
          <p:nvPr/>
        </p:nvCxnSpPr>
        <p:spPr>
          <a:xfrm flipH="1">
            <a:off x="8011171" y="3621380"/>
            <a:ext cx="156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1030A3AC-1E80-A117-A853-9DEBB16B50AD}"/>
              </a:ext>
            </a:extLst>
          </p:cNvPr>
          <p:cNvSpPr txBox="1"/>
          <p:nvPr/>
        </p:nvSpPr>
        <p:spPr>
          <a:xfrm>
            <a:off x="730289" y="2421679"/>
            <a:ext cx="5040258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Biofilter3R flexibility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Runs inside a </a:t>
            </a:r>
            <a:r>
              <a:rPr lang="en-US" sz="1600" b="1" dirty="0"/>
              <a:t>container</a:t>
            </a:r>
            <a:r>
              <a:rPr lang="en-US" sz="1600" dirty="0"/>
              <a:t> (Docker/Singularity)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Can connect to </a:t>
            </a:r>
            <a:r>
              <a:rPr lang="en-US" sz="1600" b="1" dirty="0"/>
              <a:t>any database endpoint</a:t>
            </a:r>
            <a:r>
              <a:rPr lang="en-US" sz="1600" dirty="0"/>
              <a:t> (PostgreSQL, MariaDB, SQLite)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Cloud-ready</a:t>
            </a:r>
            <a:r>
              <a:rPr lang="en-US" sz="1600" dirty="0"/>
              <a:t>: DB hosted on services like </a:t>
            </a:r>
            <a:r>
              <a:rPr lang="en-US" sz="1600" b="1" dirty="0"/>
              <a:t>Amazon RDS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HPC-ready</a:t>
            </a:r>
            <a:r>
              <a:rPr lang="en-US" sz="1600" dirty="0"/>
              <a:t>: container can run on Anvil/Terra nodes</a:t>
            </a:r>
          </a:p>
          <a:p>
            <a:pPr>
              <a:spcAft>
                <a:spcPts val="600"/>
              </a:spcAft>
              <a:buNone/>
            </a:pPr>
            <a:endParaRPr lang="en-US" sz="600" dirty="0"/>
          </a:p>
          <a:p>
            <a:pPr>
              <a:spcAft>
                <a:spcPts val="600"/>
              </a:spcAft>
              <a:buNone/>
            </a:pPr>
            <a:endParaRPr lang="en-US" sz="600" dirty="0"/>
          </a:p>
          <a:p>
            <a:pPr>
              <a:spcAft>
                <a:spcPts val="600"/>
              </a:spcAft>
              <a:buNone/>
            </a:pPr>
            <a:r>
              <a:rPr lang="en-US" dirty="0"/>
              <a:t>💡 </a:t>
            </a:r>
            <a:r>
              <a:rPr lang="en-US" i="1" dirty="0"/>
              <a:t>Decoupled design = run anywhere, connect anywhere.</a:t>
            </a:r>
            <a:endParaRPr lang="en-US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356B9CE-D726-3926-6B88-F7EB630BE75A}"/>
              </a:ext>
            </a:extLst>
          </p:cNvPr>
          <p:cNvSpPr txBox="1"/>
          <p:nvPr/>
        </p:nvSpPr>
        <p:spPr>
          <a:xfrm>
            <a:off x="6066719" y="883909"/>
            <a:ext cx="212397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b="1" dirty="0">
                <a:solidFill>
                  <a:schemeClr val="tx2"/>
                </a:solidFill>
              </a:rPr>
              <a:t>Deployment Template</a:t>
            </a:r>
          </a:p>
        </p:txBody>
      </p:sp>
    </p:spTree>
    <p:extLst>
      <p:ext uri="{BB962C8B-B14F-4D97-AF65-F5344CB8AC3E}">
        <p14:creationId xmlns:p14="http://schemas.microsoft.com/office/powerpoint/2010/main" val="25675452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517E5-D3D4-7824-FF73-9F426B12C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EE494-1831-842F-843C-76E109C4E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Database Schema (v3.0.0)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796A7-8287-2F89-C0FF-44CAEC424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0D4D6-8420-4A5F-480A-0A22FB1F67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31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1A144E6-DD07-910C-7000-43728D8AF2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Entities: the Strategic hub of Biofilter3R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0C91D6-53F4-E8BE-5D4A-7B89A85CA41E}"/>
              </a:ext>
            </a:extLst>
          </p:cNvPr>
          <p:cNvSpPr txBox="1"/>
          <p:nvPr/>
        </p:nvSpPr>
        <p:spPr>
          <a:xfrm>
            <a:off x="5519771" y="2274626"/>
            <a:ext cx="6065838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2400" b="1" dirty="0"/>
              <a:t>What is an Entity?</a:t>
            </a:r>
            <a:endParaRPr lang="en-US" sz="24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Unified ID</a:t>
            </a:r>
            <a:r>
              <a:rPr lang="en-US" sz="2000" dirty="0"/>
              <a:t> for any object (biological and other)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Aliases merged</a:t>
            </a:r>
            <a:r>
              <a:rPr lang="en-US" sz="2000" dirty="0"/>
              <a:t> into a single reference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Relationships centralized</a:t>
            </a:r>
            <a:r>
              <a:rPr lang="en-US" sz="2000" dirty="0"/>
              <a:t> across domains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Conflicts curated</a:t>
            </a:r>
            <a:r>
              <a:rPr lang="en-US" sz="2000" dirty="0"/>
              <a:t> at the entity level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Expandable</a:t>
            </a:r>
            <a:r>
              <a:rPr lang="en-US" sz="2000" dirty="0"/>
              <a:t> to new domains (Diseases, Chemicals, …)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💡 </a:t>
            </a:r>
            <a:r>
              <a:rPr lang="en-US" sz="2000" i="1" dirty="0"/>
              <a:t>Entities are the strategic hub connecting all omics data</a:t>
            </a:r>
            <a:endParaRPr lang="en-US" sz="2000" dirty="0"/>
          </a:p>
        </p:txBody>
      </p:sp>
      <p:pic>
        <p:nvPicPr>
          <p:cNvPr id="18" name="Graphic 17" descr="Atom outline">
            <a:extLst>
              <a:ext uri="{FF2B5EF4-FFF2-40B4-BE49-F238E27FC236}">
                <a16:creationId xmlns:a16="http://schemas.microsoft.com/office/drawing/2014/main" id="{1C76F465-F02E-ACFF-0CE3-82BBE8769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8876" y="3222081"/>
            <a:ext cx="1345809" cy="134580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2DAD4C9-809B-A1AF-944B-6770852ED239}"/>
              </a:ext>
            </a:extLst>
          </p:cNvPr>
          <p:cNvSpPr txBox="1"/>
          <p:nvPr/>
        </p:nvSpPr>
        <p:spPr>
          <a:xfrm>
            <a:off x="1867242" y="3222081"/>
            <a:ext cx="53110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Genes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6F07C2-C3D2-2DF4-E632-0EF4BEF6B651}"/>
              </a:ext>
            </a:extLst>
          </p:cNvPr>
          <p:cNvSpPr txBox="1"/>
          <p:nvPr/>
        </p:nvSpPr>
        <p:spPr>
          <a:xfrm>
            <a:off x="1468693" y="3787263"/>
            <a:ext cx="5321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Protein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B49A9D-8FDA-B760-488C-A55827FB6D9C}"/>
              </a:ext>
            </a:extLst>
          </p:cNvPr>
          <p:cNvSpPr txBox="1"/>
          <p:nvPr/>
        </p:nvSpPr>
        <p:spPr>
          <a:xfrm>
            <a:off x="1646722" y="4376484"/>
            <a:ext cx="61952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Pathway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110BE9-B103-7C2E-F958-FB2381F1EC2C}"/>
              </a:ext>
            </a:extLst>
          </p:cNvPr>
          <p:cNvSpPr txBox="1"/>
          <p:nvPr/>
        </p:nvSpPr>
        <p:spPr>
          <a:xfrm>
            <a:off x="3121310" y="3201319"/>
            <a:ext cx="52373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Variant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E8E18F-7324-CEBE-045A-2A26C63034E0}"/>
              </a:ext>
            </a:extLst>
          </p:cNvPr>
          <p:cNvSpPr txBox="1"/>
          <p:nvPr/>
        </p:nvSpPr>
        <p:spPr>
          <a:xfrm>
            <a:off x="3332873" y="3738437"/>
            <a:ext cx="109626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Gene Ontology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3D76F3-66BE-AF2C-43C3-C02EE2A733A3}"/>
              </a:ext>
            </a:extLst>
          </p:cNvPr>
          <p:cNvSpPr txBox="1"/>
          <p:nvPr/>
        </p:nvSpPr>
        <p:spPr>
          <a:xfrm>
            <a:off x="732226" y="3442128"/>
            <a:ext cx="44170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Family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067A69-2A36-EC82-5FA8-97B51A1C5732}"/>
              </a:ext>
            </a:extLst>
          </p:cNvPr>
          <p:cNvSpPr txBox="1"/>
          <p:nvPr/>
        </p:nvSpPr>
        <p:spPr>
          <a:xfrm>
            <a:off x="606391" y="4080621"/>
            <a:ext cx="63970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Canonical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ABC354-C0FE-923D-F5E9-49924D0461D4}"/>
              </a:ext>
            </a:extLst>
          </p:cNvPr>
          <p:cNvSpPr txBox="1"/>
          <p:nvPr/>
        </p:nvSpPr>
        <p:spPr>
          <a:xfrm>
            <a:off x="1495521" y="2621150"/>
            <a:ext cx="53110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Location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2B703C-7A9E-2F95-63A9-75EC2A319146}"/>
              </a:ext>
            </a:extLst>
          </p:cNvPr>
          <p:cNvSpPr txBox="1"/>
          <p:nvPr/>
        </p:nvSpPr>
        <p:spPr>
          <a:xfrm>
            <a:off x="1246095" y="2934812"/>
            <a:ext cx="39023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Group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BF277C-1A53-EBF2-363D-59E0F43DD00E}"/>
              </a:ext>
            </a:extLst>
          </p:cNvPr>
          <p:cNvSpPr txBox="1"/>
          <p:nvPr/>
        </p:nvSpPr>
        <p:spPr>
          <a:xfrm>
            <a:off x="3881004" y="2878197"/>
            <a:ext cx="33903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Loci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2FD6E4-EED2-5A21-C4A0-E6C30570F92D}"/>
              </a:ext>
            </a:extLst>
          </p:cNvPr>
          <p:cNvSpPr txBox="1"/>
          <p:nvPr/>
        </p:nvSpPr>
        <p:spPr>
          <a:xfrm>
            <a:off x="4174162" y="4148631"/>
            <a:ext cx="69383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Hierarchy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01517D8A-8D94-FA53-8840-AFCF603407B7}"/>
              </a:ext>
            </a:extLst>
          </p:cNvPr>
          <p:cNvCxnSpPr>
            <a:cxnSpLocks/>
            <a:stCxn id="36" idx="2"/>
            <a:endCxn id="25" idx="0"/>
          </p:cNvCxnSpPr>
          <p:nvPr/>
        </p:nvCxnSpPr>
        <p:spPr>
          <a:xfrm rot="16200000" flipH="1">
            <a:off x="1738803" y="2828087"/>
            <a:ext cx="416265" cy="371721"/>
          </a:xfrm>
          <a:prstGeom prst="bentConnector3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F2C0020C-5338-AB52-EDDE-96C6664499C1}"/>
              </a:ext>
            </a:extLst>
          </p:cNvPr>
          <p:cNvCxnSpPr>
            <a:cxnSpLocks/>
            <a:stCxn id="37" idx="2"/>
            <a:endCxn id="25" idx="1"/>
          </p:cNvCxnSpPr>
          <p:nvPr/>
        </p:nvCxnSpPr>
        <p:spPr>
          <a:xfrm rot="16200000" flipH="1">
            <a:off x="1549065" y="3011625"/>
            <a:ext cx="210325" cy="426029"/>
          </a:xfrm>
          <a:prstGeom prst="bentConnector2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4490FD68-C0A4-531E-28FF-442BD93ECEF0}"/>
              </a:ext>
            </a:extLst>
          </p:cNvPr>
          <p:cNvCxnSpPr>
            <a:cxnSpLocks/>
            <a:stCxn id="34" idx="3"/>
            <a:endCxn id="30" idx="0"/>
          </p:cNvCxnSpPr>
          <p:nvPr/>
        </p:nvCxnSpPr>
        <p:spPr>
          <a:xfrm>
            <a:off x="1173929" y="3534461"/>
            <a:ext cx="560863" cy="252802"/>
          </a:xfrm>
          <a:prstGeom prst="bentConnector2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3FEDDD4E-8CFD-5917-4580-8B0441510A0D}"/>
              </a:ext>
            </a:extLst>
          </p:cNvPr>
          <p:cNvCxnSpPr>
            <a:cxnSpLocks/>
            <a:stCxn id="35" idx="3"/>
            <a:endCxn id="30" idx="2"/>
          </p:cNvCxnSpPr>
          <p:nvPr/>
        </p:nvCxnSpPr>
        <p:spPr>
          <a:xfrm flipV="1">
            <a:off x="1246095" y="4002707"/>
            <a:ext cx="488697" cy="170247"/>
          </a:xfrm>
          <a:prstGeom prst="bentConnector2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550AB966-EDCE-1FC0-6342-933F84405816}"/>
              </a:ext>
            </a:extLst>
          </p:cNvPr>
          <p:cNvCxnSpPr>
            <a:cxnSpLocks/>
            <a:stCxn id="39" idx="1"/>
            <a:endCxn id="33" idx="2"/>
          </p:cNvCxnSpPr>
          <p:nvPr/>
        </p:nvCxnSpPr>
        <p:spPr>
          <a:xfrm rot="10800000">
            <a:off x="3881004" y="3953882"/>
            <a:ext cx="293158" cy="287083"/>
          </a:xfrm>
          <a:prstGeom prst="bentConnector2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4F6A68A8-EBFB-8E1C-D155-0C1FA0FB213D}"/>
              </a:ext>
            </a:extLst>
          </p:cNvPr>
          <p:cNvCxnSpPr>
            <a:cxnSpLocks/>
            <a:stCxn id="38" idx="1"/>
            <a:endCxn id="32" idx="0"/>
          </p:cNvCxnSpPr>
          <p:nvPr/>
        </p:nvCxnSpPr>
        <p:spPr>
          <a:xfrm rot="10800000" flipV="1">
            <a:off x="3383178" y="2970529"/>
            <a:ext cx="497827" cy="230789"/>
          </a:xfrm>
          <a:prstGeom prst="bentConnector2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76A7CE47-3954-292C-6BAA-53E56A1A21CB}"/>
              </a:ext>
            </a:extLst>
          </p:cNvPr>
          <p:cNvSpPr/>
          <p:nvPr/>
        </p:nvSpPr>
        <p:spPr>
          <a:xfrm>
            <a:off x="2694728" y="3309041"/>
            <a:ext cx="94994" cy="1274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86945F2-9F7A-DCB2-FEC1-4DC3FB990A24}"/>
              </a:ext>
            </a:extLst>
          </p:cNvPr>
          <p:cNvSpPr/>
          <p:nvPr/>
        </p:nvSpPr>
        <p:spPr>
          <a:xfrm>
            <a:off x="2257477" y="3901293"/>
            <a:ext cx="94994" cy="1274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F71F297-DCEF-D3E3-A62A-7FE6B0344A7C}"/>
              </a:ext>
            </a:extLst>
          </p:cNvPr>
          <p:cNvSpPr/>
          <p:nvPr/>
        </p:nvSpPr>
        <p:spPr>
          <a:xfrm>
            <a:off x="2906079" y="4129123"/>
            <a:ext cx="94994" cy="12740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69A8427-FA39-FD1A-02D6-01F5CDA25F0C}"/>
              </a:ext>
            </a:extLst>
          </p:cNvPr>
          <p:cNvSpPr txBox="1"/>
          <p:nvPr/>
        </p:nvSpPr>
        <p:spPr>
          <a:xfrm>
            <a:off x="3103451" y="4361551"/>
            <a:ext cx="5594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Disease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F75DE92-5194-62D9-00B7-2D80A92FB43E}"/>
              </a:ext>
            </a:extLst>
          </p:cNvPr>
          <p:cNvSpPr txBox="1"/>
          <p:nvPr/>
        </p:nvSpPr>
        <p:spPr>
          <a:xfrm>
            <a:off x="2454461" y="4664194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Chemical</a:t>
            </a:r>
          </a:p>
        </p:txBody>
      </p:sp>
    </p:spTree>
    <p:extLst>
      <p:ext uri="{BB962C8B-B14F-4D97-AF65-F5344CB8AC3E}">
        <p14:creationId xmlns:p14="http://schemas.microsoft.com/office/powerpoint/2010/main" val="3066977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93E51-5892-198F-DE7C-17576770B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 descr="Atom outline">
            <a:extLst>
              <a:ext uri="{FF2B5EF4-FFF2-40B4-BE49-F238E27FC236}">
                <a16:creationId xmlns:a16="http://schemas.microsoft.com/office/drawing/2014/main" id="{D62A3476-9088-799A-BDD3-AC9E1F3AA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8416" y="2093224"/>
            <a:ext cx="1031852" cy="10318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5C472E-006F-6BED-BD84-1C99A0FB9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Database Schema (v3.0.0)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BF1FD-3F65-ED82-93FF-247B7133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F3D148-0572-9194-EB9C-9D51B4F90C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32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AACFB5-79AC-86BF-15C1-013CD55C33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Entityrelationship: CONNECTING THE DOTS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947B7E-423F-83DD-4527-A42D94C89AF2}"/>
              </a:ext>
            </a:extLst>
          </p:cNvPr>
          <p:cNvSpPr txBox="1"/>
          <p:nvPr/>
        </p:nvSpPr>
        <p:spPr>
          <a:xfrm>
            <a:off x="5362046" y="1642894"/>
            <a:ext cx="6719556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What is an EntityRelationship?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Directed link between two </a:t>
            </a:r>
            <a:r>
              <a:rPr lang="en-US" b="1" dirty="0"/>
              <a:t>Entities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Each relationship has a </a:t>
            </a:r>
            <a:r>
              <a:rPr lang="en-US" b="1" dirty="0"/>
              <a:t>semantic type</a:t>
            </a:r>
            <a:r>
              <a:rPr lang="en-US" dirty="0"/>
              <a:t> (e.g., </a:t>
            </a:r>
            <a:r>
              <a:rPr lang="en-US" i="1" dirty="0" err="1"/>
              <a:t>is_a</a:t>
            </a:r>
            <a:r>
              <a:rPr lang="en-US" dirty="0"/>
              <a:t>, </a:t>
            </a:r>
            <a:r>
              <a:rPr lang="en-US" i="1" dirty="0" err="1"/>
              <a:t>part_of</a:t>
            </a:r>
            <a:r>
              <a:rPr lang="en-US" dirty="0"/>
              <a:t>, </a:t>
            </a:r>
            <a:r>
              <a:rPr lang="en-US" i="1" dirty="0"/>
              <a:t>encodes</a:t>
            </a:r>
            <a:r>
              <a:rPr lang="en-US" dirty="0"/>
              <a:t>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Provenance tracked via </a:t>
            </a:r>
            <a:r>
              <a:rPr lang="en-US" b="1" dirty="0"/>
              <a:t>Data Source ID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Stored as </a:t>
            </a:r>
            <a:r>
              <a:rPr lang="en-US" b="1" dirty="0"/>
              <a:t>lean table</a:t>
            </a:r>
            <a:r>
              <a:rPr lang="en-US" dirty="0"/>
              <a:t> (no enforced FKs for ingestion speed)</a:t>
            </a:r>
          </a:p>
          <a:p>
            <a:pPr>
              <a:spcAft>
                <a:spcPts val="600"/>
              </a:spcAft>
            </a:pPr>
            <a:endParaRPr lang="en-US" sz="600" b="1" dirty="0"/>
          </a:p>
          <a:p>
            <a:pPr>
              <a:spcAft>
                <a:spcPts val="600"/>
              </a:spcAft>
            </a:pPr>
            <a:r>
              <a:rPr lang="en-US" b="1" dirty="0"/>
              <a:t>Why is it important?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Central to </a:t>
            </a:r>
            <a:r>
              <a:rPr lang="en-US" b="1" dirty="0"/>
              <a:t>Modeling</a:t>
            </a:r>
            <a:r>
              <a:rPr lang="en-US" dirty="0"/>
              <a:t>: build interaction networks across domains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multi-hop queries</a:t>
            </a:r>
            <a:r>
              <a:rPr lang="en-US" dirty="0"/>
              <a:t> (e.g., SNP → Gene → Pathway)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Enables </a:t>
            </a:r>
            <a:r>
              <a:rPr lang="en-US" b="1" dirty="0"/>
              <a:t>cross-domain queries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Provides a </a:t>
            </a:r>
            <a:r>
              <a:rPr lang="en-US" b="1" dirty="0"/>
              <a:t>scalable graph-like structure</a:t>
            </a:r>
            <a:r>
              <a:rPr lang="en-US" dirty="0"/>
              <a:t> on top of the relational DB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 v3.1.0 → direct indexing by groups for faster queries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💡 </a:t>
            </a:r>
            <a:r>
              <a:rPr lang="en-US" sz="1600" i="1" dirty="0"/>
              <a:t>EntityRelationships transform isolated data points into a connected knowledge graph. Example:</a:t>
            </a:r>
            <a:r>
              <a:rPr lang="en-US" sz="1600" dirty="0"/>
              <a:t> from a SNP list, users can traverse to genes and further to pathways or proteins.</a:t>
            </a:r>
          </a:p>
        </p:txBody>
      </p:sp>
      <p:pic>
        <p:nvPicPr>
          <p:cNvPr id="18" name="Graphic 17" descr="Atom outline">
            <a:extLst>
              <a:ext uri="{FF2B5EF4-FFF2-40B4-BE49-F238E27FC236}">
                <a16:creationId xmlns:a16="http://schemas.microsoft.com/office/drawing/2014/main" id="{033515A0-8379-150F-5874-9A9EBF16E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8876" y="3222081"/>
            <a:ext cx="1345809" cy="1345809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29971BA5-4A91-7AA5-3488-5F7A573BE5EB}"/>
              </a:ext>
            </a:extLst>
          </p:cNvPr>
          <p:cNvSpPr/>
          <p:nvPr/>
        </p:nvSpPr>
        <p:spPr>
          <a:xfrm>
            <a:off x="2694728" y="3309041"/>
            <a:ext cx="94994" cy="1274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4F772D2-E880-ED7F-7B8C-09C017823D9B}"/>
              </a:ext>
            </a:extLst>
          </p:cNvPr>
          <p:cNvSpPr/>
          <p:nvPr/>
        </p:nvSpPr>
        <p:spPr>
          <a:xfrm>
            <a:off x="2257477" y="3901293"/>
            <a:ext cx="94994" cy="1274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14E75B9-FD32-6574-EB80-2049A78F4CF9}"/>
              </a:ext>
            </a:extLst>
          </p:cNvPr>
          <p:cNvSpPr/>
          <p:nvPr/>
        </p:nvSpPr>
        <p:spPr>
          <a:xfrm>
            <a:off x="2906079" y="4129123"/>
            <a:ext cx="94994" cy="12740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pic>
        <p:nvPicPr>
          <p:cNvPr id="3" name="Graphic 2" descr="Atom outline">
            <a:extLst>
              <a:ext uri="{FF2B5EF4-FFF2-40B4-BE49-F238E27FC236}">
                <a16:creationId xmlns:a16="http://schemas.microsoft.com/office/drawing/2014/main" id="{40CF8715-CF51-503C-1B42-2986C981D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85433" y="2026932"/>
            <a:ext cx="1345809" cy="1345809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83E3A44C-7223-5EE6-8E9D-16A6FE2232D1}"/>
              </a:ext>
            </a:extLst>
          </p:cNvPr>
          <p:cNvSpPr/>
          <p:nvPr/>
        </p:nvSpPr>
        <p:spPr>
          <a:xfrm>
            <a:off x="2027561" y="2693454"/>
            <a:ext cx="94994" cy="98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pic>
        <p:nvPicPr>
          <p:cNvPr id="11" name="Graphic 10" descr="Atom outline">
            <a:extLst>
              <a:ext uri="{FF2B5EF4-FFF2-40B4-BE49-F238E27FC236}">
                <a16:creationId xmlns:a16="http://schemas.microsoft.com/office/drawing/2014/main" id="{EEF9EC44-61F4-6226-8500-AB4094B89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3190" y="4830775"/>
            <a:ext cx="1345809" cy="1345809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7440DAC0-C67A-91B7-EB01-071C727469C6}"/>
              </a:ext>
            </a:extLst>
          </p:cNvPr>
          <p:cNvSpPr/>
          <p:nvPr/>
        </p:nvSpPr>
        <p:spPr>
          <a:xfrm>
            <a:off x="2639042" y="4917735"/>
            <a:ext cx="94994" cy="127401"/>
          </a:xfrm>
          <a:prstGeom prst="ellipse">
            <a:avLst/>
          </a:prstGeom>
          <a:solidFill>
            <a:srgbClr val="6042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7FF576D-3B87-45B9-4A08-AE18CA868466}"/>
              </a:ext>
            </a:extLst>
          </p:cNvPr>
          <p:cNvSpPr/>
          <p:nvPr/>
        </p:nvSpPr>
        <p:spPr>
          <a:xfrm>
            <a:off x="2201791" y="5509987"/>
            <a:ext cx="94994" cy="127401"/>
          </a:xfrm>
          <a:prstGeom prst="ellipse">
            <a:avLst/>
          </a:prstGeom>
          <a:solidFill>
            <a:schemeClr val="accent6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03BA072-AA25-BFC0-F660-5A26DF42F226}"/>
              </a:ext>
            </a:extLst>
          </p:cNvPr>
          <p:cNvSpPr/>
          <p:nvPr/>
        </p:nvSpPr>
        <p:spPr>
          <a:xfrm>
            <a:off x="2850393" y="5737817"/>
            <a:ext cx="94994" cy="127401"/>
          </a:xfrm>
          <a:prstGeom prst="ellipse">
            <a:avLst/>
          </a:prstGeom>
          <a:solidFill>
            <a:srgbClr val="00AF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pic>
        <p:nvPicPr>
          <p:cNvPr id="15" name="Graphic 14" descr="Atom outline">
            <a:extLst>
              <a:ext uri="{FF2B5EF4-FFF2-40B4-BE49-F238E27FC236}">
                <a16:creationId xmlns:a16="http://schemas.microsoft.com/office/drawing/2014/main" id="{CD1E255E-AEFC-0D65-94D5-2F47D0E30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239" y="4088686"/>
            <a:ext cx="1019783" cy="1019783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D8E980D4-1B58-20F1-8170-D75890080FCE}"/>
              </a:ext>
            </a:extLst>
          </p:cNvPr>
          <p:cNvSpPr/>
          <p:nvPr/>
        </p:nvSpPr>
        <p:spPr>
          <a:xfrm>
            <a:off x="3490166" y="2933126"/>
            <a:ext cx="94994" cy="1274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5765C54-098A-85C5-730C-283F4F6310B2}"/>
              </a:ext>
            </a:extLst>
          </p:cNvPr>
          <p:cNvSpPr/>
          <p:nvPr/>
        </p:nvSpPr>
        <p:spPr>
          <a:xfrm>
            <a:off x="3944879" y="2233058"/>
            <a:ext cx="94994" cy="12740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pic>
        <p:nvPicPr>
          <p:cNvPr id="29" name="Graphic 28" descr="Atom outline">
            <a:extLst>
              <a:ext uri="{FF2B5EF4-FFF2-40B4-BE49-F238E27FC236}">
                <a16:creationId xmlns:a16="http://schemas.microsoft.com/office/drawing/2014/main" id="{0BCF287E-CC95-01F3-382E-FE0948D20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7147" y="4159501"/>
            <a:ext cx="564741" cy="564741"/>
          </a:xfrm>
          <a:prstGeom prst="rect">
            <a:avLst/>
          </a:prstGeom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7FAC04A6-BD51-5D19-B0EE-BF2FD9EC25E8}"/>
              </a:ext>
            </a:extLst>
          </p:cNvPr>
          <p:cNvSpPr/>
          <p:nvPr/>
        </p:nvSpPr>
        <p:spPr>
          <a:xfrm>
            <a:off x="4107735" y="4388051"/>
            <a:ext cx="45719" cy="49244"/>
          </a:xfrm>
          <a:prstGeom prst="ellipse">
            <a:avLst/>
          </a:prstGeom>
          <a:solidFill>
            <a:srgbClr val="A035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CA03592-BF71-60EA-F48C-C06DFFD1E6D1}"/>
              </a:ext>
            </a:extLst>
          </p:cNvPr>
          <p:cNvSpPr/>
          <p:nvPr/>
        </p:nvSpPr>
        <p:spPr>
          <a:xfrm>
            <a:off x="3946657" y="4645080"/>
            <a:ext cx="45719" cy="4924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6862D84-8659-F9BC-FEFA-E4EB46A6AF64}"/>
              </a:ext>
            </a:extLst>
          </p:cNvPr>
          <p:cNvSpPr/>
          <p:nvPr/>
        </p:nvSpPr>
        <p:spPr>
          <a:xfrm>
            <a:off x="3830864" y="4283209"/>
            <a:ext cx="45719" cy="49244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F97A515-7135-76F4-5060-C42633E4D0A1}"/>
              </a:ext>
            </a:extLst>
          </p:cNvPr>
          <p:cNvSpPr/>
          <p:nvPr/>
        </p:nvSpPr>
        <p:spPr>
          <a:xfrm>
            <a:off x="1450945" y="2325671"/>
            <a:ext cx="94994" cy="98488"/>
          </a:xfrm>
          <a:prstGeom prst="ellipse">
            <a:avLst/>
          </a:prstGeom>
          <a:solidFill>
            <a:srgbClr val="0060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00F6627-AE2A-D517-2BD0-E76D11B44A13}"/>
              </a:ext>
            </a:extLst>
          </p:cNvPr>
          <p:cNvSpPr/>
          <p:nvPr/>
        </p:nvSpPr>
        <p:spPr>
          <a:xfrm>
            <a:off x="1115138" y="4143579"/>
            <a:ext cx="94994" cy="98488"/>
          </a:xfrm>
          <a:prstGeom prst="ellipse">
            <a:avLst/>
          </a:prstGeom>
          <a:solidFill>
            <a:srgbClr val="CB5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8510D5C-11D6-4C0D-84A4-CB6D231F8559}"/>
              </a:ext>
            </a:extLst>
          </p:cNvPr>
          <p:cNvSpPr/>
          <p:nvPr/>
        </p:nvSpPr>
        <p:spPr>
          <a:xfrm>
            <a:off x="776818" y="4781531"/>
            <a:ext cx="94994" cy="98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83D3F06-6D5D-5E1E-ACA7-77DCD8B0E3B7}"/>
              </a:ext>
            </a:extLst>
          </p:cNvPr>
          <p:cNvSpPr/>
          <p:nvPr/>
        </p:nvSpPr>
        <p:spPr>
          <a:xfrm flipH="1">
            <a:off x="1682386" y="2565143"/>
            <a:ext cx="83822" cy="8801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A39EC80-2783-0387-C1A7-B76F9AE8BBBD}"/>
              </a:ext>
            </a:extLst>
          </p:cNvPr>
          <p:cNvSpPr/>
          <p:nvPr/>
        </p:nvSpPr>
        <p:spPr>
          <a:xfrm flipH="1">
            <a:off x="3793854" y="2638854"/>
            <a:ext cx="130526" cy="1202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FD7CE3B-418B-7D9D-DECD-89B41D8BDB98}"/>
              </a:ext>
            </a:extLst>
          </p:cNvPr>
          <p:cNvSpPr/>
          <p:nvPr/>
        </p:nvSpPr>
        <p:spPr>
          <a:xfrm flipH="1">
            <a:off x="3933905" y="4413753"/>
            <a:ext cx="60325" cy="6032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84CC06D-FAD7-4435-BAF8-AA343E8EC2F5}"/>
              </a:ext>
            </a:extLst>
          </p:cNvPr>
          <p:cNvSpPr/>
          <p:nvPr/>
        </p:nvSpPr>
        <p:spPr>
          <a:xfrm flipH="1">
            <a:off x="2646517" y="3834874"/>
            <a:ext cx="130526" cy="1202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79979A1-79DD-E95A-2A39-E71B27200326}"/>
              </a:ext>
            </a:extLst>
          </p:cNvPr>
          <p:cNvSpPr/>
          <p:nvPr/>
        </p:nvSpPr>
        <p:spPr>
          <a:xfrm flipH="1">
            <a:off x="1099219" y="4557067"/>
            <a:ext cx="83822" cy="8801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AE2449F-D21E-3F24-51FF-321DFA3E39F6}"/>
              </a:ext>
            </a:extLst>
          </p:cNvPr>
          <p:cNvSpPr/>
          <p:nvPr/>
        </p:nvSpPr>
        <p:spPr>
          <a:xfrm flipH="1">
            <a:off x="2590831" y="5443569"/>
            <a:ext cx="130526" cy="1202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cxnSp>
        <p:nvCxnSpPr>
          <p:cNvPr id="67" name="Curved Connector 66">
            <a:extLst>
              <a:ext uri="{FF2B5EF4-FFF2-40B4-BE49-F238E27FC236}">
                <a16:creationId xmlns:a16="http://schemas.microsoft.com/office/drawing/2014/main" id="{B9F3ADC6-BA5B-C09B-C7A0-99231EACC934}"/>
              </a:ext>
            </a:extLst>
          </p:cNvPr>
          <p:cNvCxnSpPr>
            <a:stCxn id="50" idx="3"/>
            <a:endCxn id="54" idx="7"/>
          </p:cNvCxnSpPr>
          <p:nvPr/>
        </p:nvCxnSpPr>
        <p:spPr>
          <a:xfrm rot="16200000" flipH="1">
            <a:off x="1603676" y="2790523"/>
            <a:ext cx="1212213" cy="911699"/>
          </a:xfrm>
          <a:prstGeom prst="curved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67">
            <a:extLst>
              <a:ext uri="{FF2B5EF4-FFF2-40B4-BE49-F238E27FC236}">
                <a16:creationId xmlns:a16="http://schemas.microsoft.com/office/drawing/2014/main" id="{C2DCBBBB-5923-8D58-A7B3-0222D69FBF15}"/>
              </a:ext>
            </a:extLst>
          </p:cNvPr>
          <p:cNvCxnSpPr>
            <a:cxnSpLocks/>
            <a:endCxn id="53" idx="6"/>
          </p:cNvCxnSpPr>
          <p:nvPr/>
        </p:nvCxnSpPr>
        <p:spPr>
          <a:xfrm>
            <a:off x="2789005" y="3899845"/>
            <a:ext cx="1144900" cy="544071"/>
          </a:xfrm>
          <a:prstGeom prst="curved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urved Connector 70">
            <a:extLst>
              <a:ext uri="{FF2B5EF4-FFF2-40B4-BE49-F238E27FC236}">
                <a16:creationId xmlns:a16="http://schemas.microsoft.com/office/drawing/2014/main" id="{6844D84F-B7DC-0A33-B34E-01EEE2D222FB}"/>
              </a:ext>
            </a:extLst>
          </p:cNvPr>
          <p:cNvCxnSpPr>
            <a:cxnSpLocks/>
            <a:stCxn id="59" idx="2"/>
            <a:endCxn id="53" idx="4"/>
          </p:cNvCxnSpPr>
          <p:nvPr/>
        </p:nvCxnSpPr>
        <p:spPr>
          <a:xfrm flipV="1">
            <a:off x="2721357" y="4474078"/>
            <a:ext cx="1242710" cy="1029602"/>
          </a:xfrm>
          <a:prstGeom prst="curvedConnector2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urved Connector 75">
            <a:extLst>
              <a:ext uri="{FF2B5EF4-FFF2-40B4-BE49-F238E27FC236}">
                <a16:creationId xmlns:a16="http://schemas.microsoft.com/office/drawing/2014/main" id="{8A169C93-CAE2-4A02-C8E1-F11C118FDB2A}"/>
              </a:ext>
            </a:extLst>
          </p:cNvPr>
          <p:cNvCxnSpPr>
            <a:cxnSpLocks/>
            <a:stCxn id="53" idx="2"/>
          </p:cNvCxnSpPr>
          <p:nvPr/>
        </p:nvCxnSpPr>
        <p:spPr>
          <a:xfrm flipH="1" flipV="1">
            <a:off x="3858337" y="2759076"/>
            <a:ext cx="135893" cy="1684840"/>
          </a:xfrm>
          <a:prstGeom prst="curvedConnector4">
            <a:avLst>
              <a:gd name="adj1" fmla="val -168221"/>
              <a:gd name="adj2" fmla="val 50895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urved Connector 78">
            <a:extLst>
              <a:ext uri="{FF2B5EF4-FFF2-40B4-BE49-F238E27FC236}">
                <a16:creationId xmlns:a16="http://schemas.microsoft.com/office/drawing/2014/main" id="{1E83DD1D-1172-D688-73EA-12AB2665E8B5}"/>
              </a:ext>
            </a:extLst>
          </p:cNvPr>
          <p:cNvCxnSpPr>
            <a:cxnSpLocks/>
            <a:stCxn id="56" idx="1"/>
            <a:endCxn id="54" idx="4"/>
          </p:cNvCxnSpPr>
          <p:nvPr/>
        </p:nvCxnSpPr>
        <p:spPr>
          <a:xfrm rot="5400000" flipH="1" flipV="1">
            <a:off x="1633843" y="3492019"/>
            <a:ext cx="614861" cy="1541014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E95B6894-D431-FB38-07B9-A4C886AF74EF}"/>
              </a:ext>
            </a:extLst>
          </p:cNvPr>
          <p:cNvSpPr txBox="1"/>
          <p:nvPr/>
        </p:nvSpPr>
        <p:spPr>
          <a:xfrm>
            <a:off x="221660" y="2694385"/>
            <a:ext cx="762588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rgbClr val="8F9F33"/>
                </a:solidFill>
              </a:rPr>
              <a:t>Alias</a:t>
            </a:r>
          </a:p>
          <a:p>
            <a:pPr algn="ctr"/>
            <a:r>
              <a:rPr lang="en-US" sz="1000" dirty="0">
                <a:solidFill>
                  <a:srgbClr val="8F9F33"/>
                </a:solidFill>
              </a:rPr>
              <a:t>(e.g., HGNC:5)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3DB1270-82A2-4933-63D9-B820341F7D47}"/>
              </a:ext>
            </a:extLst>
          </p:cNvPr>
          <p:cNvSpPr txBox="1"/>
          <p:nvPr/>
        </p:nvSpPr>
        <p:spPr>
          <a:xfrm>
            <a:off x="2249288" y="2121737"/>
            <a:ext cx="74924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rgbClr val="8F9F33"/>
                </a:solidFill>
              </a:rPr>
              <a:t>Entity ID</a:t>
            </a:r>
          </a:p>
          <a:p>
            <a:pPr algn="ctr"/>
            <a:r>
              <a:rPr lang="en-US" sz="1000" dirty="0">
                <a:solidFill>
                  <a:srgbClr val="8F9F33"/>
                </a:solidFill>
              </a:rPr>
              <a:t>(e.g., id 1)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0E10673-D820-5D9B-09A3-A65532BA7B98}"/>
              </a:ext>
            </a:extLst>
          </p:cNvPr>
          <p:cNvSpPr txBox="1"/>
          <p:nvPr/>
        </p:nvSpPr>
        <p:spPr>
          <a:xfrm>
            <a:off x="326697" y="3540845"/>
            <a:ext cx="1539075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rgbClr val="8F9F33"/>
                </a:solidFill>
              </a:rPr>
              <a:t>Entity Relationship Type</a:t>
            </a:r>
          </a:p>
          <a:p>
            <a:pPr algn="ctr"/>
            <a:r>
              <a:rPr lang="en-US" sz="1000" dirty="0">
                <a:solidFill>
                  <a:srgbClr val="8F9F33"/>
                </a:solidFill>
              </a:rPr>
              <a:t>(e.g., encodes)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A829A78-A5D9-B3E3-03E7-B9D8C5FEE71D}"/>
              </a:ext>
            </a:extLst>
          </p:cNvPr>
          <p:cNvCxnSpPr>
            <a:cxnSpLocks/>
            <a:stCxn id="84" idx="0"/>
          </p:cNvCxnSpPr>
          <p:nvPr/>
        </p:nvCxnSpPr>
        <p:spPr>
          <a:xfrm flipV="1">
            <a:off x="1096235" y="3176105"/>
            <a:ext cx="910718" cy="364740"/>
          </a:xfrm>
          <a:prstGeom prst="straightConnector1">
            <a:avLst/>
          </a:prstGeom>
          <a:ln>
            <a:solidFill>
              <a:srgbClr val="8F9F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BB371B3-FF9E-FBC0-86B1-9E8AB460F851}"/>
              </a:ext>
            </a:extLst>
          </p:cNvPr>
          <p:cNvCxnSpPr>
            <a:cxnSpLocks/>
            <a:stCxn id="123" idx="2"/>
            <a:endCxn id="45" idx="1"/>
          </p:cNvCxnSpPr>
          <p:nvPr/>
        </p:nvCxnSpPr>
        <p:spPr>
          <a:xfrm>
            <a:off x="1179975" y="2094132"/>
            <a:ext cx="284882" cy="245962"/>
          </a:xfrm>
          <a:prstGeom prst="straightConnector1">
            <a:avLst/>
          </a:prstGeom>
          <a:ln>
            <a:solidFill>
              <a:srgbClr val="8F9F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6FF451F-11AE-A694-DBAD-3D430E098394}"/>
              </a:ext>
            </a:extLst>
          </p:cNvPr>
          <p:cNvCxnSpPr>
            <a:cxnSpLocks/>
            <a:stCxn id="83" idx="1"/>
            <a:endCxn id="50" idx="1"/>
          </p:cNvCxnSpPr>
          <p:nvPr/>
        </p:nvCxnSpPr>
        <p:spPr>
          <a:xfrm flipH="1">
            <a:off x="1753933" y="2291014"/>
            <a:ext cx="495355" cy="287018"/>
          </a:xfrm>
          <a:prstGeom prst="straightConnector1">
            <a:avLst/>
          </a:prstGeom>
          <a:ln>
            <a:solidFill>
              <a:srgbClr val="8F9F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A604A5E8-2619-1185-2AF9-FEF051B018A2}"/>
              </a:ext>
            </a:extLst>
          </p:cNvPr>
          <p:cNvSpPr/>
          <p:nvPr/>
        </p:nvSpPr>
        <p:spPr>
          <a:xfrm>
            <a:off x="4095570" y="2709831"/>
            <a:ext cx="94994" cy="98488"/>
          </a:xfrm>
          <a:prstGeom prst="ellipse">
            <a:avLst/>
          </a:prstGeom>
          <a:solidFill>
            <a:srgbClr val="CB5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cxnSp>
        <p:nvCxnSpPr>
          <p:cNvPr id="101" name="Curved Connector 100">
            <a:extLst>
              <a:ext uri="{FF2B5EF4-FFF2-40B4-BE49-F238E27FC236}">
                <a16:creationId xmlns:a16="http://schemas.microsoft.com/office/drawing/2014/main" id="{B9C63200-03E7-51A0-9C95-28C0E3823558}"/>
              </a:ext>
            </a:extLst>
          </p:cNvPr>
          <p:cNvCxnSpPr>
            <a:cxnSpLocks/>
            <a:endCxn id="59" idx="6"/>
          </p:cNvCxnSpPr>
          <p:nvPr/>
        </p:nvCxnSpPr>
        <p:spPr>
          <a:xfrm>
            <a:off x="1198127" y="4623759"/>
            <a:ext cx="1392704" cy="87992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EC5AAE87-3892-EA24-6716-8B4D4F1192F2}"/>
              </a:ext>
            </a:extLst>
          </p:cNvPr>
          <p:cNvSpPr txBox="1"/>
          <p:nvPr/>
        </p:nvSpPr>
        <p:spPr>
          <a:xfrm>
            <a:off x="2358952" y="2752085"/>
            <a:ext cx="61690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rgbClr val="8F9F33"/>
                </a:solidFill>
              </a:rPr>
              <a:t>Alias</a:t>
            </a:r>
          </a:p>
          <a:p>
            <a:pPr algn="ctr"/>
            <a:r>
              <a:rPr lang="en-US" sz="1000" dirty="0">
                <a:solidFill>
                  <a:srgbClr val="8F9F33"/>
                </a:solidFill>
              </a:rPr>
              <a:t>(e.g., A1BG)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B894853F-A6E4-922A-FF75-3A71966E0DEC}"/>
              </a:ext>
            </a:extLst>
          </p:cNvPr>
          <p:cNvCxnSpPr>
            <a:cxnSpLocks/>
            <a:stCxn id="113" idx="1"/>
            <a:endCxn id="10" idx="5"/>
          </p:cNvCxnSpPr>
          <p:nvPr/>
        </p:nvCxnSpPr>
        <p:spPr>
          <a:xfrm flipH="1" flipV="1">
            <a:off x="2108643" y="2777519"/>
            <a:ext cx="250309" cy="143843"/>
          </a:xfrm>
          <a:prstGeom prst="straightConnector1">
            <a:avLst/>
          </a:prstGeom>
          <a:ln>
            <a:solidFill>
              <a:srgbClr val="8F9F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DE11F637-42B9-D455-27C7-B80F0991A8AE}"/>
              </a:ext>
            </a:extLst>
          </p:cNvPr>
          <p:cNvSpPr/>
          <p:nvPr/>
        </p:nvSpPr>
        <p:spPr>
          <a:xfrm>
            <a:off x="1319258" y="2754848"/>
            <a:ext cx="94994" cy="98488"/>
          </a:xfrm>
          <a:prstGeom prst="ellipse">
            <a:avLst/>
          </a:prstGeom>
          <a:solidFill>
            <a:srgbClr val="CB5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30D0AE8B-6BCE-3BBD-7BF2-BEF8A6C21540}"/>
              </a:ext>
            </a:extLst>
          </p:cNvPr>
          <p:cNvSpPr/>
          <p:nvPr/>
        </p:nvSpPr>
        <p:spPr>
          <a:xfrm>
            <a:off x="1429668" y="4781531"/>
            <a:ext cx="94994" cy="98488"/>
          </a:xfrm>
          <a:prstGeom prst="ellipse">
            <a:avLst/>
          </a:prstGeom>
          <a:solidFill>
            <a:srgbClr val="0060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600" dirty="0" err="1">
              <a:latin typeface="+mj-lt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5CDBBE9-7312-711E-7050-E0F5AFFD487F}"/>
              </a:ext>
            </a:extLst>
          </p:cNvPr>
          <p:cNvSpPr txBox="1"/>
          <p:nvPr/>
        </p:nvSpPr>
        <p:spPr>
          <a:xfrm>
            <a:off x="496130" y="1755578"/>
            <a:ext cx="136769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rgbClr val="8F9F33"/>
                </a:solidFill>
              </a:rPr>
              <a:t>Alias</a:t>
            </a:r>
          </a:p>
          <a:p>
            <a:pPr algn="ctr"/>
            <a:r>
              <a:rPr lang="en-US" sz="1000" dirty="0">
                <a:solidFill>
                  <a:srgbClr val="8F9F33"/>
                </a:solidFill>
              </a:rPr>
              <a:t>(e.g.,ENSG000121410)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5D182C26-219A-C61F-6A13-266539CA01D6}"/>
              </a:ext>
            </a:extLst>
          </p:cNvPr>
          <p:cNvCxnSpPr>
            <a:cxnSpLocks/>
            <a:stCxn id="82" idx="3"/>
            <a:endCxn id="118" idx="2"/>
          </p:cNvCxnSpPr>
          <p:nvPr/>
        </p:nvCxnSpPr>
        <p:spPr>
          <a:xfrm flipV="1">
            <a:off x="984248" y="2804092"/>
            <a:ext cx="335010" cy="59570"/>
          </a:xfrm>
          <a:prstGeom prst="straightConnector1">
            <a:avLst/>
          </a:prstGeom>
          <a:ln>
            <a:solidFill>
              <a:srgbClr val="8F9F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2843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11BEF-B385-C430-48B1-2DCB2C6FB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4C4E9-C199-32A6-592E-4089BC2C6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Hands-on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42D53-B295-9886-1C7E-EBCB3EE23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64511-2CAE-FC1A-BB75-C6AC3E4F65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33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ED7D08-D63F-5DA7-1B0A-F0F521AF41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Query interface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7BC0FC-7AA1-AC2E-BCC4-07C593F8E648}"/>
              </a:ext>
            </a:extLst>
          </p:cNvPr>
          <p:cNvSpPr txBox="1"/>
          <p:nvPr/>
        </p:nvSpPr>
        <p:spPr>
          <a:xfrm>
            <a:off x="7083153" y="1761265"/>
            <a:ext cx="4905648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What is it?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Python class to explore Biofilter3R with SQLAlchemy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Designed for </a:t>
            </a:r>
            <a:r>
              <a:rPr lang="en-US" sz="1700" b="1" dirty="0"/>
              <a:t>advanced users</a:t>
            </a:r>
            <a:r>
              <a:rPr lang="en-US" sz="1700" dirty="0"/>
              <a:t> (developers, analysts, bioinformaticians)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Provides access to all models, filters, and exports as </a:t>
            </a:r>
            <a:r>
              <a:rPr lang="en-US" sz="1700" dirty="0" err="1"/>
              <a:t>DataFrames</a:t>
            </a:r>
            <a:endParaRPr lang="en-US" sz="1700" dirty="0"/>
          </a:p>
          <a:p>
            <a:pPr>
              <a:buNone/>
            </a:pPr>
            <a:endParaRPr lang="en-US" sz="800" dirty="0"/>
          </a:p>
          <a:p>
            <a:pPr>
              <a:spcAft>
                <a:spcPts val="600"/>
              </a:spcAft>
              <a:buNone/>
            </a:pPr>
            <a:r>
              <a:rPr lang="en-US" b="1" dirty="0"/>
              <a:t>Key Features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Easy access to all models (</a:t>
            </a:r>
            <a:r>
              <a:rPr lang="en-US" sz="1700" dirty="0" err="1">
                <a:latin typeface="Courier New" panose="02070309020205020404" pitchFamily="49" charset="0"/>
              </a:rPr>
              <a:t>q.get_model</a:t>
            </a:r>
            <a:r>
              <a:rPr lang="en-US" sz="1700" dirty="0">
                <a:latin typeface="Courier New" panose="02070309020205020404" pitchFamily="49" charset="0"/>
              </a:rPr>
              <a:t>("Gene")</a:t>
            </a:r>
            <a:r>
              <a:rPr lang="en-US" sz="1700" dirty="0"/>
              <a:t>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Helper functions (</a:t>
            </a:r>
            <a:r>
              <a:rPr lang="en-US" sz="1700" dirty="0" err="1">
                <a:latin typeface="Courier New" panose="02070309020205020404" pitchFamily="49" charset="0"/>
              </a:rPr>
              <a:t>query_model</a:t>
            </a:r>
            <a:r>
              <a:rPr lang="en-US" sz="1700" dirty="0"/>
              <a:t>, </a:t>
            </a:r>
            <a:r>
              <a:rPr lang="en-US" sz="1700" dirty="0" err="1">
                <a:latin typeface="Courier New" panose="02070309020205020404" pitchFamily="49" charset="0"/>
              </a:rPr>
              <a:t>describe_model</a:t>
            </a:r>
            <a:r>
              <a:rPr lang="en-US" sz="1700" dirty="0"/>
              <a:t>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Export results to Pandas </a:t>
            </a:r>
            <a:r>
              <a:rPr lang="en-US" sz="1700" dirty="0" err="1"/>
              <a:t>DataFrames</a:t>
            </a:r>
            <a:endParaRPr lang="en-US" sz="17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Supports raw SQL if needed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C1F00D-3BF3-DFDD-5D5A-123B11255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8" y="1840818"/>
            <a:ext cx="6275308" cy="434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3061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A50EA-B539-7B28-FD39-219A1A38A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70984-6B8C-2130-E0E2-3C623E3FD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Hands-on</a:t>
            </a:r>
            <a:endParaRPr lang="en-US" sz="2800" dirty="0">
              <a:solidFill>
                <a:srgbClr val="011E5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A2064-C44A-AFC4-F6B9-6F5A6EAC9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CFD5-E07E-4246-A3BA-6245CC117A65}" type="datetime4">
              <a:rPr lang="en-US" noProof="0" smtClean="0"/>
              <a:t>November 24, 2025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AE1669-8C4E-506D-F62E-8740C7393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DEA8E7-5F55-4A60-8EF9-470692FC5635}" type="slidenum">
              <a:rPr lang="en-US" noProof="0" smtClean="0"/>
              <a:pPr/>
              <a:t>34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1D71D6-FB83-D92A-5AD3-A82C2EE9BB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Report interface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95AFBC-13C4-7704-E044-09D63AF46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8" y="1626238"/>
            <a:ext cx="5376862" cy="33761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41E544-19A7-E3BF-02A4-5F0A30C5BF27}"/>
              </a:ext>
            </a:extLst>
          </p:cNvPr>
          <p:cNvSpPr txBox="1"/>
          <p:nvPr/>
        </p:nvSpPr>
        <p:spPr>
          <a:xfrm>
            <a:off x="6221047" y="1693087"/>
            <a:ext cx="5759938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What is it?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High-level interface for </a:t>
            </a:r>
            <a:r>
              <a:rPr lang="en-US" sz="1700" b="1" dirty="0"/>
              <a:t>predefined queries</a:t>
            </a:r>
            <a:endParaRPr lang="en-US" sz="17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Designed for </a:t>
            </a:r>
            <a:r>
              <a:rPr lang="en-US" sz="1700" b="1" dirty="0"/>
              <a:t>general users</a:t>
            </a:r>
            <a:r>
              <a:rPr lang="en-US" sz="1700" dirty="0"/>
              <a:t> (no need for SQLAlchemy knowledge)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Input = simple parameters → Output = ready-to-use results</a:t>
            </a:r>
          </a:p>
          <a:p>
            <a:pPr>
              <a:spcAft>
                <a:spcPts val="600"/>
              </a:spcAft>
              <a:buNone/>
            </a:pPr>
            <a:endParaRPr lang="en-US" sz="300" b="1" dirty="0"/>
          </a:p>
          <a:p>
            <a:pPr>
              <a:spcAft>
                <a:spcPts val="600"/>
              </a:spcAft>
              <a:buNone/>
            </a:pPr>
            <a:r>
              <a:rPr lang="en-US" b="1" dirty="0"/>
              <a:t>Current Status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Experimental in </a:t>
            </a:r>
            <a:r>
              <a:rPr lang="en-US" sz="1700" b="1" dirty="0"/>
              <a:t>v3.0.0</a:t>
            </a:r>
            <a:endParaRPr lang="en-US" sz="17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First example: </a:t>
            </a:r>
            <a:r>
              <a:rPr lang="en-US" sz="1700" dirty="0" err="1">
                <a:latin typeface="Courier New" panose="02070309020205020404" pitchFamily="49" charset="0"/>
              </a:rPr>
              <a:t>report_entity_filter</a:t>
            </a:r>
            <a:endParaRPr lang="en-US" sz="17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More reports planned for </a:t>
            </a:r>
            <a:r>
              <a:rPr lang="en-US" sz="1700" b="1" dirty="0"/>
              <a:t>Annotation, Filtering, and Modeling</a:t>
            </a:r>
            <a:endParaRPr lang="en-US" sz="17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E0AE96-768D-D910-70A1-401B77CC4589}"/>
              </a:ext>
            </a:extLst>
          </p:cNvPr>
          <p:cNvSpPr txBox="1"/>
          <p:nvPr/>
        </p:nvSpPr>
        <p:spPr>
          <a:xfrm>
            <a:off x="633108" y="5255447"/>
            <a:ext cx="11175877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dirty="0"/>
              <a:t>⚠️ </a:t>
            </a:r>
            <a:r>
              <a:rPr lang="en-US" sz="1700" i="1" dirty="0"/>
              <a:t>Note: The Report Interface is under development. Features may change in future versions.</a:t>
            </a:r>
          </a:p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sz="1700" dirty="0"/>
              <a:t>💡 </a:t>
            </a:r>
            <a:r>
              <a:rPr lang="en-US" sz="1700" i="1" dirty="0"/>
              <a:t>The </a:t>
            </a:r>
            <a:r>
              <a:rPr lang="en-US" sz="1700" i="1" dirty="0" err="1">
                <a:latin typeface="Courier New" panose="02070309020205020404" pitchFamily="49" charset="0"/>
              </a:rPr>
              <a:t>run_report</a:t>
            </a:r>
            <a:r>
              <a:rPr lang="en-US" sz="1700" i="1" dirty="0"/>
              <a:t> method will serve as the foundation for building advanced queries to support </a:t>
            </a:r>
            <a:r>
              <a:rPr lang="en-US" sz="1700" b="1" i="1" dirty="0"/>
              <a:t>Annotations</a:t>
            </a:r>
            <a:r>
              <a:rPr lang="en-US" sz="1700" i="1" dirty="0"/>
              <a:t>, </a:t>
            </a:r>
            <a:r>
              <a:rPr lang="en-US" sz="1700" b="1" i="1" dirty="0"/>
              <a:t>Filtering</a:t>
            </a:r>
            <a:r>
              <a:rPr lang="en-US" sz="1700" i="1" dirty="0"/>
              <a:t>, and </a:t>
            </a:r>
            <a:r>
              <a:rPr lang="en-US" sz="1700" b="1" i="1" dirty="0"/>
              <a:t>Modeling</a:t>
            </a:r>
            <a:r>
              <a:rPr lang="en-US" sz="1700" i="1" dirty="0"/>
              <a:t> in upcoming releases.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5098585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CUSTMASTERTOPMARGIN" val="134.9291"/>
  <p:tag name="GUIDESAPPLIEDTO" val="2"/>
  <p:tag name="TITLETOPMARGIN" val="56.6929"/>
  <p:tag name="TITLEBOTTOMMARGIN" val="128.126"/>
  <p:tag name="MAXCOLS" val="12"/>
  <p:tag name="MAXROWS" val="6"/>
  <p:tag name="MAXGUTTERROW" val="1 cm"/>
  <p:tag name="MAXGUTTERCOL" val="1 cm"/>
  <p:tag name="GUIDEMETRICUNIT" val="cm"/>
  <p:tag name="MASTERLEFTMARGIN" val="56.6929"/>
  <p:tag name="MASTERBOTTOMMARGIN" val="56.693"/>
  <p:tag name="MASTERRIGHTMARGIN" val="56.6929"/>
  <p:tag name="CUSTMASTERLEFTMARGIN" val="56.6929"/>
  <p:tag name="CUSTMASTERBOTTOMMARGIN" val="56.693"/>
  <p:tag name="CUSTMASTERRIGHTMARGIN" val="56.692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STITLESHAPE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SMEASURMENT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SAPPLIEDTO" val="2"/>
  <p:tag name="GUIDEROWS" val="1"/>
  <p:tag name="MASTERTOPMARGIN" val="134.9291"/>
  <p:tag name="GUIDECOLS" val="12"/>
  <p:tag name="GUTTERCOL" val="1 cm"/>
  <p:tag name="GUTTERROW" val="1 cm"/>
  <p:tag name="MASTERLEFTMARGIN" val="56.6929"/>
  <p:tag name="MASTERRIGHTMARGIN" val="56.6929"/>
  <p:tag name="MASTERBOTTOMMARGIN" val="56.692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GUIDECOLS" val="12"/>
  <p:tag name="GUIDEROWS" val="1"/>
  <p:tag name="GUTTERCOL" val="1 cm"/>
  <p:tag name="GUTTERROW" val="1 cm"/>
  <p:tag name="GUIDESAPPLIEDTO" val="2"/>
  <p:tag name="MASTERBOTTOMMARGIN" val="56.69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COLS" val="12"/>
  <p:tag name="GUIDEROWS" val="1"/>
  <p:tag name="GUTTERCOL" val="1 cm"/>
  <p:tag name="GUTTERROW" val="1 cm"/>
  <p:tag name="GUIDESAPPLIEDTO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COLS" val="12"/>
  <p:tag name="GUIDEROWS" val="1"/>
  <p:tag name="GUTTERCOL" val="1 cm"/>
  <p:tag name="GUTTERROW" val="1 cm"/>
  <p:tag name="GUIDESAPPLIEDTO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TTERCOL" val="1 cm"/>
  <p:tag name="GUTTERROW" val="1 cm"/>
  <p:tag name="GUIDESAPPLIEDTO" val="2"/>
  <p:tag name="GUIDEROWS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TTERCOL" val="1 cm"/>
  <p:tag name="GUTTERROW" val="1 cm"/>
  <p:tag name="GUIDESAPPLIEDTO" val="2"/>
  <p:tag name="GUIDEROWS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TTERCOL" val="1 cm"/>
  <p:tag name="GUTTERROW" val="1 cm"/>
  <p:tag name="GUIDESAPPLIEDTO" val="2"/>
  <p:tag name="GUIDEROWS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3"/>
  <p:tag name="GUIDECOLS" val="12"/>
  <p:tag name="GUIDEROWS" val="1"/>
  <p:tag name="GUTTERCOL" val="1 cm"/>
  <p:tag name="GUTTERROW" val="1 cm"/>
  <p:tag name="GUIDESAPPLIEDTO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34.9291"/>
  <p:tag name="MASTERLEFTMARGIN" val="56.6929"/>
  <p:tag name="MASTERRIGHTMARGIN" val="56.6929"/>
  <p:tag name="MASTERBOTTOMMARGIN" val="56.6929"/>
  <p:tag name="GUIDEROWS" val="1"/>
  <p:tag name="GUIDESAPPLIEDTO" val="2"/>
  <p:tag name="CUSTMASTERTOPMARGIN" val="134.9291"/>
  <p:tag name="CUSTMASTERLEFTMARGIN" val="56.6929"/>
  <p:tag name="CUSTMASTERRIGHTMARGIN" val="56.6929"/>
  <p:tag name="CUSTMASTERBOTTOMMARGIN" val="56.6929"/>
  <p:tag name="GUIDECOLS" val="12"/>
  <p:tag name="GUTTERCOL" val="1 cm"/>
  <p:tag name="GUTTERROW" val="1 c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2"/>
  <p:tag name="GUIDEROWS" val="1"/>
  <p:tag name="GUTTERCOL" val="1 cm"/>
  <p:tag name="GUTTERROW" val="1 cm"/>
  <p:tag name="GUIDESAPPLIEDTO" val="2"/>
</p:tagLst>
</file>

<file path=ppt/theme/theme1.xml><?xml version="1.0" encoding="utf-8"?>
<a:theme xmlns:a="http://schemas.openxmlformats.org/drawingml/2006/main" name="Office Theme">
  <a:themeElements>
    <a:clrScheme name="_Penn Medicines">
      <a:dk1>
        <a:srgbClr val="000000"/>
      </a:dk1>
      <a:lt1>
        <a:srgbClr val="FFFFFF"/>
      </a:lt1>
      <a:dk2>
        <a:srgbClr val="001D5B"/>
      </a:dk2>
      <a:lt2>
        <a:srgbClr val="FFFFFF"/>
      </a:lt2>
      <a:accent1>
        <a:srgbClr val="011F5B"/>
      </a:accent1>
      <a:accent2>
        <a:srgbClr val="085296"/>
      </a:accent2>
      <a:accent3>
        <a:srgbClr val="3C86C3"/>
      </a:accent3>
      <a:accent4>
        <a:srgbClr val="6B6C6E"/>
      </a:accent4>
      <a:accent5>
        <a:srgbClr val="C8CAC9"/>
      </a:accent5>
      <a:accent6>
        <a:srgbClr val="EAEAEA"/>
      </a:accent6>
      <a:hlink>
        <a:srgbClr val="3C86C3"/>
      </a:hlink>
      <a:folHlink>
        <a:srgbClr val="C9CBC9"/>
      </a:folHlink>
    </a:clrScheme>
    <a:fontScheme name="_Penn Medicines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lIns="72000" tIns="36000" rIns="72000" bIns="36000" rtlCol="0" anchor="ctr"/>
      <a:lstStyle>
        <a:defPPr algn="ctr">
          <a:defRPr sz="1600" dirty="0" err="1" smtClean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600" dirty="0" err="1" smtClean="0">
            <a:solidFill>
              <a:schemeClr val="accent1"/>
            </a:solidFill>
            <a:latin typeface="+mj-lt"/>
          </a:defRPr>
        </a:defPPr>
      </a:lstStyle>
    </a:txDef>
  </a:objectDefaults>
  <a:extraClrSchemeLst/>
  <a:custClrLst>
    <a:custClr name="RGB( 153, 0, 0)">
      <a:srgbClr val="990000"/>
    </a:custClr>
    <a:custClr name="RGB( 158, 195, 225)">
      <a:srgbClr val="9EC3E1"/>
    </a:custClr>
    <a:custClr name="RGB( 13, 29, 55)">
      <a:srgbClr val="0D1D37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RGB( 184, 204, 63)">
      <a:srgbClr val="B9CC3F"/>
    </a:custClr>
    <a:custClr name="RGB( 56, 155, 171)">
      <a:srgbClr val="389BAB"/>
    </a:custClr>
    <a:custClr name="RGB( 231, 121, 71)">
      <a:srgbClr val="E77947"/>
    </a:custClr>
    <a:custClr name="RGB( 96,66, 118)">
      <a:srgbClr val="604276"/>
    </a:custClr>
    <a:custClr name="RGB( 241, 186, 63)">
      <a:srgbClr val="F1BA3F"/>
    </a:custClr>
    <a:custClr name="RGB( 203, 93, 131)">
      <a:srgbClr val="CB5D83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RGB( 0, 175, 114)">
      <a:srgbClr val="00AF72"/>
    </a:custClr>
    <a:custClr name="RGB( 0, 96, 118)">
      <a:srgbClr val="006076"/>
    </a:custClr>
    <a:custClr name="RGB( 249, 165, 78)">
      <a:srgbClr val="F9A54E"/>
    </a:custClr>
    <a:custClr name="RGB( 63, 21, 84)">
      <a:srgbClr val="3F1554"/>
    </a:custClr>
    <a:custClr name="RGB( 250, 222, 91)">
      <a:srgbClr val="FADE5B"/>
    </a:custClr>
    <a:custClr name="RGB( 160, 53, 112)">
      <a:srgbClr val="A0357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Dynamic Presentation.potx" id="{E5FB424D-E745-434F-9CC1-46CC19E2E9A1}" vid="{34240860-933F-4D63-B27C-16F6D1EF1B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TemplateConfiguration><![CDATA[{"elementsMetadata":[],"transformationConfigurations":[],"enableDocumentContentUpdater":false,"version":"2.0"}]]></Templafy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FormConfiguration><![CDATA[{"formFields":[],"formDataEntries":[]}]]></TemplafyFormConfiguration>
</file>

<file path=customXml/item5.xml><?xml version="1.0" encoding="utf-8"?>
<TemplafySlideTemplateConfiguration><![CDATA[{"slideVersion":1,"isValidatorEnabled":false,"isLocked":false,"elementsMetadata":[],"slideId":"638115498509565123","enableDocumentContentUpdater":false,"version":"2.0"}]]></TemplafySlideTemplateConfiguration>
</file>

<file path=customXml/item6.xml><?xml version="1.0" encoding="utf-8"?>
<TemplafySlideTemplateConfiguration><![CDATA[{"slideVersion":1,"isValidatorEnabled":false,"isLocked":false,"elementsMetadata":[],"slideId":"638115498509540342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6D531150-7ABE-4F2C-AC78-16776E28B044}">
  <ds:schemaRefs/>
</ds:datastoreItem>
</file>

<file path=customXml/itemProps2.xml><?xml version="1.0" encoding="utf-8"?>
<ds:datastoreItem xmlns:ds="http://schemas.openxmlformats.org/officeDocument/2006/customXml" ds:itemID="{E08E1AA8-79EB-4246-A80D-4D5CC9ABC286}">
  <ds:schemaRefs/>
</ds:datastoreItem>
</file>

<file path=customXml/itemProps3.xml><?xml version="1.0" encoding="utf-8"?>
<ds:datastoreItem xmlns:ds="http://schemas.openxmlformats.org/officeDocument/2006/customXml" ds:itemID="{039BB34A-A4F8-4612-B09F-6434D861CD94}">
  <ds:schemaRefs/>
</ds:datastoreItem>
</file>

<file path=customXml/itemProps4.xml><?xml version="1.0" encoding="utf-8"?>
<ds:datastoreItem xmlns:ds="http://schemas.openxmlformats.org/officeDocument/2006/customXml" ds:itemID="{B7CA58D8-1826-4562-AF23-DF01716946CF}">
  <ds:schemaRefs/>
</ds:datastoreItem>
</file>

<file path=customXml/itemProps5.xml><?xml version="1.0" encoding="utf-8"?>
<ds:datastoreItem xmlns:ds="http://schemas.openxmlformats.org/officeDocument/2006/customXml" ds:itemID="{DA23AE2C-A190-4174-B097-9D9955B5C0C6}">
  <ds:schemaRefs/>
</ds:datastoreItem>
</file>

<file path=customXml/itemProps6.xml><?xml version="1.0" encoding="utf-8"?>
<ds:datastoreItem xmlns:ds="http://schemas.openxmlformats.org/officeDocument/2006/customXml" ds:itemID="{540EABED-0E18-4D33-B14A-E4601C21B29A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4636</TotalTime>
  <Words>3229</Words>
  <Application>Microsoft Macintosh PowerPoint</Application>
  <PresentationFormat>Widescreen</PresentationFormat>
  <Paragraphs>662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Courier New</vt:lpstr>
      <vt:lpstr>Office Theme</vt:lpstr>
      <vt:lpstr>Biofiter3R</vt:lpstr>
      <vt:lpstr>WORKSHOP V 3.0.0</vt:lpstr>
      <vt:lpstr>PowerPoint Presentation</vt:lpstr>
      <vt:lpstr>Workshop Objectives</vt:lpstr>
      <vt:lpstr>What is Biofilter3R? </vt:lpstr>
      <vt:lpstr>Key Differences from LOKI / Biofilter v2 </vt:lpstr>
      <vt:lpstr>Database Schema (v3.0.0)</vt:lpstr>
      <vt:lpstr>Database Schema (v3.0.0)</vt:lpstr>
      <vt:lpstr>Database Schema (v3.0.0)</vt:lpstr>
      <vt:lpstr>Database Schema (v3.0.0)</vt:lpstr>
      <vt:lpstr>Numbers</vt:lpstr>
      <vt:lpstr>Hands-on</vt:lpstr>
      <vt:lpstr>Hands-on</vt:lpstr>
      <vt:lpstr>Hands-on</vt:lpstr>
      <vt:lpstr>Hands-on</vt:lpstr>
      <vt:lpstr>Hands-on</vt:lpstr>
      <vt:lpstr>Hands-on</vt:lpstr>
      <vt:lpstr>Hands-on</vt:lpstr>
      <vt:lpstr>Biofilter v3.0.0 vs v3.1.0 (in progress)</vt:lpstr>
      <vt:lpstr>Why is Different</vt:lpstr>
      <vt:lpstr>DOCS V 3.0.1</vt:lpstr>
      <vt:lpstr>PowerPoint Presentation</vt:lpstr>
      <vt:lpstr>Agenda</vt:lpstr>
      <vt:lpstr>System Architecture</vt:lpstr>
      <vt:lpstr>System Architecture</vt:lpstr>
      <vt:lpstr>Strategic Focus</vt:lpstr>
      <vt:lpstr>Numbers</vt:lpstr>
      <vt:lpstr>PMACS </vt:lpstr>
      <vt:lpstr>System Architecture</vt:lpstr>
      <vt:lpstr>System Architecture</vt:lpstr>
      <vt:lpstr>Database Schema (v3.0.0)</vt:lpstr>
      <vt:lpstr>Database Schema (v3.0.0)</vt:lpstr>
      <vt:lpstr>Hands-on</vt:lpstr>
      <vt:lpstr>Hands-on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Huw Nicholls</dc:creator>
  <cp:lastModifiedBy>Rico, Andre Luis</cp:lastModifiedBy>
  <cp:revision>128</cp:revision>
  <dcterms:created xsi:type="dcterms:W3CDTF">2023-01-26T18:05:12Z</dcterms:created>
  <dcterms:modified xsi:type="dcterms:W3CDTF">2025-11-24T14:17:26Z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2023-02-09T14:30:50</vt:lpwstr>
  </property>
</Properties>
</file>